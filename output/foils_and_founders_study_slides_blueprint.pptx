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[B:00] The Rawlsian D20 (The Veil of Ignorance Die) — Rawls–Harsanyi Ex-Ante Veil of Ignorance Social Welfare Functional</a:t>
            </a:r>
          </a:p>
          <a:p>
            <a:r>
              <a:t>Monograph Ref: Doc 1B §1.1 • Doc 2: NZ_4Region_Master.m</a:t>
            </a:r>
          </a:p>
          <a:p>
            <a:r>
              <a:t>Parameters: 20 Vigintiles (π_k = 5.0% each) | 8 PTypes × 4 Regions | CRRA σ = 2.2 | Ex-Ante Aggregate Welfare Gain (SS2 vs. SS0) = +20.49% CE</a:t>
            </a:r>
          </a:p>
          <a:p>
            <a:r>
              <a:t>Raw LaTeX Equation:</a:t>
            </a:r>
          </a:p>
          <a:p>
            <a:r>
              <a:t>$$</a:t>
            </a:r>
          </a:p>
          <a:p>
            <a:r>
              <a:t>\mathcal{W}(\mathcal{P}) = \sum_{k=1}^{20} \pi_k \, \mathbb{E}_0 \left[ \sum_{j=1}^{J} \beta^{j-1} \psi_j \, u\big(c_j(s), \ell_j(s)\big) + \beta^J \mathcal{B}(a_J, pv_J) \;\middle|\; s_1 \in \mathcal{V}_k,\, \mathcal{P} \right], \quad \pi_k = \frac{1}{20}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[B:01] Tamariki of the First 2000 Days — Stone–Geary Subsistence Corner &amp; In-Kind CES Skill Bypass</a:t>
            </a:r>
          </a:p>
          <a:p>
            <a:r>
              <a:t>Monograph Ref: Doc 1B §2.2 • Doc 2: PolicyExperiment_LeeSeshadri_4Region.m</a:t>
            </a:r>
          </a:p>
          <a:p>
            <a:r>
              <a:t>Parameters: ϕ₁ = −0.50 (complementary) | G_ECE = NZD 13.0k/yr | Crowded-in Δi_c + ω₁Δτ_c = +NZD 15.3k/yr | Stunting: 22.0% → 1.5%</a:t>
            </a:r>
          </a:p>
          <a:p>
            <a:r>
              <a:t>Raw LaTeX Equation:</a:t>
            </a:r>
          </a:p>
          <a:p>
            <a:r>
              <a:t>$$</a:t>
            </a:r>
          </a:p>
          <a:p>
            <a:r>
              <a:t>h_{2} = A_1 \left[ \gamma_1 h_1^{\phi_1} + (1-\gamma_1)\left( G_{\text{ECE},1}^{\text{in-kind}} + \kappa_1 \max\big\{0,\, i_c(y_1 - p_h^r\bar{h} - p_e(z_2))\big\} + \omega_1 \tau_c w_1 h_1 \right)^{\phi_1} \right]^{\frac{\rho_1}{\phi_1}}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[B:02] Tuakana–Teina Navigator — Cross-Period Dynamic Complementarity &amp; Tuakana–Teina Shock Buffer</a:t>
            </a:r>
          </a:p>
          <a:p>
            <a:r>
              <a:t>Monograph Ref: Doc 1B §2.4 • Doc 2: PolicyExperiment_LeeSeshadri_4Region.m</a:t>
            </a:r>
          </a:p>
          <a:p>
            <a:r>
              <a:t>Parameters: ϕ₂ = −0.25 | Mentoring Reach: 17.3% (SS0) → 65.0%+ (SS2) | Neutralizes parental unemployment shock δ_shock and T:05 outrage drag</a:t>
            </a:r>
          </a:p>
          <a:p>
            <a:r>
              <a:t>Raw LaTeX Equation:</a:t>
            </a:r>
          </a:p>
          <a:p>
            <a:r>
              <a:t>$$</a:t>
            </a:r>
          </a:p>
          <a:p>
            <a:r>
              <a:t>\frac{\partial^2 h_{3}}{\partial h_{2} \, \partial I_{\text{mentor},2}} &gt; 0, \qquad h_3 = A_2 \left[ \gamma_2 h_2^{\phi_2} + (1-\gamma_2)\big(G_{\text{sch},2} + \theta_{\text{ako}} M_{\text{tuakana}}\big)^{\phi_2} \right]^{\frac{\rho_2}{\phi_2}} \big(1 - \delta_{\text{shock}}(1 - \mathbb{I}_{\text{B:02}})\big)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[B:03] Age-20 Renaissance Founder (Kaikōrero &amp; Creator) — Universal Youth Capital Grant &amp; Trans-Tasman Retention Condition</a:t>
            </a:r>
          </a:p>
          <a:p>
            <a:r>
              <a:t>Monograph Ref: Doc 1B §3.2 • Doc 2: NZ_4Region_Master.m</a:t>
            </a:r>
          </a:p>
          <a:p>
            <a:r>
              <a:t>Parameters: B_youth = NZD 62,000+ (recycled from 25%→18% estate levy) | Youth Homeownership: 28.0% → 41.5% | Graduate Brain Drain: 21.8% → 7.6% (+3,550/yr kept)</a:t>
            </a:r>
          </a:p>
          <a:p>
            <a:r>
              <a:t>Raw LaTeX Equation:</a:t>
            </a:r>
          </a:p>
          <a:p>
            <a:r>
              <a:t>$$</a:t>
            </a:r>
          </a:p>
          <a:p>
            <a:r>
              <a:t>a_{20}^{\text{SS2}} = a_{20}^{\text{bequest}} + B_{\text{youth}}\big(\tau_{\text{estate}} \mathcal{E}_{65+}\big) \ge \kappa_{\text{down}} P_{h,r}^{\text{SS2}}, \qquad V_{20}^{\text{NZ}}(a_{20}^{\text{SS2}}, h_3) \ge V_{20}^{\text{AUS}}(a_{20}^{\text{SS0}}, h_3) -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[B:04] The L-Shaped Hydrofoil (Coupled 4-Region Engine) — Hydrofoil Lift-to-Drag Fiscal Ratio &amp; Remediation Collapse</a:t>
            </a:r>
          </a:p>
          <a:p>
            <a:r>
              <a:t>Monograph Ref: Doc 1B §3.1 • Doc 2: Compute_Actuarial_NPV_4Region.m</a:t>
            </a:r>
          </a:p>
          <a:p>
            <a:r>
              <a:t>Parameters: SS0 Remediation Drag = NZD 17.7B–28.5B/yr (Exits 1–4) | SS2 Drag = NZD 4.2B/yr | Net Adult Fiscal Surplus = +NZD 16.1k/yr per thriving cohort</a:t>
            </a:r>
          </a:p>
          <a:p>
            <a:r>
              <a:t>Raw LaTeX Equation:</a:t>
            </a:r>
          </a:p>
          <a:p>
            <a:r>
              <a:t>$$</a:t>
            </a:r>
          </a:p>
          <a:p>
            <a:r>
              <a:t>\mathcal{D}_{\text{hull}}(\mathcal{P}) = \sum_{x \in \{1,2,3,4\}} \int_{\mathcal{S}} C_x(s) \, d\mu^\star(s \mid \mathcal{P}), \qquad \mathcal{D}_{\text{hull}}(\text{SS0}) = \text{NZD } 17.7\text{B/yr} \;\longrightarrow\; \mathcal{D}_{\text{hull}}(\text{SS2}) = \text{NZD } 4.2\text{B/yr} \;\;(-75.0\%)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[B:05] Use-It-Or-Lose-It Rebalancer (The Guvenen Split) — Guvenen 'Use-It-Or-Lose-It' Wealth Tax &amp; MSV Talent Cutoff Flip</a:t>
            </a:r>
          </a:p>
          <a:p>
            <a:r>
              <a:t>Monograph Ref: Doc 1B §4.1 • Doc 2: NZ_4Region_Master.m</a:t>
            </a:r>
          </a:p>
          <a:p>
            <a:r>
              <a:t>Parameters: τ_a = 1.5% land/wealth | Estate = 25%→18% | Top-5% Builders (z_h) Net Welfare &gt; 0 in 19/20 vigintiles (20:01–20:19, up to NZD 100M NW)</a:t>
            </a:r>
          </a:p>
          <a:p>
            <a:r>
              <a:t>Raw LaTeX Equation:</a:t>
            </a:r>
          </a:p>
          <a:p>
            <a:r>
              <a:t>$$</a:t>
            </a:r>
          </a:p>
          <a:p>
            <a:r>
              <a:t>r_{\text{net}}(z, \tau_a, \tau_k) = (1 - \tau_k) z_h k^{\alpha - 1} + z_\ell \left(\frac{\dot{P}_L}{P_L}\right) - \tau_a \;\Longrightarrow\; \frac{\partial A^\star(\tau_a)}{\partial \tau_a} &lt; 0 \;\implies\; \Delta \mu^\star(z_h)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[B:06] The 2050 50/50 Stabilizer (SS2 Rocket Ship) — The 2050 50/50 Fiscal Allocation Rule &amp; Universal Super Solvency</a:t>
            </a:r>
          </a:p>
          <a:p>
            <a:r>
              <a:t>Monograph Ref: Doc 1B §4.4 • Doc 2: Solve_SS2_2050_5050Rule.m</a:t>
            </a:r>
          </a:p>
          <a:p>
            <a:r>
              <a:t>Parameters: PAYE Income Tax: 22.0% → 18.5% (−3.5 pp vs. 28.22% SS0 drift) | Crown Debt &lt; 40% GDP | Borrowing Spread: −60 to −100 bps | Super Kept at Age 65</a:t>
            </a:r>
          </a:p>
          <a:p>
            <a:r>
              <a:t>Raw LaTeX Equation:</a:t>
            </a:r>
          </a:p>
          <a:p>
            <a:r>
              <a:t>$$</a:t>
            </a:r>
          </a:p>
          <a:p>
            <a:r>
              <a:t>\Delta \mathcal{S}_{2050} = \underbrace{0.50 \left( \Delta B_{\text{debt}\downarrow} + I_{\text{grid}}^{\text{C:04}} \right)}_{\text{Sovereign Balance Sheet &amp; 1.65}\times\text{ Armor}} + \underbrace{0.50 \left( \Delta \tau_y^{\downarrow} \cdot WL + \text{Super}_{65} \right)}_{\text{PAYE } 22.0\% \to 18.5\% \text{ &amp; Super @ 65}}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[B:07] ACC Actuarial Time-Bend — Williamson–ACC Actuarial Present-Value Liability Release</a:t>
            </a:r>
          </a:p>
          <a:p>
            <a:r>
              <a:t>Monograph Ref: Doc 1B §3.4 • Doc 2: Compute_Actuarial_NPV_4Region.m</a:t>
            </a:r>
          </a:p>
          <a:p>
            <a:r>
              <a:t>Parameters: r_SRTP = 2.0% real (vs. 5.0%–8.0% orthodox hurdle) | Year-5 Direct Avoided Crisis Cost = NZD 10.68B (1.16×) | Total Return = 3.84×</a:t>
            </a:r>
          </a:p>
          <a:p>
            <a:r>
              <a:t>Raw LaTeX Equation:</a:t>
            </a:r>
          </a:p>
          <a:p>
            <a:r>
              <a:t>$$</a:t>
            </a:r>
          </a:p>
          <a:p>
            <a:r>
              <a:t>\text{NPV}_{\text{ACC}}(t=5) = \sum_{s=1}^{81} \frac{\Delta \mathbb{E}\big[\tau_y w_s h_s - \sum_{x \in \{1,2,4\}} C_x \mathbb{I}(\text{Exit}_x)\big]}{(1 + r_{\text{SRTP}})^s} = \text{NZD } 35.25\text{B} \;\; (3.84\times \text{Cost})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[B:08] The 1925 Quantum Leap (OIA 20250878 Override) — Coupled 8-PType × 4-Region Discrete VFI &amp; Kolmogorov Forward Solver</a:t>
            </a:r>
          </a:p>
          <a:p>
            <a:r>
              <a:t>Monograph Ref: Doc 1B §1.3 • Doc 2: NZ_4Region_Master.m &amp; QEA_2026.m</a:t>
            </a:r>
          </a:p>
          <a:p>
            <a:r>
              <a:t>Parameters: 8 PTypes (2 Regions/Macro × Early Corner × Entrepreneur Split) | Exact discrete grid (no log-linearization) | Solved in &lt;28 min on GPU</a:t>
            </a:r>
          </a:p>
          <a:p>
            <a:r>
              <a:t>Raw LaTeX Equation:</a:t>
            </a:r>
          </a:p>
          <a:p>
            <a:r>
              <a:t>$$</a:t>
            </a:r>
          </a:p>
          <a:p>
            <a:r>
              <a:t>V_j^i(a, h, pv, z) = \max_{c, \ell, i_c, a'} \Big\{ u(c, \ell) + \beta \psi_j \sum_{z'} \Pi(z'|z) V_{j+1}^i(a', h', pv', z') \Big\}, \qquad \mu^\star = \mathcal{T}^\star(\mu^\star)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[B:09] Lifting the Gold from the River (He Tāngata) — Consumption-Equivalent Intergenerational Welfare Victory Condition</a:t>
            </a:r>
          </a:p>
          <a:p>
            <a:r>
              <a:t>Monograph Ref: Doc 1B §6.1 • Doc 2: Compute_Welfare_CE_4Region.m</a:t>
            </a:r>
          </a:p>
          <a:p>
            <a:r>
              <a:t>Parameters: +20.49% Aggregate CE | +42.8% Bottom-Decile CE | 65.0% Thriving Launch | −14.8 MtCO₂e/yr | Super @ 65 | PAYE = 18.5%</a:t>
            </a:r>
          </a:p>
          <a:p>
            <a:r>
              <a:t>Raw LaTeX Equation:</a:t>
            </a:r>
          </a:p>
          <a:p>
            <a:r>
              <a:t>$$</a:t>
            </a:r>
          </a:p>
          <a:p>
            <a:r>
              <a:t>\text{CE}(\text{SS2}, \text{SS0}) = \left( \frac{\mathcal{W}(\text{SS2}) - \mathcal{W}_{\text{bequest}}}{\mathcal{W}(\text{SS0}) - \mathcal{W}_{\text{bequest}}} \right)^{\frac{1}{1-\sigma}} - 1 = +20.49\%, \qquad \text{Stunting} \le 1.5\%, \quad \text{Cohesion} = 126.0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[T:00] The Molesworth Street Cycle-Lane Paralysis (Limited-Edition Promo Trap) — Unconditional Cash-Transfer Crowd-Out &amp; Limousine Leakage</a:t>
            </a:r>
          </a:p>
          <a:p>
            <a:r>
              <a:t>Monograph Ref: Doc 1B §2.6 • Doc 2: Test_LinearTaxTransfer_Trap.m</a:t>
            </a:r>
          </a:p>
          <a:p>
            <a:r>
              <a:t>Parameters: MPC into early child skill ∂i_c/∂T_cash ≈ 0.08 in deep rent/energy distress vs. 1.00 for in-kind G_ECE (B:01)</a:t>
            </a:r>
          </a:p>
          <a:p>
            <a:r>
              <a:t>Raw LaTeX Equation:</a:t>
            </a:r>
          </a:p>
          <a:p>
            <a:r>
              <a:t>$$</a:t>
            </a:r>
          </a:p>
          <a:p>
            <a:r>
              <a:t>\frac{\partial i_c}{\partial T_{\text{cash}}} = 0 \;\;\forall\, y_1 + T_{\text{cash}} &lt; p_h^r \bar{h} + p_e(z_2), \qquad \text{Leakage} = \int_{y &gt; \bar{y}} T_{\text{universal}} \, d\mu^\star(s) \gg \Delta h_2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[T:01] The Scottish Devolution Ceiling — Late-Remediation Elasticity Decay Under Low Early Readiness</a:t>
            </a:r>
          </a:p>
          <a:p>
            <a:r>
              <a:t>Monograph Ref: Doc 1B §2.7 • Doc 2: PolicyExperiment_LeeSeshadri_4Region.m</a:t>
            </a:r>
          </a:p>
          <a:p>
            <a:r>
              <a:t>Parameters: ϕ₁ = −0.50, ϕ₂ = −0.25 | Tertiary/vocational ROI drops by &gt;70% when Gate 1 (B:01) and Gate 2 (B:02) foundations are skipped</a:t>
            </a:r>
          </a:p>
          <a:p>
            <a:r>
              <a:t>Raw LaTeX Equation:</a:t>
            </a:r>
          </a:p>
          <a:p>
            <a:r>
              <a:t>$$</a:t>
            </a:r>
          </a:p>
          <a:p>
            <a:r>
              <a:t>\lim_{h_2 \to h_{\min}} \frac{\partial h_3}{\partial G_{\text{tertiary},3}} = A_2 \rho_2 \gamma_2^{\frac{\rho_2}{\phi_2}} h_2^{\phi_2 - 1} \longrightarrow 0 \quad \text{when } \phi_2 &lt; 0 \text{ (Strong Complementarity)}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[T:02] The 1989 Tokyo Imperial Palace Bubble — Inelastic Housing Supply Capitalization of Demand Subsidies</a:t>
            </a:r>
          </a:p>
          <a:p>
            <a:r>
              <a:t>Monograph Ref: Doc 1B §4.2 • Doc 2: NZ_4Region_Master.m</a:t>
            </a:r>
          </a:p>
          <a:p>
            <a:r>
              <a:t>Parameters: Auckland Price-to-Income Ratio = 3.10× rural baseline | Buyer subsidies without B:05 land-tax rebalancing inflate house prices 1-for-1</a:t>
            </a:r>
          </a:p>
          <a:p>
            <a:r>
              <a:t>Raw LaTeX Equation:</a:t>
            </a:r>
          </a:p>
          <a:p>
            <a:r>
              <a:t>$$</a:t>
            </a:r>
          </a:p>
          <a:p>
            <a:r>
              <a:t>\epsilon_S^{\text{land}} \approx 0 \;\Longrightarrow\; \frac{d P_{h,\text{AKL}}}{d S_{\text{buyer}}} = \frac{\epsilon_D}{\epsilon_D + \epsilon_S^{\text{land}}} \approx 1.00 \;\implies\; \Delta \left(\frac{p_h^r \bar{h}}{y_1}\right)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[T:03] The Seoul Hagwon Squeeze — Primate-City Agglomeration Congestion vs. Regional Starvation</a:t>
            </a:r>
          </a:p>
          <a:p>
            <a:r>
              <a:t>Monograph Ref: Doc 1B §4.5 • Doc 2: NZ_4Region_Master.m</a:t>
            </a:r>
          </a:p>
          <a:p>
            <a:r>
              <a:t>Parameters: 4 Regions: Rural (16%), Small (24%), Large (27%), Auckland (33%) | Rural transport fuel burden = 2.7×–2.8× metro baseline in SS0</a:t>
            </a:r>
          </a:p>
          <a:p>
            <a:r>
              <a:t>Raw LaTeX Equation:</a:t>
            </a:r>
          </a:p>
          <a:p>
            <a:r>
              <a:t>$$</a:t>
            </a:r>
          </a:p>
          <a:p>
            <a:r>
              <a:t>w_{\text{AKL}}(N_{\text{AKL}}) - p_{h,\text{AKL}}^r(N_{\text{AKL}})\bar{h} &lt; w_{\text{reg}}(N_{\text{reg}}) - p_{h,\text{reg}}^r\bar{h} - \tau_{\text{fuel}}(z_2)\, d_{\text{reg}} \quad \text{under Unbuffered } z_2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[T:04] The Lavoisier Syndrome (Rent-Seekers vs. Builders) — The Lavoisier Syndrome: Murphy–Shleifer–Vishny Rent-Seeking Trap</a:t>
            </a:r>
          </a:p>
          <a:p>
            <a:r>
              <a:t>Monograph Ref: Doc 1B §4.1 • Doc 2: NZ_4Region_Master.m</a:t>
            </a:r>
          </a:p>
          <a:p>
            <a:r>
              <a:t>Parameters: NZD 1.6T untaxed property pool (τ_a = 0) vs. 28% corporate / 39% top PAYE tax on active builders (z_h)</a:t>
            </a:r>
          </a:p>
          <a:p>
            <a:r>
              <a:t>Raw LaTeX Equation:</a:t>
            </a:r>
          </a:p>
          <a:p>
            <a:r>
              <a:t>$$</a:t>
            </a:r>
          </a:p>
          <a:p>
            <a:r>
              <a:t>\text{If } z_\ell \left(\frac{\dot{P}_L}{P_L}\right) &gt; (1 - \tau_k) z_h k^{\alpha - 1}, \quad \text{then } \mu^\star\big(z \in \text{Speculation}\big) \uparrow \;\text{and}\; g_{\text{TFP}} = \theta \int_{z_h} z \, d\mu^\star(z)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[T:05] Disinformation &amp; Outrage Drag (The Polarisation Tax) — Algorithmic Outrage &amp; Epistemic Polarisation Drag Function</a:t>
            </a:r>
          </a:p>
          <a:p>
            <a:r>
              <a:t>Monograph Ref: Doc 1B §5.5 • Rules: rules/T_05_tutorial.md</a:t>
            </a:r>
          </a:p>
          <a:p>
            <a:r>
              <a:t>Parameters: η_outrage = +0.25 (+25% Exit 4 justice drag ≈ NZD 2B/yr) | NZ CPI Trust Slide: 91 → 81 (40% govt trust) vs. Finland 88/100 (#1 Monilukutaito)</a:t>
            </a:r>
          </a:p>
          <a:p>
            <a:r>
              <a:t>Raw LaTeX Equation:</a:t>
            </a:r>
          </a:p>
          <a:p>
            <a:r>
              <a:t>$$</a:t>
            </a:r>
          </a:p>
          <a:p>
            <a:r>
              <a:t>\mathcal{D}_{\text{Exit 4}}^{\text{T:05}} = \mathcal{D}_{\text{Exit 4}}^0 \Big( 1 + \eta_{\text{outrage}} \, \Pr(i_c = 0) \big(1 - \mathbb{I}_{\text{C:02}}\big) \Big), \qquad \text{Trust}_{t+1} = \text{Trust}_t - \chi \, \sigma_{\text{disinfo}}^2 \big(1 - h_2^{\text{crit}}\big)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[T:06] The Voodoo Supply-Side Mirage (The Coerced-Wage Trap) — Laffer Fiscal Deficit Identity &amp; Coerced-Labor Parental Time Crowd-Out</a:t>
            </a:r>
          </a:p>
          <a:p>
            <a:r>
              <a:t>Monograph Ref: Doc 1A §3.7 &amp; Doc 1B §4.2 • Rules: rules/T_06_tutorial.md</a:t>
            </a:r>
          </a:p>
          <a:p>
            <a:r>
              <a:t>Parameters: Empirical ε_real ≈ 0.15–0.25 ≪ (1−τ)/τ ≈ 1.50 | Hope &amp; Limberg (2022): Δg_GDP ≈ 0.00%, Top-1% Share +0.8 pp | Coerced hours cut τ_c at Gate 1</a:t>
            </a:r>
          </a:p>
          <a:p>
            <a:r>
              <a:t>Raw LaTeX Equation:</a:t>
            </a:r>
          </a:p>
          <a:p>
            <a:r>
              <a:t>$$</a:t>
            </a:r>
          </a:p>
          <a:p>
            <a:r>
              <a:t>\frac{d\mathcal{R}}{d(1-\tau_{\text{top}})} = Y_{\text{top}} \left( \varepsilon_{\text{real}} - \frac{1-\tau}{\tau} \right) &lt; 0, \qquad \frac{d h_2}{d \ell_{\text{coerced}}} = \frac{\partial h_2}{\partial i_c}\underbrace{w_{\min}(1 - \tau_{\text{abate}})}_{\approx 0 \text{ at corner}} - \frac{\partial h_2}{\partial \tau_c} \omega_1 w_1 h_1 &lt;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[C:01] The Bilal–Känzig Shock (USD 1,200/tCO2e Reality Check) — Bilal–Känzig Macroeconomic Temperature Shock &amp; Capital Destruction</a:t>
            </a:r>
          </a:p>
          <a:p>
            <a:r>
              <a:t>Monograph Ref: Doc 1B §5.1 • Doc 2: ClimateDamage_BilalKanzig.m</a:t>
            </a:r>
          </a:p>
          <a:p>
            <a:r>
              <a:t>Parameters: +1°C global temperature shock reduces unarmored GDP by −12% peak and destroys 2%–5% of unbuffered physical capital K_t per decade</a:t>
            </a:r>
          </a:p>
          <a:p>
            <a:r>
              <a:t>Raw LaTeX Equation:</a:t>
            </a:r>
          </a:p>
          <a:p>
            <a:r>
              <a:t>$$</a:t>
            </a:r>
          </a:p>
          <a:p>
            <a:r>
              <a:t>\frac{\Delta Y_{t+h}}{Y_t} = -\beta_h^{\text{BK}} \Delta T_t^{\text{global}} \big(1 - \alpha_{\text{armor}} \mathbb{I}_{\text{C:04}}\big), \qquad \text{SCC}_{\text{BK}} \approx \text{USD } 1,200 / \text{tCO}_2\text{e}, \quad \delta_k(\Delta T) = \delta_0 + \xi (\Delta T)^2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[C:02] Cognitive Flexibility (The Ultimate Resilient Asset) — Nelson–Phelps–Schultz Adaptive Skill &amp; Epistemic Immunity Return</a:t>
            </a:r>
          </a:p>
          <a:p>
            <a:r>
              <a:t>Monograph Ref: Doc 1B §2.5 • Rules: rules/T_05_tutorial.md</a:t>
            </a:r>
          </a:p>
          <a:p>
            <a:r>
              <a:t>Parameters: Attaches to 65.0%+ Thriving Cohort | +1 Productivity under technological/climate disruption | Full immunity to T:05 disinformation drag</a:t>
            </a:r>
          </a:p>
          <a:p>
            <a:r>
              <a:t>Raw LaTeX Equation:</a:t>
            </a:r>
          </a:p>
          <a:p>
            <a:r>
              <a:t>$$</a:t>
            </a:r>
          </a:p>
          <a:p>
            <a:r>
              <a:t>\frac{\partial V_j(h, z_{\text{tech}})}{\partial \sigma_{\text{tech}}^2} &gt; 0 \;\;\text{for } h \ge h_{\text{flex}}^{\text{C:02}}, \qquad \text{Immunity}(\text{T:05}) = 1 - \exp\!\big(-\lambda_{\text{ML}} \, h_2(\text{B:01}) \cdot I_{\text{C:02}}\big)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[C:03] Project K Wilderness &amp; Kura-ā-Iwi Resilience — Polycentric Marae &amp; School Microgrid Civil-Defence Resilience</a:t>
            </a:r>
          </a:p>
          <a:p>
            <a:r>
              <a:t>Monograph Ref: Doc 1B §5.3 • Doc 2: QEA_2026.m (Sector 2: Schools &amp; Marae)</a:t>
            </a:r>
          </a:p>
          <a:p>
            <a:r>
              <a:t>Parameters: CapEx = NZD 1.2B–1.5B across 2,500 Schools + 800 Marae | Frees NZD 250M/yr into classroom teaching/mentoring | −0.4 MtCO₂e/yr</a:t>
            </a:r>
          </a:p>
          <a:p>
            <a:r>
              <a:t>Raw LaTeX Equation:</a:t>
            </a:r>
          </a:p>
          <a:p>
            <a:r>
              <a:t>$$</a:t>
            </a:r>
          </a:p>
          <a:p>
            <a:r>
              <a:t>R_{\text{hub},r}(pv_{\text{hub}}=5) = \Pr\big(\text{Power, Water, &amp; Learning Continuity} \mid \text{Cyclone Shock } z_{\text{clim}}\big) \longrightarrow 0.99, \quad \Delta \text{OPEX}_{\text{sch}} = +\text{NZD } 0.25\text{B/yr}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[C:04] Coastal &amp; Grid Armor (The 2050 Ring-Fenced Pool) — 1.65× Ring-Fenced Sovereign Infrastructure &amp; Coastal Armor Pool</a:t>
            </a:r>
          </a:p>
          <a:p>
            <a:r>
              <a:t>Monograph Ref: Doc 1B §5.4 • Doc 2: Solve_SS2_2050_5050Rule.m</a:t>
            </a:r>
          </a:p>
          <a:p>
            <a:r>
              <a:t>Parameters: 1.65× Ring-Fenced Infrastructure Pool (funded via B:06 50/50 Rule) | Cuts C:01 physical capital depreciation spikes by 75%</a:t>
            </a:r>
          </a:p>
          <a:p>
            <a:r>
              <a:t>Raw LaTeX Equation:</a:t>
            </a:r>
          </a:p>
          <a:p>
            <a:r>
              <a:t>$$</a:t>
            </a:r>
          </a:p>
          <a:p>
            <a:r>
              <a:t>K_{\text{infra},t+1} = (1 - \delta_{\text{clim}}) K_{\text{infra},t} + I_{\text{C:04}}, \qquad I_{\text{C:04}}^{\text{SS2}} = 1.65 \, I_{\text{baseline}}^{\text{SS0}}, \qquad \delta_{\text{clim}}\big(I_{\text{C:04}}^{\text{SS2}}\big) = 0.25 \, \delta_{\text{clim}}^{\text{SS0}}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[C:05] The 4-Region Just-Transition Compass (Income × Geography) — Regional Transport &amp; Ag-Machinery Electrification Incidence</a:t>
            </a:r>
          </a:p>
          <a:p>
            <a:r>
              <a:t>Monograph Ref: Doc 1B §5.2 • Doc 2: QEA_2026.m (Sector 5: Transport &amp; Farms)</a:t>
            </a:r>
          </a:p>
          <a:p>
            <a:r>
              <a:t>Parameters: Cancels 2.7×–2.8× rural transport fuel penalty | Paired with 19,000+ farm-pond floating solar arrays | Saves NZD 9.8B/yr in imported fuel</a:t>
            </a:r>
          </a:p>
          <a:p>
            <a:r>
              <a:t>Raw LaTeX Equation:</a:t>
            </a:r>
          </a:p>
          <a:p>
            <a:r>
              <a:t>$$</a:t>
            </a:r>
          </a:p>
          <a:p>
            <a:r>
              <a:t>\Delta c_{\text{rural}}^{\text{net}} = d_{\text{rural}} \big( p_{\text{diesel}}(z_2) - c_{\text{solar-EV}}(pv=5) \big) &gt; 0, \qquad \frac{\text{Fuel Burden}_{\text{Rural}}^{\text{SS0}}}{\text{Fuel Burden}_{\text{Metro}}^{\text{SS0}}} = 2.8\times \;\longrightarrow\; 1.0\times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[C:06] Social Credit Rating: 126.0 (The High-Trust Lifeboat) — Endogenous Social Cohesion &amp; Institutional Trust Trajectory</a:t>
            </a:r>
          </a:p>
          <a:p>
            <a:r>
              <a:t>Monograph Ref: Doc 1B §5.5 • Doc 2: Compute_Welfare_CE_4Region.m</a:t>
            </a:r>
          </a:p>
          <a:p>
            <a:r>
              <a:t>Parameters: Trajectory: 100.0 (SS0 Baseline) → 114.8 (SS1 Year-5) → 126.0 (SS2 Victory — Surpassing Finland 88 &amp; Denmark 90 on Global Trust)</a:t>
            </a:r>
          </a:p>
          <a:p>
            <a:r>
              <a:t>Raw LaTeX Equation:</a:t>
            </a:r>
          </a:p>
          <a:p>
            <a:r>
              <a:t>$$</a:t>
            </a:r>
          </a:p>
          <a:p>
            <a:r>
              <a:t>\text{Cohesion}_t = 100.0 + \alpha_1 \big(1 - \text{Stunting}_t\big) + \alpha_2 \, \text{Mentored}_t - \alpha_3 \text{Gini}_{\text{disp},t} + \alpha_4 \mathbb{I}_{\text{K:07}} \;\longrightarrow\; 126.0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[K:01] The Catalytic Steward: Philanthropist, Iwi Trust, &amp; Community Leader — Early-Stage In-Kind Floor Operator &amp; State-Care Entry Bound</a:t>
            </a:r>
          </a:p>
          <a:p>
            <a:r>
              <a:t>Monograph Ref: Doc 1B §2.2 • Doc 2: PolicyExperiment_LeeSeshadri_4Region.m</a:t>
            </a:r>
          </a:p>
          <a:p>
            <a:r>
              <a:t>Parameters: Compresses Gate 1 stunting from 22.0% → 1.5% | Cuts Oranga Tamariki reactive state-care entries by &gt;94% (&lt;300 nationally)</a:t>
            </a:r>
          </a:p>
          <a:p>
            <a:r>
              <a:t>Raw LaTeX Equation:</a:t>
            </a:r>
          </a:p>
          <a:p>
            <a:r>
              <a:t>$$</a:t>
            </a:r>
          </a:p>
          <a:p>
            <a:r>
              <a:t>G_{\text{ECE},1}^{\text{in-kind}} \ge \bar{g}_1 \;\Longrightarrow\; \Pr\big(i_c(s_1) = 0\big) \le 0.015, \qquad N_{\text{Exit 1}}(\text{SS2}) = N_0 \int_{\mathcal{S}_1} \mathbb{I}\big(h_2(s_1) &lt; \underline{h}\big) d\mu^\star(s_1) &lt; 300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[K:02] The Enterprise Wayfinder: Venture Catalyst, Founder, &amp; Growth Investor — Murphy–Shleifer–Vishny Occupational Choice &amp; Retained-Founder Operator</a:t>
            </a:r>
          </a:p>
          <a:p>
            <a:r>
              <a:t>Monograph Ref: Doc 1B §4.1 • Doc 2: NZ_4Region_Master.m</a:t>
            </a:r>
          </a:p>
          <a:p>
            <a:r>
              <a:t>Parameters: Lowers founder entry threshold ∂z*/∂B_youth &lt; 0 | Retains +3,550/yr skilled graduates in NZ | Lifts real wages +3.2% to +9.6%</a:t>
            </a:r>
          </a:p>
          <a:p>
            <a:r>
              <a:t>Raw LaTeX Equation:</a:t>
            </a:r>
          </a:p>
          <a:p>
            <a:r>
              <a:t>$$</a:t>
            </a:r>
          </a:p>
          <a:p>
            <a:r>
              <a:t>z_h \ge z^\star(\tau_a, B_{\text{youth}}) \iff \pi_{\text{firm}}\big(z_h, a_{20} + B_{\text{youth}}, r_b^{\text{SS2}}\big) \ge \max\big\{ w_{\text{NZ}} h_3,\, w_{\text{AUS}} h_3 - c_{\text{mig}}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[K:03] The Sovereign Helmsman: Policy-Maker, Minister, Treasury, &amp; Reserve Bank Official — Aiyagari–Kiyotaki–Moore Regional Collateral &amp; Spread Compressor</a:t>
            </a:r>
          </a:p>
          <a:p>
            <a:r>
              <a:t>Monograph Ref: Doc 1B §4.3 • Doc 2: NZ_4Region_Master.m</a:t>
            </a:r>
          </a:p>
          <a:p>
            <a:r>
              <a:t>Parameters: Sovereign/household borrowing spread: −60 to −100 bps | Urban rent cooling: −7.5% (SS1) to −10.5% (SS2) across all 4 regions</a:t>
            </a:r>
          </a:p>
          <a:p>
            <a:r>
              <a:t>Raw LaTeX Equation:</a:t>
            </a:r>
          </a:p>
          <a:p>
            <a:r>
              <a:t>$$</a:t>
            </a:r>
          </a:p>
          <a:p>
            <a:r>
              <a:t>r_b^r(\text{SS2}) = r^\star + \Omega_{\text{sovereign}}\!\left(\frac{B_{\text{gov}}}{Y}\right) \longrightarrow r_b^r(\text{SS0}) - 60\text{ bps}, \qquad \frac{p_{h,r}^r \bar{h}}{y_{1,r}} \le 0.30 \;\;\forall\, r \in \{1..4\}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[K:04] The '1925 Moment' Architect: Quantitative Economist &amp; Open-Source Researcher — 8-PType Discrete Grid Bellman &amp; Kolmogorov Forward Fixed-Point Operator</a:t>
            </a:r>
          </a:p>
          <a:p>
            <a:r>
              <a:t>Monograph Ref: Doc 1B §1.3 • Doc 2: QEA_2026.m</a:t>
            </a:r>
          </a:p>
          <a:p>
            <a:r>
              <a:t>Parameters: 8 Permanent Types × 81 Annual Ages × 9 Farmer–Toda AR(1) Shock States | Zero log-linearization error around subsistence corners</a:t>
            </a:r>
          </a:p>
          <a:p>
            <a:r>
              <a:t>Raw LaTeX Equation:</a:t>
            </a:r>
          </a:p>
          <a:p>
            <a:r>
              <a:t>$$</a:t>
            </a:r>
          </a:p>
          <a:p>
            <a:r>
              <a:t>\mu^\star(s') = \sum_{i=1}^{8} \omega_i \sum_{s \in \mathcal{S}} \mathbb{I}\big(d_i^\star(s) = s'\big) \Pi(z'|z) \mu_i^\star(s), \qquad \left\| \mathcal{T}(\mu^{(k)}) - \mu^{(k)} \right\|_\infty &lt; 10^{-8}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[K:05] The Pūrākau Weaver: Creative, Storyteller, &amp; Cultural Catalyst — Akerlof–Kranton Identity Utility &amp; Pūrākau Engagement Operator</a:t>
            </a:r>
          </a:p>
          <a:p>
            <a:r>
              <a:t>Monograph Ref: Doc 1B §2.4 • Rules: STORIES.md</a:t>
            </a:r>
          </a:p>
          <a:p>
            <a:r>
              <a:t>Parameters: Lifts Gate 2 school/mentoring engagement from 17.3% → 65.0%+ | Blocks alienated dropout (Exit 4) and T:05 outrage susceptibility</a:t>
            </a:r>
          </a:p>
          <a:p>
            <a:r>
              <a:t>Raw LaTeX Equation:</a:t>
            </a:r>
          </a:p>
          <a:p>
            <a:r>
              <a:t>$$</a:t>
            </a:r>
          </a:p>
          <a:p>
            <a:r>
              <a:t>U_j^i(c, \ell, e_2) = u(c, \ell) + \lambda_{\text{id}} \, \mathcal{I}_{\mathrm{p\bar{u}r\bar{a}kau}}\big(e_2, M_{\text{tuakana}}, \text{Cohesion}_t\big), \qquad \frac{\partial e_2^\star}{\partial \mathcal{I}_{\mathrm{p\bar{u}r\bar{a}kau}}}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[K:06] The Kaumātua &amp; Founder's Dividend: Wisdom of the Golden Years (Ages 65+) — De Nardi Warm-Glow Solar Bequest &amp; Ngā Kete Wisdom Spillover</a:t>
            </a:r>
          </a:p>
          <a:p>
            <a:r>
              <a:t>Monograph Ref: Doc 1B §4.4 • Doc 2: QEA_2026.m</a:t>
            </a:r>
          </a:p>
          <a:p>
            <a:r>
              <a:t>Parameters: wg₁ = 1.5, wg₂ = 3.0 (3× bequest weight on paid-off solar pv=5) | Ngā Kete Human-Capital Multiplier (1 + θ_kete) = 1.75×</a:t>
            </a:r>
          </a:p>
          <a:p>
            <a:r>
              <a:t>Raw LaTeX Equation:</a:t>
            </a:r>
          </a:p>
          <a:p>
            <a:r>
              <a:t>$$</a:t>
            </a:r>
          </a:p>
          <a:p>
            <a:r>
              <a:t>\mathcal{B}(a_J, pv_J, K_{\text{kete}}) = \text{wg}_1 \frac{\big(a_J + \text{wg}_2 \, P_{\text{pv}} \, pv_J\big)^{1-\sigma}}{1-\sigma}, \qquad h_{1,\text{next}} = \big(1 + \theta_{\text{kete}} \mathbb{I}_{\text{Super}=65}\big) h_{1,\text{base}}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[K:07] Te Tiriti &amp; The Big Table Crew: The Five-Crew Hydrofoil Formation — Double-Hull Supermodularity &amp; Nash Cooperative Bargaining Theorem</a:t>
            </a:r>
          </a:p>
          <a:p>
            <a:r>
              <a:t>Monograph Ref: Doc 1B §6.2 • Rules: STORIES.md</a:t>
            </a:r>
          </a:p>
          <a:p>
            <a:r>
              <a:t>Parameters: Supermodular Kīato Cross-Beam Dividend Δ_kīato &gt; 0 | Drives Social Cohesion Index to 126.0 and neutralizes T:05 polarisation</a:t>
            </a:r>
          </a:p>
          <a:p>
            <a:r>
              <a:t>Raw LaTeX Equation:</a:t>
            </a:r>
          </a:p>
          <a:p>
            <a:r>
              <a:t>$$</a:t>
            </a:r>
          </a:p>
          <a:p>
            <a:r>
              <a:t>\mathcal{W}\big(\text{Hull}_{\text{Foils}} \cup \text{Hull}_{\text{Waka}}\big) - \Big[ \mathcal{W}\big(\text{Hull}_{\text{Foils}}\big) + \mathcal{W}\big(\text{Hull}_{\text{Waka}}\big) \Big] = \Delta_{\mathrm{k\bar{\imath}ato}}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[N:01] Ronald Coase's Transaction-Cost Scalpel (Nobel Prize, 1991) — Coase–North Institutional Transaction-Cost &amp; Red-Tape Compression</a:t>
            </a:r>
          </a:p>
          <a:p>
            <a:r>
              <a:t>Monograph Ref: Doc 1B §3.3 • Doc 2: Compute_Actuarial_NPV_4Region.m</a:t>
            </a:r>
          </a:p>
          <a:p>
            <a:r>
              <a:t>Parameters: Cuts institutional agency/compliance friction by 75% (from 32% siloed overhead to ≤8% high-trust commissioning)</a:t>
            </a:r>
          </a:p>
          <a:p>
            <a:r>
              <a:t>Raw LaTeX Equation:</a:t>
            </a:r>
          </a:p>
          <a:p>
            <a:r>
              <a:t>$$</a:t>
            </a:r>
          </a:p>
          <a:p>
            <a:r>
              <a:t>G_{\text{effective},1} = \big(1 - \tau_{\text{friction}}\big) G_{\text{nominal},1}, \qquad \tau_{\text{friction}}(\text{SS0 Silos}) \approx 0.32 \;\longrightarrow\; \tau_{\text{friction}}(\text{SS2 Wh}\bar{\text{a}}\text{nau Ora}) \le 0.08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[N:02] James Heckman's Dynamic Complementarity Engine (Nobel Prize, 2000) — Cunha–Heckman Self-Productivity &amp; Dynamic Complementarity Matrix</a:t>
            </a:r>
          </a:p>
          <a:p>
            <a:r>
              <a:t>Monograph Ref: Doc 1B §2.1 • Doc 2: PolicyExperiment_LeeSeshadri_4Region.m</a:t>
            </a:r>
          </a:p>
          <a:p>
            <a:r>
              <a:t>Parameters: Early elasticity of substitution ϕ₁ = −0.50 vs. late ϕ₃ = +0.30 | Gate 1 investments yield ≥3× the lifetime return of late remediation</a:t>
            </a:r>
          </a:p>
          <a:p>
            <a:r>
              <a:t>Raw LaTeX Equation:</a:t>
            </a:r>
          </a:p>
          <a:p>
            <a:r>
              <a:t>$$</a:t>
            </a:r>
          </a:p>
          <a:p>
            <a:r>
              <a:t>h_{t+1} = f_t(h_t, I_t), \qquad \underbrace{\frac{\partial h_{t+1}}{\partial h_t} &gt; 0}_{\text{Self-Productivity}}, \qquad \underbrace{\frac{\partial^2 h_{t+1}}{\partial h_t \, \partial I_t} &gt; 0}_{\text{Dynamic Complementarity}}, \qquad \frac{\text{ROI}(\text{Gate 1})}{\text{ROI}(\text{Gate 3})} \ge 3.0\times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[N:03] Oliver Williamson's Actuarial Ledger (Nobel Prize, 2009 — Part I) — Williamson Governance-Structure Alignment &amp; Forward Liability Booking</a:t>
            </a:r>
          </a:p>
          <a:p>
            <a:r>
              <a:t>Monograph Ref: Doc 1B §3.4 • Doc 2: Compute_Actuarial_NPV_4Region.m</a:t>
            </a:r>
          </a:p>
          <a:p>
            <a:r>
              <a:t>Parameters: Matches 81-year human-capital asset horizon (T_horizon) with 2.0% real SRTP actuarial governance (3.84× Year-5 return)</a:t>
            </a:r>
          </a:p>
          <a:p>
            <a:r>
              <a:t>Raw LaTeX Equation:</a:t>
            </a:r>
          </a:p>
          <a:p>
            <a:r>
              <a:t>$$</a:t>
            </a:r>
          </a:p>
          <a:p>
            <a:r>
              <a:t>\min_{\mathcal{G}} \Big\{ C_{\text{production}}(\mathcal{G}) + C_{\text{governance}}\big(\mathcal{G} \mid k_{\text{specificity}},\, T_{\text{horizon}}\big) \Big\} \implies \mathcal{G}^\star = \text{ACC Actuarial Balance Sheet}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[N:04] Elinor Ostrom's Polycentric Commons (Nobel Prize, 2009 — Part II) — Ostrom Polycentric Commons Governance &amp; Local Information Advantage</a:t>
            </a:r>
          </a:p>
          <a:p>
            <a:r>
              <a:t>Monograph Ref: Doc 1B §5.3 • Doc 2: QEA_2026.m</a:t>
            </a:r>
          </a:p>
          <a:p>
            <a:r>
              <a:t>Parameters: 8 Design Principles for Polycentric Commons | Powers C:03 (2,500 Schools + 800 Marae hubs) and B:01/B:02 local delivery</a:t>
            </a:r>
          </a:p>
          <a:p>
            <a:r>
              <a:t>Raw LaTeX Equation:</a:t>
            </a:r>
          </a:p>
          <a:p>
            <a:r>
              <a:t>$$</a:t>
            </a:r>
          </a:p>
          <a:p>
            <a:r>
              <a:t>\mathbb{E}\big[\Delta h_2 \mid \mathcal{I}_{\text{local}}(\text{Marae, Kura, Iwi})\big] &gt; \mathbb{E}\big[\Delta h_2 \mid \mathcal{I}_{\text{central}}(\text{Wellington})\big], \qquad \text{Default/Waste}_{\text{polycentric}}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[N:05] Paul Romer's Collective Intelligence Reactor (Nobel Prize, 2018) — Romer Endogenous Growth &amp; Non-Rival Knowledge Spillover Multiplier</a:t>
            </a:r>
          </a:p>
          <a:p>
            <a:r>
              <a:t>Monograph Ref: Doc 1B §4.6 • Doc 2: NZ_4Region_Master.m</a:t>
            </a:r>
          </a:p>
          <a:p>
            <a:r>
              <a:t>Parameters: Non-rival ideas ∂²Y/∂A∂H &gt; 0 | Retaining 3,550/yr graduates (B:03) + Kaumātua wisdom (K:06) yields a 1.75× TFP/skill multiplier</a:t>
            </a:r>
          </a:p>
          <a:p>
            <a:r>
              <a:t>Raw LaTeX Equation:</a:t>
            </a:r>
          </a:p>
          <a:p>
            <a:r>
              <a:t>$$</a:t>
            </a:r>
          </a:p>
          <a:p>
            <a:r>
              <a:t>Y_t = A_t K_t^\alpha \big(L_{Y,t} \bar{h}_t\big)^{1-\alpha}, \qquad \frac{\dot{A}_t}{A_t} = \delta_{\text{R\&amp;D}} \, H_{A,t}\big(\text{B:03}, \text{B:05}, \text{K:06}\big) \;\Longrightarrow\; \text{Multiplier}_{\text{N:05}} = 1.75\times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[N:06] The Unclaimed Medallion: The Aotearoa Synthesis (Nobel Horizon, 203X) — Sen–Stiglitz–Fitoussi Multi-Capital Capability &amp; Well-Being Synthesis</a:t>
            </a:r>
          </a:p>
          <a:p>
            <a:r>
              <a:t>Monograph Ref: Doc 1B §6.1 • Doc 2: Compute_Welfare_CE_4Region.m</a:t>
            </a:r>
          </a:p>
          <a:p>
            <a:r>
              <a:t>Parameters: Simultaneous Pareto-improving victory across all 7 Capitals, all 4 Regions, and all 20 Rawlsian Birth Vigintiles</a:t>
            </a:r>
          </a:p>
          <a:p>
            <a:r>
              <a:t>Raw LaTeX Equation:</a:t>
            </a:r>
          </a:p>
          <a:p>
            <a:r>
              <a:t>$$</a:t>
            </a:r>
          </a:p>
          <a:p>
            <a:r>
              <a:t>\mathcal{W}_{\text{Sen–Stiglitz}} = \Phi\!\Big( \text{CE}(+20.5\%),\, \text{Stunting}(\le 1.5\%),\, \Delta\text{CO}_2\text{e}(-14.8\text{ Mt}),\, \text{Cohesion}(126.0),\, \text{Super}_{65}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[H:01] The Cash-Flow Myopia Trap ('Wait 18.8 Years!') vs. The Coase–Williamson Audit — Myopic 3-Year Cash-Budget Truncation Bias (Orthodox Boss Hazard)</a:t>
            </a:r>
          </a:p>
          <a:p>
            <a:r>
              <a:t>Monograph Ref: Doc 1B §3.4 • Doc 2: Compute_Actuarial_NPV_4Region.m</a:t>
            </a:r>
          </a:p>
          <a:p>
            <a:r>
              <a:t>Parameters: Truncates 78 years of human-capital returns (ages 4–81) and applies punitive 6%–8% hurdle rates to early childhood care</a:t>
            </a:r>
          </a:p>
          <a:p>
            <a:r>
              <a:t>Raw LaTeX Equation:</a:t>
            </a:r>
          </a:p>
          <a:p>
            <a:r>
              <a:t>$$</a:t>
            </a:r>
          </a:p>
          <a:p>
            <a:r>
              <a:t>\text{NPV}_{\text{myopic}}(T=3) = \sum_{s=1}^{3} \frac{\Delta \text{CashFlow}_s}{(1 + r_{\text{hurdle}})^s} &lt; 0 \quad \text{while} \quad \text{NPV}_{\text{ACC}}(T=81, r_{\text{SRTP}}=2\%) = +\text{NZD } 35.25\text{B}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[H:02] The 'Wellington Knows Best' Bottleneck vs. The Ostrom–Heckman Community Engine — Siloed Agency Principal-Agent Distortion &amp; Compliance Deadweight Loss</a:t>
            </a:r>
          </a:p>
          <a:p>
            <a:r>
              <a:t>Monograph Ref: Doc 1B §3.3 • Doc 2: PolicyExperiment_LeeSeshadri_4Region.m</a:t>
            </a:r>
          </a:p>
          <a:p>
            <a:r>
              <a:t>Parameters: M = 6+ uncoordinated ministries/agencies | Consumes ~32% in administrative deadweight loss before reaching Gate 1–2 whānau</a:t>
            </a:r>
          </a:p>
          <a:p>
            <a:r>
              <a:t>Raw LaTeX Equation:</a:t>
            </a:r>
          </a:p>
          <a:p>
            <a:r>
              <a:t>$$</a:t>
            </a:r>
          </a:p>
          <a:p>
            <a:r>
              <a:t>\sum_{m=1}^{M} C_{\text{admin},m}\big(\text{Silo}_m\big) = 0.32 \, G_{\text{total}}, \qquad \text{Pr}\big(\text{Child Falls Between Silos } m \cap m'\big) = 1 - (1 - p_{\text{drop}})^M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[H:03] The Trans-Tasman Brain-Drain Vortex vs. The Romer–Coase Talent Magnet — Trans-Tasman Human-Capital Arbitrage &amp; Fiscal Externality Drain</a:t>
            </a:r>
          </a:p>
          <a:p>
            <a:r>
              <a:t>Monograph Ref: Doc 1B §3.2 • Doc 2: NZ_4Region_Master.m</a:t>
            </a:r>
          </a:p>
          <a:p>
            <a:r>
              <a:t>Parameters: SS0 Metro Graduate Exile Rate = 19.3%–23.4% | NZ pays 100% of ages 0–21 education cost; Australia captures 40 years of PAYE/TFP</a:t>
            </a:r>
          </a:p>
          <a:p>
            <a:r>
              <a:t>Raw LaTeX Equation:</a:t>
            </a:r>
          </a:p>
          <a:p>
            <a:r>
              <a:t>$$</a:t>
            </a:r>
          </a:p>
          <a:p>
            <a:r>
              <a:t>\text{Migrate}_{\text{AUS}} = 1 \iff \sum_{j=22}^{65} \beta^{j-22} \Big[ u\big(w_{\text{AUS}} h_3 - p_{h,\text{SYD}}^r\big) - u\big(w_{\text{NZ}} h_3 - 3.1 p_{h,\text{AKL}}^r\big) \Big] &gt;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[H:04] The 'Actuarial Burden' Trap ('Raise the Pension Age to 70!') vs. The Living Bequest — The Austerity False Trilemma: Super Age Hike vs. PAYE Creep</a:t>
            </a:r>
          </a:p>
          <a:p>
            <a:r>
              <a:t>Monograph Ref: Doc 1B §4.4 • Doc 2: Solve_SS2_2050_5050Rule.m</a:t>
            </a:r>
          </a:p>
          <a:p>
            <a:r>
              <a:t>Parameters: SS0 Austerity Drift: PAYE 22.0% → 28.2% or Super Age → 67–70 | SS2 Counter (B:06): PAYE cut to 18.5% &amp; Super kept at Age 65!</a:t>
            </a:r>
          </a:p>
          <a:p>
            <a:r>
              <a:t>Raw LaTeX Equation:</a:t>
            </a:r>
          </a:p>
          <a:p>
            <a:r>
              <a:t>$$</a:t>
            </a:r>
          </a:p>
          <a:p>
            <a:r>
              <a:t>\text{Under SS0 }(h_3^{\text{low}}, \tau_a = 0)\!:\quad \tau_y^{\text{PAYE}}(2050) = 28.22\% \;\;\text{or}\;\; \text{Age}_{\text{Super}} \uparrow 67\text{–}70 \;\;\text{or}\;\; \frac{B_{\text{gov}}}{Y} \longrightarrow 200\%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[H:05] The 1989 Tokyo Land-Bubble Boss vs. The 4-Laureate 2050 Stabilizer — Capital-Income Tax Disharmony &amp; Speculative Portfolio Skew</a:t>
            </a:r>
          </a:p>
          <a:p>
            <a:r>
              <a:t>Monograph Ref: Doc 1B §4.1 • Data: data/earn_plus_own_10tiers.csv</a:t>
            </a:r>
          </a:p>
          <a:p>
            <a:r>
              <a:t>Parameters: Top 0.25% Speculator (20:20, NZD 100M+ passive land) captures tax-free capital gains while crowding out 19/20 productive builders</a:t>
            </a:r>
          </a:p>
          <a:p>
            <a:r>
              <a:t>Raw LaTeX Equation:</a:t>
            </a:r>
          </a:p>
          <a:p>
            <a:r>
              <a:t>$$</a:t>
            </a:r>
          </a:p>
          <a:p>
            <a:r>
              <a:t>\tau_{\text{eff}}\big(\text{Leveraged Land } z_\ell\big) \approx 0\% \;\ll\; \tau_{\text{eff}}\big(\text{Wages &amp; Productive R\&amp;D } z_h\big) \in [28\%, 39\%] \implies \frac{K_{\text{land}}}{K_{\text{productive}}}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[H:06] The 1972 Nostalgia Baseline (Dunedin vs. GUiNZ Shift) — Cohort Distribution Drift &amp; Stone–Geary Subsistence Boundary Shift (1972 → 2010)</a:t>
            </a:r>
          </a:p>
          <a:p>
            <a:r>
              <a:t>Monograph Ref: Doc 1A §3.6 &amp; Doc 1B §2.3 • Script: scripts/audit_guinz_vs_dunedin.py</a:t>
            </a:r>
          </a:p>
          <a:p>
            <a:r>
              <a:t>Parameters: Pr(i_c = 0): 22.0% (1972 Dunedin, d20 1–4) → 30.0% (2010 GUiNZ, d20 1–6) | &gt;45% rental transience cuts γ₁ by −25% | SS0 Drag: NZD 17.7B → 28.5B/yr</a:t>
            </a:r>
          </a:p>
          <a:p>
            <a:r>
              <a:t>Raw LaTeX Equation:</a:t>
            </a:r>
          </a:p>
          <a:p>
            <a:r>
              <a:t>$$</a:t>
            </a:r>
          </a:p>
          <a:p>
            <a:r>
              <a:t>\Delta \mathcal{D}_{\text{GUiNZ}} = \sum_{x \in \{1,2,4\}} \int_{\mathcal{S}} C_x(s) \, d\Big(\mu_{2010}^{\text{GUiNZ}}(s) - \mu_{1972}^{\text{Dunedin}}(s)\Big) = +\text{NZD } 10.8\text{B/yr}, \qquad \frac{\partial^2 h_2}{\partial G_{\text{ECE},1}^{\text{in-kind}} \, \partial \Pr(i_c = 0)}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 Swapping Fuels for Finance (The First-Order Electrification Card) — First-Order Partial-Equilibrium Electrification Cost-Savings Identity</a:t>
            </a:r>
          </a:p>
          <a:p>
            <a:r>
              <a:t>Monograph Ref: Doc 1B §5.2 • Rules: rules/game_changer_tutorial.md</a:t>
            </a:r>
          </a:p>
          <a:p>
            <a:r>
              <a:t>Parameters: 4 Sectors (Homes, Schools/Marae, Commercial, Industry) | 3.3–4.3 yr payback | −10.0 MtCO₂e/yr | Vulnerable to H:01 Crowd-Out Claim</a:t>
            </a:r>
          </a:p>
          <a:p>
            <a:r>
              <a:t>Raw LaTeX Equation:</a:t>
            </a:r>
          </a:p>
          <a:p>
            <a:r>
              <a:t>$$</a:t>
            </a:r>
          </a:p>
          <a:p>
            <a:r>
              <a:t>\Delta \text{OPEX}_{\text{PE}} = \sum_{s=1}^{4} N_s \big( E_{\text{fossil},s} - E_{\text{elec},s} \big) = +\text{NZD } 11.0\text{B/yr}, \qquad \text{CapEx}_{\text{Sectors 1–4}} = \text{NZD } 36.2\text{B–}47.5\text{B}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[E:02] Energy as Endowment (The QEA-2026 Stationary Distribution Shift) — Second-Order Precautionary Capital Release Under Solar Endowment</a:t>
            </a:r>
          </a:p>
          <a:p>
            <a:r>
              <a:t>Monograph Ref: Doc 1B §5.2 • Doc 2: QEA_2026.m</a:t>
            </a:r>
          </a:p>
          <a:p>
            <a:r>
              <a:t>Parameters: σ = 2.2 CRRA | Farmer–Toda 9-state AR(1) z₂ | 5-Sector CapEx = NZD 60.2B–75.5B | Annual OPEX Savings = +NZD 15.55B/yr | −14.8 MtCO₂e</a:t>
            </a:r>
          </a:p>
          <a:p>
            <a:r>
              <a:t>Raw LaTeX Equation:</a:t>
            </a:r>
          </a:p>
          <a:p>
            <a:r>
              <a:t>$$</a:t>
            </a:r>
          </a:p>
          <a:p>
            <a:r>
              <a:t>\Delta A_{\text{prec}} \equiv \int_{\mathcal{S}} a \, d\mu^\star\big(s \,\big|\, pv=0, \sigma_{z_2}=0.25\big) - \int_{\mathcal{S}} a \, d\mu^\star\big(s \,\big|\, pv=5, \sigma_{z_2}=0\big) = \text{NZD } 60.8\text{B–}91.5\text{B} \ge \text{CapEx}</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[E:03] Firming the Economic Grid (The RBNZ &amp; National Security Dividend) — Dry-Year Hydro Storage Buffer via Distributed &amp; Farm-Pond Solar</a:t>
            </a:r>
          </a:p>
          <a:p>
            <a:r>
              <a:t>Monograph Ref: Doc 1B §5.3 • Doc 2: QEA_2026.m</a:t>
            </a:r>
          </a:p>
          <a:p>
            <a:r>
              <a:t>Parameters: 19,000+ Farm Dairy Sheds &amp; Irrigation Ponds + Bottom-50% Whānau Solar | Cancels NZD 6.2B LNG import terminal (−3.2 MtCO₂e)</a:t>
            </a:r>
          </a:p>
          <a:p>
            <a:r>
              <a:t>Raw LaTeX Equation:</a:t>
            </a:r>
          </a:p>
          <a:p>
            <a:r>
              <a:t>$$</a:t>
            </a:r>
          </a:p>
          <a:p>
            <a:r>
              <a:t>S_{\text{hydro},t+1} = S_{\text{hydro},t} + \text{Inflow}_t - \Big( D_{\text{grid},t} - G_{\text{rooftop+pond}}(pv=5) \Big) \ge S_{\min}^{\text{dry-year}} \implies I_{\text{LNG}}(\text{NZD } 6.2\text{B}) = 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64592"/>
            <a:ext cx="11734495" cy="804672"/>
          </a:xfrm>
          <a:prstGeom prst="roundRect">
            <a:avLst>
              <a:gd name="adj" fmla="val 2000"/>
            </a:avLst>
          </a:prstGeom>
          <a:solidFill>
            <a:srgbClr val="0A2752"/>
          </a:solidFill>
          <a:ln w="2540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450" b="1" i="0">
                <a:solidFill>
                  <a:srgbClr val="FFD166"/>
                </a:solidFill>
                <a:latin typeface="Arial"/>
              </a:defRPr>
            </a:pPr>
            <a:r>
              <a:t>SLIDE 01 / 46  •  BEYOND THE MAGIC MONEY TREE — FOILS &amp; FOUNDERS: THE AOTEAROA STUDY DECK</a:t>
            </a:r>
          </a:p>
          <a:p>
            <a:pPr algn="ctr">
              <a:spcAft>
                <a:spcPts val="0"/>
              </a:spcAft>
              <a:defRPr sz="1150" b="0" i="1">
                <a:solidFill>
                  <a:srgbClr val="90E0EF"/>
                </a:solidFill>
                <a:latin typeface="Arial"/>
              </a:defRPr>
            </a:pPr>
            <a:r>
              <a:t>Rule Zero (B:00 — The Rawlsian D20 Test): "Not all lives are easy, but none should be impossible."</a:t>
            </a:r>
          </a:p>
        </p:txBody>
      </p:sp>
      <p:sp>
        <p:nvSpPr>
          <p:cNvPr id="3" name="Rounded Rectangle 2"/>
          <p:cNvSpPr/>
          <p:nvPr/>
        </p:nvSpPr>
        <p:spPr>
          <a:xfrm>
            <a:off x="228600" y="1042415"/>
            <a:ext cx="5779008" cy="3493008"/>
          </a:xfrm>
          <a:prstGeom prst="roundRect">
            <a:avLst>
              <a:gd name="adj" fmla="val 2000"/>
            </a:avLst>
          </a:prstGeom>
          <a:solidFill>
            <a:srgbClr val="0A2752"/>
          </a:solidFill>
          <a:ln w="25400">
            <a:solidFill>
              <a:srgbClr val="48CAE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48CAE4"/>
                </a:solidFill>
                <a:latin typeface="Arial"/>
              </a:defRPr>
            </a:pPr>
            <a:r>
              <a:t>LEFT VERTICAL PANEL • TABLETOP GAMEPLAY ARCHITECTURE</a:t>
            </a:r>
          </a:p>
          <a:p>
            <a:pPr>
              <a:spcAft>
                <a:spcPts val="200"/>
              </a:spcAft>
              <a:defRPr sz="1050" b="1" i="0">
                <a:solidFill>
                  <a:srgbClr val="FFD166"/>
                </a:solidFill>
                <a:latin typeface="Arial"/>
              </a:defRPr>
            </a:pPr>
            <a:r>
              <a:t>⛵ Hull A — Up on Foils (Systems &amp; Hydrofoil Engineering):</a:t>
            </a:r>
          </a:p>
          <a:p>
            <a:pPr>
              <a:spcAft>
                <a:spcPts val="600"/>
              </a:spcAft>
              <a:defRPr sz="950" b="0" i="0">
                <a:solidFill>
                  <a:srgbClr val="ECF8F8"/>
                </a:solidFill>
                <a:latin typeface="Arial"/>
              </a:defRPr>
            </a:pPr>
            <a:r>
              <a:t>Lift Aotearoa from high-drag SS0 Displacement Mode (81.0 Cohesion, 22%-30% child hardship corner, approaching 200% Debt/GDP) onto SS1 (2x Mana) and SS2 Hydrofoils (3x Mana, 126.0 Cohesion, 18.5% PAYE, Super @ 65) by interlocking 3 Subsystems: 1. Front Foil (B:01+B:02), 2. Wing-Sail (B:05+B:03+E:02), and 3. Rear T-Foil (B:07+B:06).</a:t>
            </a:r>
          </a:p>
          <a:p>
            <a:pPr>
              <a:spcAft>
                <a:spcPts val="200"/>
              </a:spcAft>
              <a:defRPr sz="1050" b="1" i="0">
                <a:solidFill>
                  <a:srgbClr val="FFD166"/>
                </a:solidFill>
                <a:latin typeface="Arial"/>
              </a:defRPr>
            </a:pPr>
            <a:r>
              <a:t>🛶 Hull B — Te Waka Hourua (Double-Hulled Voyaging &amp; Mana):</a:t>
            </a:r>
          </a:p>
          <a:p>
            <a:pPr>
              <a:spcAft>
                <a:spcPts val="600"/>
              </a:spcAft>
              <a:defRPr sz="950" b="0" i="0">
                <a:solidFill>
                  <a:srgbClr val="ECF8F8"/>
                </a:solidFill>
                <a:latin typeface="Arial"/>
              </a:defRPr>
            </a:pPr>
            <a:r>
              <a:t>Steward multi-generational characters across Being (Tamariki, 0-17), Becoming (Pakeke, 18-62), and Crossing Over (Kaumātua, 63-89 → Rebirth at J=0 via the Rawlsian D20). Expose cards to The River (+1 Generosity), collect persistent Variant B Royalties, and stake Contingent Mana at risk.</a:t>
            </a:r>
          </a:p>
          <a:p>
            <a:pPr>
              <a:spcAft>
                <a:spcPts val="200"/>
              </a:spcAft>
              <a:defRPr sz="1050" b="1" i="0">
                <a:solidFill>
                  <a:srgbClr val="72EFDD"/>
                </a:solidFill>
                <a:latin typeface="Arial"/>
              </a:defRPr>
            </a:pPr>
            <a:r>
              <a:t>🏆 Three-Pillar Scrabble Scoring &amp; Dual Ruleset:</a:t>
            </a:r>
          </a:p>
          <a:p>
            <a:pPr>
              <a:spcAft>
                <a:spcPts val="0"/>
              </a:spcAft>
              <a:defRPr sz="950" b="0" i="0">
                <a:solidFill>
                  <a:srgbClr val="ECF8F8"/>
                </a:solidFill>
                <a:latin typeface="Arial"/>
              </a:defRPr>
            </a:pPr>
            <a:r>
              <a:t>Compete for 1) Mana Laureate (Toa Takitini) and 2) Wealth Laureate (Pou Rawa) while maximizing 3) Combined National Score (Σ_Aotearoa) and out-sailing Finland (88.0 → 107.2) in Abundance Mode or Feral Spoiler Mode.</a:t>
            </a:r>
          </a:p>
        </p:txBody>
      </p:sp>
      <p:sp>
        <p:nvSpPr>
          <p:cNvPr id="4" name="Rounded Rectangle 3"/>
          <p:cNvSpPr/>
          <p:nvPr/>
        </p:nvSpPr>
        <p:spPr>
          <a:xfrm>
            <a:off x="6181344" y="1042415"/>
            <a:ext cx="5779008" cy="3493008"/>
          </a:xfrm>
          <a:prstGeom prst="roundRect">
            <a:avLst>
              <a:gd name="adj" fmla="val 2000"/>
            </a:avLst>
          </a:prstGeom>
          <a:solidFill>
            <a:srgbClr val="082145"/>
          </a:solidFill>
          <a:ln w="2540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FFD166"/>
                </a:solidFill>
                <a:latin typeface="Arial"/>
              </a:defRPr>
            </a:pPr>
            <a:r>
              <a:t>RIGHT VERTICAL PANEL • EMPIRICAL &amp; OLG MODEL ARCHITECTURE</a:t>
            </a:r>
          </a:p>
          <a:p>
            <a:pPr>
              <a:spcAft>
                <a:spcPts val="200"/>
              </a:spcAft>
              <a:defRPr sz="1050" b="1" i="0">
                <a:solidFill>
                  <a:srgbClr val="48CAE4"/>
                </a:solidFill>
                <a:latin typeface="Arial"/>
              </a:defRPr>
            </a:pPr>
            <a:r>
              <a:t>🔬 8-PType × 4-Region General Equilibrium GPU Engine:</a:t>
            </a:r>
          </a:p>
          <a:p>
            <a:pPr>
              <a:spcAft>
                <a:spcPts val="600"/>
              </a:spcAft>
              <a:defRPr sz="950" b="0" i="0">
                <a:solidFill>
                  <a:srgbClr val="ECF8F8"/>
                </a:solidFill>
                <a:latin typeface="Arial"/>
              </a:defRPr>
            </a:pPr>
            <a:r>
              <a:t>Every card in this deck compiles a formal theorem and calibrated parameter from the companion IGWelfare MATLAB/Python codebase (NZ_4Region_Master.m, PolicyExperiment_LeeSeshadri_4Region.m, QEA_2026.m).</a:t>
            </a:r>
          </a:p>
          <a:p>
            <a:pPr>
              <a:spcAft>
                <a:spcPts val="300"/>
              </a:spcAft>
              <a:defRPr sz="1050" b="1" i="0">
                <a:solidFill>
                  <a:srgbClr val="72EFDD"/>
                </a:solidFill>
                <a:latin typeface="Arial"/>
              </a:defRPr>
            </a:pPr>
            <a:r>
              <a:t>📚 Core Empirical Anchors Across the Cards:</a:t>
            </a:r>
          </a:p>
          <a:p>
            <a:pPr>
              <a:spcAft>
                <a:spcPts val="300"/>
              </a:spcAft>
              <a:defRPr sz="919" b="0" i="0">
                <a:solidFill>
                  <a:srgbClr val="FFD166"/>
                </a:solidFill>
                <a:latin typeface="Arial"/>
              </a:defRPr>
            </a:pPr>
            <a:r>
              <a:t>• Dunedin Study (Poulton et al. 2015) &amp; GUiNZ (Morton et al. 2023): 22% (d20: 1-4) to 30% (d20: 1-6) early subsistence corner &amp; 80/20 concentration of $50.5B/yr fiscal drag.</a:t>
            </a:r>
          </a:p>
          <a:p>
            <a:pPr>
              <a:spcAft>
                <a:spcPts val="300"/>
              </a:spcAft>
              <a:defRPr sz="919" b="0" i="0">
                <a:solidFill>
                  <a:srgbClr val="FFD166"/>
                </a:solidFill>
                <a:latin typeface="Arial"/>
              </a:defRPr>
            </a:pPr>
            <a:r>
              <a:t>• Cunha, Heckman, &amp; Schennach (2010) &amp; Lee &amp; Seshadri (2019): Multi-stage CES dynamic complementarity (φ₁ = -0.50) proving 6.8:1 ROI on Gate 1-2 vs. late remediation collapse.</a:t>
            </a:r>
          </a:p>
          <a:p>
            <a:pPr>
              <a:spcAft>
                <a:spcPts val="300"/>
              </a:spcAft>
              <a:defRPr sz="919" b="0" i="0">
                <a:solidFill>
                  <a:srgbClr val="FFD166"/>
                </a:solidFill>
                <a:latin typeface="Arial"/>
              </a:defRPr>
            </a:pPr>
            <a:r>
              <a:t>• Guvenen et al. (2023) &amp; Murphy, Shleifer, &amp; Vishny (1991): Use-It-Or-Lose-It wealth/estate tax shift rotating capital from passive land (z_l) to active builders (z_h, 20:01-20:19).</a:t>
            </a:r>
          </a:p>
          <a:p>
            <a:pPr>
              <a:spcAft>
                <a:spcPts val="0"/>
              </a:spcAft>
              <a:defRPr sz="919" b="0" i="0">
                <a:solidFill>
                  <a:srgbClr val="FFD166"/>
                </a:solidFill>
                <a:latin typeface="Arial"/>
              </a:defRPr>
            </a:pPr>
            <a:r>
              <a:t>• Williamson (2009), Ostrom (2010), &amp; Romer (1990): Polycentric governance, ACC Year-5 actuarial breakeven (3.84x), and non-rival knowledge spillovers.</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50" b="1" i="0">
                <a:solidFill>
                  <a:srgbClr val="FFD166"/>
                </a:solidFill>
                <a:latin typeface="Arial"/>
              </a:defRPr>
            </a:pPr>
            <a:r>
              <a:t>MASTER THREE-PILLAR SCRABBLE &amp; RAWLSIAN SOCIAL WELFARE OBJECTIVE FUNCTION  (Slide 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[B:00]  The Rawlsian D20 (The Veil of Ignorance Die)   —   MODULE 1: BASE LIFECYCLE &amp; FISCAL GATE</a:t>
            </a:r>
          </a:p>
          <a:p>
            <a:pPr algn="l">
              <a:spcAft>
                <a:spcPts val="0"/>
              </a:spcAft>
              <a:defRPr sz="950" b="0" i="1">
                <a:solidFill>
                  <a:srgbClr val="FFD166"/>
                </a:solidFill>
                <a:latin typeface="Arial"/>
              </a:defRPr>
            </a:pPr>
            <a:r>
              <a:t>Rule Zero Artifact — The 20 Wealth Groups of Aotearoa  •  Phase: Rule Zero (Pre-Game)  •  Cost/Req: Roll a 20-sided die (1 to 20, representing the 20 wealth vigintiles of New Zealand) before Turn 1.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870" b="1" i="0">
                <a:solidFill>
                  <a:srgbClr val="48CAE4"/>
                </a:solidFill>
                <a:latin typeface="Arial"/>
              </a:defRPr>
            </a:pPr>
            <a:r>
              <a:t>▸ Who Goes First (The Rawlsian Maximin Rule):</a:t>
            </a:r>
          </a:p>
          <a:p>
            <a:pPr>
              <a:spcAft>
                <a:spcPts val="300"/>
              </a:spcAft>
              <a:defRPr sz="840" b="0" i="0">
                <a:solidFill>
                  <a:srgbClr val="ECF8F8"/>
                </a:solidFill>
                <a:latin typeface="Arial"/>
              </a:defRPr>
            </a:pPr>
            <a:r>
              <a:t>   Lowest roll (1-4, the 22% Early Hardship Corner) goes first, or youngest player in a tie. Optional Wellington House Rule: 'Most ignorant of Rawls goes first'—hand the die to whoever is trapped behind the Tinted Limo Window of Ignorance and still thinks landlord tax breaks are a growth strategy.</a:t>
            </a:r>
          </a:p>
          <a:p>
            <a:pPr>
              <a:spcAft>
                <a:spcPts val="50"/>
              </a:spcAft>
              <a:defRPr sz="870" b="1" i="0">
                <a:solidFill>
                  <a:srgbClr val="48CAE4"/>
                </a:solidFill>
                <a:latin typeface="Arial"/>
              </a:defRPr>
            </a:pPr>
            <a:r>
              <a:t>▸ Status Quo Roll (SS0 — Displacement Mode):</a:t>
            </a:r>
          </a:p>
          <a:p>
            <a:pPr>
              <a:spcAft>
                <a:spcPts val="300"/>
              </a:spcAft>
              <a:defRPr sz="840" b="0" i="0">
                <a:solidFill>
                  <a:srgbClr val="ECF8F8"/>
                </a:solidFill>
                <a:latin typeface="Arial"/>
              </a:defRPr>
            </a:pPr>
            <a:r>
              <a:t>   Roll 1-4: Caught in the 22% early hardship corner. Roll 5-18: Crushed by 3.10x metro rents, brain drain, and PAYE climbing toward 28.22%. Roll 19-20: Surrounded by 200% Crown debt and departing grandchildren. Result: No matter what you roll, the board loses.</a:t>
            </a:r>
          </a:p>
          <a:p>
            <a:pPr>
              <a:spcAft>
                <a:spcPts val="50"/>
              </a:spcAft>
              <a:defRPr sz="870" b="1" i="0">
                <a:solidFill>
                  <a:srgbClr val="48CAE4"/>
                </a:solidFill>
                <a:latin typeface="Arial"/>
              </a:defRPr>
            </a:pPr>
            <a:r>
              <a:t>▸ IGWelfare Roll (SS1 -&gt; SS2 — Up on Foils):</a:t>
            </a:r>
          </a:p>
          <a:p>
            <a:pPr>
              <a:spcAft>
                <a:spcPts val="300"/>
              </a:spcAft>
              <a:defRPr sz="840" b="0" i="0">
                <a:solidFill>
                  <a:srgbClr val="ECF8F8"/>
                </a:solidFill>
                <a:latin typeface="Arial"/>
              </a:defRPr>
            </a:pPr>
            <a:r>
              <a:t>   Roll 1-20: Every single median wealth group across all 20 faces is better off (+20.49% national welfare gain, NZ Super at 65, PAYE cut to 18.5%). Roll any number; you win.</a:t>
            </a:r>
          </a:p>
          <a:p>
            <a:pPr>
              <a:spcAft>
                <a:spcPts val="50"/>
              </a:spcAft>
              <a:defRPr sz="870" b="1" i="0">
                <a:solidFill>
                  <a:srgbClr val="48CAE4"/>
                </a:solidFill>
                <a:latin typeface="Arial"/>
              </a:defRPr>
            </a:pPr>
            <a:r>
              <a:t>▸ Confirming the Fumble (Nat 1 Sub-Roll: 01:01 to 01:20):</a:t>
            </a:r>
          </a:p>
          <a:p>
            <a:pPr>
              <a:spcAft>
                <a:spcPts val="300"/>
              </a:spcAft>
              <a:defRPr sz="840" b="0" i="0">
                <a:solidFill>
                  <a:srgbClr val="ECF8F8"/>
                </a:solidFill>
                <a:latin typeface="Arial"/>
              </a:defRPr>
            </a:pPr>
            <a:r>
              <a:t>   In SS0, all 20 sub-slices of the Bottom 5% face 52%-92% stunting risk and cost NZD 44k-180k/yr in reactive care/prisons. In SS2, all 20 faces are rescued (+23.5% to +38.4% CE gain, state care cut 94%, and NZD 62k+ Youth Capital Grant at age 20).</a:t>
            </a:r>
          </a:p>
          <a:p>
            <a:pPr>
              <a:spcAft>
                <a:spcPts val="50"/>
              </a:spcAft>
              <a:defRPr sz="870" b="1" i="0">
                <a:solidFill>
                  <a:srgbClr val="48CAE4"/>
                </a:solidFill>
                <a:latin typeface="Arial"/>
              </a:defRPr>
            </a:pPr>
            <a:r>
              <a:t>▸ Confirming the Crit (Nat 20 Sub-Roll: 20:01 to 20:20):</a:t>
            </a:r>
          </a:p>
          <a:p>
            <a:pPr>
              <a:spcAft>
                <a:spcPts val="300"/>
              </a:spcAft>
              <a:defRPr sz="840" b="0" i="0">
                <a:solidFill>
                  <a:srgbClr val="ECF8F8"/>
                </a:solidFill>
                <a:latin typeface="Arial"/>
              </a:defRPr>
            </a:pPr>
            <a:r>
              <a:t>   Inside the Top 5% (NZD 500k income + 3M NW up to 10M + 250M), faces 20:01-20:13 win on a blended average, and 19 out of 20 faces (20:01-20:19, up to NZD 100M NW) win outright for Active Entrepreneurs (z_h). Even 20:20 retains 89.4%-94.5% of net worth.</a:t>
            </a:r>
          </a:p>
          <a:p>
            <a:pPr>
              <a:spcAft>
                <a:spcPts val="350"/>
              </a:spcAft>
              <a:defRPr sz="880" b="0" i="1">
                <a:solidFill>
                  <a:srgbClr val="FFD166"/>
                </a:solidFill>
                <a:latin typeface="Arial"/>
              </a:defRPr>
            </a:pPr>
            <a:r>
              <a:t>💬 "Orthodox economics asks you to play Russian roulette with a twenty-sided die and calls it 'market efficiency.' True systems design rewrites the physics of the board so every roll of a child's life comes up a winner."</a:t>
            </a:r>
          </a:p>
          <a:p>
            <a:pPr>
              <a:spcAft>
                <a:spcPts val="0"/>
              </a:spcAft>
              <a:defRPr sz="900" b="1" i="0">
                <a:solidFill>
                  <a:srgbClr val="72EFDD"/>
                </a:solidFill>
                <a:latin typeface="Arial"/>
              </a:defRPr>
            </a:pPr>
            <a:r>
              <a:t>🔗 River Synergy Links: B:01, B:05, B:06, B:09</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Rawls–Harsanyi Ex-Ante Veil of Ignorance Social Welfare Functional</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20 Vigintiles (π_k = 5.0% each) | 8 PTypes × 4 Regions | CRRA σ = 2.2 | Ex-Ante Aggregate Welfare Gain (SS2 vs. SS0) = +20.49% CE</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Not all lives are easy, but none should be impossible. Before knowing whether you roll a Nat 1 (Bottom 5% hardship corner) or a Nat 20 (Top 5% dynasty), every rational citizen maximizes expected lifetime utility across all 20 birth vigintiles.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Rawls, J. (1971). A Theory of Justice. Harvard University Press (The Original Position &amp; Veil of Ignorance).</a:t>
            </a:r>
          </a:p>
          <a:p>
            <a:pPr>
              <a:spcAft>
                <a:spcPts val="200"/>
              </a:spcAft>
              <a:defRPr sz="840" b="0" i="0">
                <a:solidFill>
                  <a:srgbClr val="ECF8F8"/>
                </a:solidFill>
                <a:latin typeface="Arial"/>
              </a:defRPr>
            </a:pPr>
            <a:r>
              <a:t>• Harsanyi, J. C. (1955). Cardinal welfare, individualistic ethics, and interpersonal comparisons of utility. Journal of Political Economy, 63(4), 309–321.</a:t>
            </a:r>
          </a:p>
          <a:p>
            <a:pPr>
              <a:spcAft>
                <a:spcPts val="200"/>
              </a:spcAft>
              <a:defRPr sz="840" b="0" i="1">
                <a:solidFill>
                  <a:srgbClr val="90E0EF"/>
                </a:solidFill>
                <a:latin typeface="Arial"/>
              </a:defRPr>
            </a:pPr>
            <a:r>
              <a:t>🏛️ Empirical Anchor: Rawls (1971); Document 1A Part IV Section 3 &amp; 6B (10-Tier Earn + Own Audit); Stats NZ HES (2024); IRD High-Wealth Project (2023).</a:t>
            </a:r>
          </a:p>
          <a:p>
            <a:pPr>
              <a:spcAft>
                <a:spcPts val="0"/>
              </a:spcAft>
              <a:defRPr sz="850" b="1" i="0">
                <a:solidFill>
                  <a:srgbClr val="48CAE4"/>
                </a:solidFill>
                <a:latin typeface="Arial"/>
              </a:defRPr>
            </a:pPr>
            <a:r>
              <a:t>💻 Monograph &amp; Code Hook: Doc 1B §1.1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B:00: Rawls–Harsanyi Ex-Ante Veil of Ignorance Social Welfare Functional   (Slide 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[B:01]  Tamariki of the First 2000 Days   —   MODULE 1: BASE LIFECYCLE &amp; FISCAL GATE</a:t>
            </a:r>
          </a:p>
          <a:p>
            <a:pPr algn="l">
              <a:spcAft>
                <a:spcPts val="0"/>
              </a:spcAft>
              <a:defRPr sz="950" b="0" i="1">
                <a:solidFill>
                  <a:srgbClr val="FFD166"/>
                </a:solidFill>
                <a:latin typeface="Arial"/>
              </a:defRPr>
            </a:pPr>
            <a:r>
              <a:t>Cohort Identity — Gate 1 (Ages 0–5)  •  Phase: Gate 1 (Ages 0-5)  •  Cost/Req: NZD 13.0k Public Resource / Turn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Hardship Corner:</a:t>
            </a:r>
          </a:p>
          <a:p>
            <a:pPr>
              <a:spcAft>
                <a:spcPts val="300"/>
              </a:spcAft>
              <a:defRPr sz="940" b="0" i="0">
                <a:solidFill>
                  <a:srgbClr val="ECF8F8"/>
                </a:solidFill>
                <a:latin typeface="Arial"/>
              </a:defRPr>
            </a:pPr>
            <a:r>
              <a:t>   If this card enters play without Whānau Wraparound, roll a d20. On a 1–4 (22% chance), attach a Stunted Trajectory token (causes 57%–81% of all late-game Hospital, Justice, and Care damage to your Treasury).</a:t>
            </a:r>
          </a:p>
          <a:p>
            <a:pPr>
              <a:spcAft>
                <a:spcPts val="50"/>
              </a:spcAft>
              <a:defRPr sz="970" b="1" i="0">
                <a:solidFill>
                  <a:srgbClr val="48CAE4"/>
                </a:solidFill>
                <a:latin typeface="Arial"/>
              </a:defRPr>
            </a:pPr>
            <a:r>
              <a:t>▸ Becoming (Dynamic Complementarity):</a:t>
            </a:r>
          </a:p>
          <a:p>
            <a:pPr>
              <a:spcAft>
                <a:spcPts val="300"/>
              </a:spcAft>
              <a:defRPr sz="940" b="0" i="0">
                <a:solidFill>
                  <a:srgbClr val="ECF8F8"/>
                </a:solidFill>
                <a:latin typeface="Arial"/>
              </a:defRPr>
            </a:pPr>
            <a:r>
              <a:t>   If supported by Te Korowai Mokopuna / Whānau Ora, remove all Stunted tokens. This card gains +2 Productivity for every subsequent Schooling card played on it, and Crowds In +NZD 15.3k of Private Parental Care (NZD 8.7k cash + NZD 6.5k time) for free.</a:t>
            </a:r>
          </a:p>
          <a:p>
            <a:pPr>
              <a:spcAft>
                <a:spcPts val="350"/>
              </a:spcAft>
              <a:defRPr sz="880" b="0" i="1">
                <a:solidFill>
                  <a:srgbClr val="FFD166"/>
                </a:solidFill>
                <a:latin typeface="Arial"/>
              </a:defRPr>
            </a:pPr>
            <a:r>
              <a:t>💬 "Identify the corner at age three, or pay NZD 180,000 a year in state care at age fourteen. The math isn't hard; only the politics was."</a:t>
            </a:r>
          </a:p>
          <a:p>
            <a:pPr>
              <a:spcAft>
                <a:spcPts val="0"/>
              </a:spcAft>
              <a:defRPr sz="900" b="1" i="0">
                <a:solidFill>
                  <a:srgbClr val="72EFDD"/>
                </a:solidFill>
                <a:latin typeface="Arial"/>
              </a:defRPr>
            </a:pPr>
            <a:r>
              <a:t>🔗 River Synergy Links: B:02, B:07, K:01, N:02</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Stone–Geary Subsistence Corner &amp; In-Kind CES Skill Bypass</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ϕ₁ = −0.50 (complementary) | G_ECE = NZD 13.0k/yr | Crowded-in Δi_c + ω₁Δτ_c = +NZD 15.3k/yr | Stunting: 22.0% → 1.5%</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When metro rent (p_h^r h̄) and energy shocks p_e(z₂) push cash investment to the zero corner (i_c = 0), in-kind wraparound G_ECE bypasses the liquidity trap directly and raises the marginal product of parental time τ_c.</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ECF8F8"/>
                </a:solidFill>
                <a:latin typeface="Arial"/>
              </a:defRPr>
            </a:pPr>
            <a:r>
              <a:t>• Lee, S. Y., &amp; Seshadri, A. (2019). On the intergenerational transmission of economic status. Journal of Political Economy, 127(2), 855–921.</a:t>
            </a:r>
          </a:p>
          <a:p>
            <a:pPr>
              <a:spcAft>
                <a:spcPts val="200"/>
              </a:spcAft>
              <a:defRPr sz="840" b="0" i="0">
                <a:solidFill>
                  <a:srgbClr val="ECF8F8"/>
                </a:solidFill>
                <a:latin typeface="Arial"/>
              </a:defRPr>
            </a:pPr>
            <a:r>
              <a:t>• Poulton, R., et al. (2020). Dunedin Multidisciplinary Health &amp; Development Study: 22% early vulnerability cohort driving 57%–81% of adult fiscal burden.</a:t>
            </a:r>
          </a:p>
          <a:p>
            <a:pPr>
              <a:spcAft>
                <a:spcPts val="200"/>
              </a:spcAft>
              <a:defRPr sz="840" b="0" i="1">
                <a:solidFill>
                  <a:srgbClr val="90E0EF"/>
                </a:solidFill>
                <a:latin typeface="Arial"/>
              </a:defRPr>
            </a:pPr>
            <a:r>
              <a:t>🏛️ Empirical Anchor: Dunedin Multidisciplinary Health &amp; Development Study (22% cohort share); Barnardos Te Korowai Mokopuna (2026); Document 1A Part III.</a:t>
            </a:r>
          </a:p>
          <a:p>
            <a:pPr>
              <a:spcAft>
                <a:spcPts val="0"/>
              </a:spcAft>
              <a:defRPr sz="850" b="1" i="0">
                <a:solidFill>
                  <a:srgbClr val="48CAE4"/>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B:01: Stone–Geary Subsistence Corner &amp; In-Kind CES Skill Bypass   (Slide 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[B:02]  Tuakana–Teina Navigator   —   MODULE 1: BASE LIFECYCLE &amp; FISCAL GATE</a:t>
            </a:r>
          </a:p>
          <a:p>
            <a:pPr algn="l">
              <a:spcAft>
                <a:spcPts val="0"/>
              </a:spcAft>
              <a:defRPr sz="950" b="0" i="1">
                <a:solidFill>
                  <a:srgbClr val="FFD166"/>
                </a:solidFill>
                <a:latin typeface="Arial"/>
              </a:defRPr>
            </a:pPr>
            <a:r>
              <a:t>Cohort Becoming — Gate 2 Mentor (Ages 12–14)  •  Phase: Gate 2 (Ages 12-14)  •  Cost/Req: 2 Social Cohesion + 1 Creative Agency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Two-Way Ako (Reciprocal Buff):</a:t>
            </a:r>
          </a:p>
          <a:p>
            <a:pPr>
              <a:spcAft>
                <a:spcPts val="300"/>
              </a:spcAft>
              <a:defRPr sz="940" b="0" i="0">
                <a:solidFill>
                  <a:srgbClr val="ECF8F8"/>
                </a:solidFill>
                <a:latin typeface="Arial"/>
              </a:defRPr>
            </a:pPr>
            <a:r>
              <a:t>   Pair this card with any younger Teina card. Both cards gain Indestructible against Family Unemployment &amp; Housing Shocks.</a:t>
            </a:r>
          </a:p>
          <a:p>
            <a:pPr>
              <a:spcAft>
                <a:spcPts val="50"/>
              </a:spcAft>
              <a:defRPr sz="970" b="1" i="0">
                <a:solidFill>
                  <a:srgbClr val="48CAE4"/>
                </a:solidFill>
                <a:latin typeface="Arial"/>
              </a:defRPr>
            </a:pPr>
            <a:r>
              <a:t>▸ Becoming:</a:t>
            </a:r>
          </a:p>
          <a:p>
            <a:pPr>
              <a:spcAft>
                <a:spcPts val="300"/>
              </a:spcAft>
              <a:defRPr sz="940" b="0" i="0">
                <a:solidFill>
                  <a:srgbClr val="ECF8F8"/>
                </a:solidFill>
                <a:latin typeface="Arial"/>
              </a:defRPr>
            </a:pPr>
            <a:r>
              <a:t>   When this card mentors a peer (via Stars / Project K, Kura Kaupapa, or Montessori Erdkinder), it levels up into a Thriving Launch Adult (+65% cohort rate) and grants the player +1 Executive Function &amp; Mana.</a:t>
            </a:r>
          </a:p>
          <a:p>
            <a:pPr>
              <a:spcAft>
                <a:spcPts val="350"/>
              </a:spcAft>
              <a:defRPr sz="880" b="0" i="1">
                <a:solidFill>
                  <a:srgbClr val="FFD166"/>
                </a:solidFill>
                <a:latin typeface="Arial"/>
              </a:defRPr>
            </a:pPr>
            <a:r>
              <a:t>💬 "In teaching the younger sibling to stand against the storm, the older sibling becomes a mountain."</a:t>
            </a:r>
          </a:p>
          <a:p>
            <a:pPr>
              <a:spcAft>
                <a:spcPts val="0"/>
              </a:spcAft>
              <a:defRPr sz="900" b="1" i="0">
                <a:solidFill>
                  <a:srgbClr val="72EFDD"/>
                </a:solidFill>
                <a:latin typeface="Arial"/>
              </a:defRPr>
            </a:pPr>
            <a:r>
              <a:t>🔗 River Synergy Links: B:01, B:03, C:03, K:05, N:04, T:05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Cross-Period Dynamic Complementarity &amp; Tuakana–Teina Shock Buffer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ϕ₂ = −0.25 | Mentoring Reach: 17.3% (SS0) → 65.0%+ (SS2) | Neutralizes parental unemployment shock δ_shock and T:05 outrage drag</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Because Gate 1 readiness (h₂) and Gate 2 adolescent mentoring (I_mentor,2) are strong complements (∂²h₃/∂h₂∂I₂ &gt; 0), pairing B:01 with B:02 locks in a 65.0% thriving adult launch rate and blocks family job-loss scarring.</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Heckman, J. J., &amp; Mosso, S. (2014). The economics of human development and social mobility. Annual Review of Economics, 6(1), 689–733.</a:t>
            </a:r>
          </a:p>
          <a:p>
            <a:pPr>
              <a:spcAft>
                <a:spcPts val="200"/>
              </a:spcAft>
              <a:defRPr sz="840" b="0" i="0">
                <a:solidFill>
                  <a:srgbClr val="ECF8F8"/>
                </a:solidFill>
                <a:latin typeface="Arial"/>
              </a:defRPr>
            </a:pPr>
            <a:r>
              <a:t>• Graeme Dingle Foundation (2025). Stars &amp; Project K Peer-Mentoring Longitudinal Impact Evaluations in Aotearoa Secondary Schools.</a:t>
            </a:r>
          </a:p>
          <a:p>
            <a:pPr>
              <a:spcAft>
                <a:spcPts val="200"/>
              </a:spcAft>
              <a:defRPr sz="840" b="0" i="1">
                <a:solidFill>
                  <a:srgbClr val="90E0EF"/>
                </a:solidFill>
                <a:latin typeface="Arial"/>
              </a:defRPr>
            </a:pPr>
            <a:r>
              <a:t>🏛️ Empirical Anchor: Graeme Dingle Foundation Stars / Te Kāhui Whetū &amp; Project K (2025); Berryman &amp; Eley (2019); Lillard (2005); GUiNZ Now We Are 12.</a:t>
            </a:r>
          </a:p>
          <a:p>
            <a:pPr>
              <a:spcAft>
                <a:spcPts val="0"/>
              </a:spcAft>
              <a:defRPr sz="850" b="1" i="0">
                <a:solidFill>
                  <a:srgbClr val="48CAE4"/>
                </a:solidFill>
                <a:latin typeface="Arial"/>
              </a:defRPr>
            </a:pPr>
            <a:r>
              <a:t>💻 Monograph &amp; Code Hook: Doc 1B §2.4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B:02: Cross-Period Dynamic Complementarity &amp; Tuakana–Teina Shock Buffer   (Slide 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[B:03]  Age-20 Renaissance Founder (Kaikōrero &amp; Creator)   —   MODULE 1: BASE LIFECYCLE &amp; FISCAL GATE</a:t>
            </a:r>
          </a:p>
          <a:p>
            <a:pPr algn="l">
              <a:spcAft>
                <a:spcPts val="0"/>
              </a:spcAft>
              <a:defRPr sz="950" b="0" i="1">
                <a:solidFill>
                  <a:srgbClr val="FFD166"/>
                </a:solidFill>
                <a:latin typeface="Arial"/>
              </a:defRPr>
            </a:pPr>
            <a:r>
              <a:t>Evolved Identity — Gate 3 (Ages 20–35)  •  Phase: Gate 3 (Ages 20-35)  •  Cost/Req: Evolved from B:02 (Tuakana–Teina Navigator) + Youth Capital Grant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Brain-Drain Immunity:</a:t>
            </a:r>
          </a:p>
          <a:p>
            <a:pPr>
              <a:spcAft>
                <a:spcPts val="300"/>
              </a:spcAft>
              <a:defRPr sz="940" b="0" i="0">
                <a:solidFill>
                  <a:srgbClr val="ECF8F8"/>
                </a:solidFill>
                <a:latin typeface="Arial"/>
              </a:defRPr>
            </a:pPr>
            <a:r>
              <a:t>   This card cannot be exiled to the Abroad (Australia/OECD) Zone (cuts city emigration from 19.3%-23.4% down to 7.6% Nat.).</a:t>
            </a:r>
          </a:p>
          <a:p>
            <a:pPr>
              <a:spcAft>
                <a:spcPts val="50"/>
              </a:spcAft>
              <a:defRPr sz="970" b="1" i="0">
                <a:solidFill>
                  <a:srgbClr val="48CAE4"/>
                </a:solidFill>
                <a:latin typeface="Arial"/>
              </a:defRPr>
            </a:pPr>
            <a:r>
              <a:t>▸ Engine:</a:t>
            </a:r>
          </a:p>
          <a:p>
            <a:pPr>
              <a:spcAft>
                <a:spcPts val="300"/>
              </a:spcAft>
              <a:defRPr sz="940" b="0" i="0">
                <a:solidFill>
                  <a:srgbClr val="ECF8F8"/>
                </a:solidFill>
                <a:latin typeface="Arial"/>
              </a:defRPr>
            </a:pPr>
            <a:r>
              <a:t>   While metropolitan rents are cooled (-7.5% to -10.5% via B:05), this card generates +9.6% Real Regional Wages, +1 Domestic Cultural IP, and +26 Social Cohesion Index.</a:t>
            </a:r>
          </a:p>
          <a:p>
            <a:pPr>
              <a:spcAft>
                <a:spcPts val="350"/>
              </a:spcAft>
              <a:defRPr sz="880" b="0" i="1">
                <a:solidFill>
                  <a:srgbClr val="FFD166"/>
                </a:solidFill>
                <a:latin typeface="Arial"/>
              </a:defRPr>
            </a:pPr>
            <a:r>
              <a:t>💬 "Give a twenty-year-old a NZD 500-a-week survival flat and you get a barista in Melbourne. Give them a capital runway and you get the next Aotearoa renaissance."</a:t>
            </a:r>
          </a:p>
          <a:p>
            <a:pPr>
              <a:spcAft>
                <a:spcPts val="0"/>
              </a:spcAft>
              <a:defRPr sz="900" b="1" i="0">
                <a:solidFill>
                  <a:srgbClr val="72EFDD"/>
                </a:solidFill>
                <a:latin typeface="Arial"/>
              </a:defRPr>
            </a:pPr>
            <a:r>
              <a:t>🔗 River Synergy Links: B:02, B:05, K:02, K:05, N:05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Universal Youth Capital Grant &amp; Trans-Tasman Retention Condition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B_youth = NZD 62,000+ (recycled from 25%→18% estate levy) | Youth Homeownership: 28.0% → 41.5% | Graduate Brain Drain: 21.8% → 7.6% (+3,550/yr kept)</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Seeding every 20-year-old with NZD 62k+ in ring-fenced equity overcomes the deposit/collateral barrier (κ_down P_h) for enterprise and housing, flipping the trans-Tasman migration inequality in Aotearoa's favor.</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Ackerman, B., &amp; Alstott, A. (1999). The Stakeholder Society. Yale University Press (Universal Young Adult Capital Endowment).</a:t>
            </a:r>
          </a:p>
          <a:p>
            <a:pPr>
              <a:spcAft>
                <a:spcPts val="200"/>
              </a:spcAft>
              <a:defRPr sz="840" b="0" i="0">
                <a:solidFill>
                  <a:srgbClr val="ECF8F8"/>
                </a:solidFill>
                <a:latin typeface="Arial"/>
              </a:defRPr>
            </a:pPr>
            <a:r>
              <a:t>• Kiyotaki, N., &amp; Moore, J. (1997). Credit cycles. Journal of Political Economy, 105(2), 211–248.</a:t>
            </a:r>
          </a:p>
          <a:p>
            <a:pPr>
              <a:spcAft>
                <a:spcPts val="200"/>
              </a:spcAft>
              <a:defRPr sz="840" b="0" i="1">
                <a:solidFill>
                  <a:srgbClr val="90E0EF"/>
                </a:solidFill>
                <a:latin typeface="Arial"/>
              </a:defRPr>
            </a:pPr>
            <a:r>
              <a:t>🏛️ Empirical Anchor: Document 1A Part II Lens 2 &amp; Part IV Section 4 (3,550/yr retained graduates; NZD 62k seed deposit).</a:t>
            </a:r>
          </a:p>
          <a:p>
            <a:pPr>
              <a:spcAft>
                <a:spcPts val="0"/>
              </a:spcAft>
              <a:defRPr sz="850" b="1" i="0">
                <a:solidFill>
                  <a:srgbClr val="48CAE4"/>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B:03: Universal Youth Capital Grant &amp; Trans-Tasman Retention Condition   (Slide 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[B:04]  The L-Shaped Hydrofoil (Coupled 4-Region Engine)   —   MODULE 1: BASE LIFECYCLE &amp; FISCAL GATE</a:t>
            </a:r>
          </a:p>
          <a:p>
            <a:pPr algn="l">
              <a:spcAft>
                <a:spcPts val="0"/>
              </a:spcAft>
              <a:defRPr sz="950" b="0" i="1">
                <a:solidFill>
                  <a:srgbClr val="FFD166"/>
                </a:solidFill>
                <a:latin typeface="Arial"/>
              </a:defRPr>
            </a:pPr>
            <a:r>
              <a:t>Legendary Artifact — System Architecture  •  Phase: SS0 -&gt; SS1 -&gt; SS2  •  Cost/Req: 5 Coupled Levers (B:01 + B:02 + B:05 + B:06 +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Rulebook Exploit:</a:t>
            </a:r>
          </a:p>
          <a:p>
            <a:pPr>
              <a:spcAft>
                <a:spcPts val="300"/>
              </a:spcAft>
              <a:defRPr sz="940" b="0" i="0">
                <a:solidFill>
                  <a:srgbClr val="ECF8F8"/>
                </a:solidFill>
                <a:latin typeface="Arial"/>
              </a:defRPr>
            </a:pPr>
            <a:r>
              <a:t>   Conventional Thinkers must keep their keel straight and slog through Displacement Mode. If you control a Front Lifting Foil (Dual-Gate Human Capability, B:01 + B:02), a Wing-Sail Power Plant (Property-to-Enterprise Shift, B:05), and a Rear T-Foil Stabilizer (2050 50/50 Protocol, B:06), lift your economy out of the water.</a:t>
            </a:r>
          </a:p>
          <a:p>
            <a:pPr>
              <a:spcAft>
                <a:spcPts val="50"/>
              </a:spcAft>
              <a:defRPr sz="970" b="1" i="0">
                <a:solidFill>
                  <a:srgbClr val="48CAE4"/>
                </a:solidFill>
                <a:latin typeface="Arial"/>
              </a:defRPr>
            </a:pPr>
            <a:r>
              <a:t>▸ Effect:</a:t>
            </a:r>
          </a:p>
          <a:p>
            <a:pPr>
              <a:spcAft>
                <a:spcPts val="300"/>
              </a:spcAft>
              <a:defRPr sz="940" b="0" i="0">
                <a:solidFill>
                  <a:srgbClr val="ECF8F8"/>
                </a:solidFill>
                <a:latin typeface="Arial"/>
              </a:defRPr>
            </a:pPr>
            <a:r>
              <a:t>   Slash Fiscal Remediation Drag (Exits 1, 2, 4) by 75% (reducing annual drain from NZD 17.7B–28.5B down to NZD 4.2B). Your Cohort cards now generate +NZD 16.1k/yr Net Surplus instead of a deficit.</a:t>
            </a:r>
          </a:p>
          <a:p>
            <a:pPr>
              <a:spcAft>
                <a:spcPts val="350"/>
              </a:spcAft>
              <a:defRPr sz="880" b="0" i="1">
                <a:solidFill>
                  <a:srgbClr val="FFD166"/>
                </a:solidFill>
                <a:latin typeface="Arial"/>
              </a:defRPr>
            </a:pPr>
            <a:r>
              <a:t>💬 "The rules capped how wide the board could be, but said nothing about whether the board had to be straight. Curve the foil, couple the rudder, and fly."</a:t>
            </a:r>
          </a:p>
          <a:p>
            <a:pPr>
              <a:spcAft>
                <a:spcPts val="0"/>
              </a:spcAft>
              <a:defRPr sz="900" b="1" i="0">
                <a:solidFill>
                  <a:srgbClr val="72EFDD"/>
                </a:solidFill>
                <a:latin typeface="Arial"/>
              </a:defRPr>
            </a:pPr>
            <a:r>
              <a:t>🔗 River Synergy Links: B:01, B:02, B:05, B:06, B:07</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Hydrofoil Lift-to-Drag Fiscal Ratio &amp; Remediation Collapse</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SS0 Remediation Drag = NZD 17.7B–28.5B/yr (Exits 1–4) | SS2 Drag = NZD 4.2B/yr | Net Adult Fiscal Surplus = +NZD 16.1k/yr per thriving cohort</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Shifting the stationary distribution μ*(s) out of the stunted corner (i_c = 0) collapses downstream hospital, state-care, and justice expenditure by 75%, lifting the sovereign hull onto its foils.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Heckman, J. J., Moon, S. H., Pinto, R., Savelyev, P. A., &amp; Yavitz, A. (2010). The rate of return to the HighScope Perry Preschool Program. Journal of Public Economics, 94(1–2), 114–128.</a:t>
            </a:r>
          </a:p>
          <a:p>
            <a:pPr>
              <a:spcAft>
                <a:spcPts val="200"/>
              </a:spcAft>
              <a:defRPr sz="840" b="0" i="0">
                <a:solidFill>
                  <a:srgbClr val="ECF8F8"/>
                </a:solidFill>
                <a:latin typeface="Arial"/>
              </a:defRPr>
            </a:pPr>
            <a:r>
              <a:t>• Infometrics &amp; Barnardos Aotearoa (2026). Fiscal Incidence of Early Childhood Adversity Across Health, Justice, and Social Protection.</a:t>
            </a:r>
          </a:p>
          <a:p>
            <a:pPr>
              <a:spcAft>
                <a:spcPts val="200"/>
              </a:spcAft>
              <a:defRPr sz="840" b="0" i="1">
                <a:solidFill>
                  <a:srgbClr val="90E0EF"/>
                </a:solidFill>
                <a:latin typeface="Arial"/>
              </a:defRPr>
            </a:pPr>
            <a:r>
              <a:t>🏛️ Empirical Anchor: Emirates Team New Zealand 2013 America's Cup hydrofoil analogy (Document 1C Section 4); Document 1A Part III Fiscal Sankey.</a:t>
            </a:r>
          </a:p>
          <a:p>
            <a:pPr>
              <a:spcAft>
                <a:spcPts val="0"/>
              </a:spcAft>
              <a:defRPr sz="850" b="1" i="0">
                <a:solidFill>
                  <a:srgbClr val="48CAE4"/>
                </a:solidFill>
                <a:latin typeface="Arial"/>
              </a:defRPr>
            </a:pPr>
            <a:r>
              <a:t>💻 Monograph &amp; Code Hook: Doc 1B §3.1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B:04: Hydrofoil Lift-to-Drag Fiscal Ratio &amp; Remediation Collapse   (Slide 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[B:05]  Use-It-Or-Lose-It Rebalancer (The Guvenen Split)   —   MODULE 1: BASE LIFECYCLE &amp; FISCAL GATE</a:t>
            </a:r>
          </a:p>
          <a:p>
            <a:pPr algn="l">
              <a:spcAft>
                <a:spcPts val="0"/>
              </a:spcAft>
              <a:defRPr sz="950" b="0" i="1">
                <a:solidFill>
                  <a:srgbClr val="FFD166"/>
                </a:solidFill>
                <a:latin typeface="Arial"/>
              </a:defRPr>
            </a:pPr>
            <a:r>
              <a:t>Continuous Enchantment — Lens 3 Power Plant  •  Phase: SS1 -&gt; SS2  •  Cost/Req: 1.5% Land/Wealth Levy + 25% Peak Estate Levy (stepping down to 18% in SS2)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Rotate Dormant Dirt:</a:t>
            </a:r>
          </a:p>
          <a:p>
            <a:pPr>
              <a:spcAft>
                <a:spcPts val="300"/>
              </a:spcAft>
              <a:defRPr sz="940" b="0" i="0">
                <a:solidFill>
                  <a:srgbClr val="ECF8F8"/>
                </a:solidFill>
                <a:latin typeface="Arial"/>
              </a:defRPr>
            </a:pPr>
            <a:r>
              <a:t>   Target opponent's NZD 1.6 Trillion Dormant Property Hoard. Exhaust all Passive Land Speculators (z_l) and cool Auckland housing overvaluation by -7.5% (SS1) to -10.5% (SS2).</a:t>
            </a:r>
          </a:p>
          <a:p>
            <a:pPr>
              <a:spcAft>
                <a:spcPts val="50"/>
              </a:spcAft>
              <a:defRPr sz="970" b="1" i="0">
                <a:solidFill>
                  <a:srgbClr val="48CAE4"/>
                </a:solidFill>
                <a:latin typeface="Arial"/>
              </a:defRPr>
            </a:pPr>
            <a:r>
              <a:t>▸ Unchain Productive Capital:</a:t>
            </a:r>
          </a:p>
          <a:p>
            <a:pPr>
              <a:spcAft>
                <a:spcPts val="300"/>
              </a:spcAft>
              <a:defRPr sz="940" b="0" i="0">
                <a:solidFill>
                  <a:srgbClr val="ECF8F8"/>
                </a:solidFill>
                <a:latin typeface="Arial"/>
              </a:defRPr>
            </a:pPr>
            <a:r>
              <a:t>   Convert that dormant value into Productive Enterprise Capital (z_h). All Active Entrepreneurs (all the way up to NZD 100M net worth!) gain +0.2% to +5.8% Welfare, -60 bps cheaper credit, and a +38% larger thriving talent pool.</a:t>
            </a:r>
          </a:p>
          <a:p>
            <a:pPr>
              <a:spcAft>
                <a:spcPts val="350"/>
              </a:spcAft>
              <a:defRPr sz="880" b="0" i="1">
                <a:solidFill>
                  <a:srgbClr val="FFD166"/>
                </a:solidFill>
                <a:latin typeface="Arial"/>
              </a:defRPr>
            </a:pPr>
            <a:r>
              <a:t>💬 "Even the ultra-wealthy keep 89% to 98% of their fortune—a smaller haircut than a routine market crash, except this time their grandkids don't move to Sydney."</a:t>
            </a:r>
          </a:p>
          <a:p>
            <a:pPr>
              <a:spcAft>
                <a:spcPts val="0"/>
              </a:spcAft>
              <a:defRPr sz="900" b="1" i="0">
                <a:solidFill>
                  <a:srgbClr val="72EFDD"/>
                </a:solidFill>
                <a:latin typeface="Arial"/>
              </a:defRPr>
            </a:pPr>
            <a:r>
              <a:t>🔗 River Synergy Links: B:03, B:04, K:02, N:05, H:03, T:04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Guvenen 'Use-It-Or-Lose-It' Wealth Tax &amp; MSV Talent Cutoff Flip</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τ_a = 1.5% land/wealth | Estate = 25%→18% | Top-5% Builders (z_h) Net Welfare &gt; 0 in 19/20 vigintiles (20:01–20:19, up to NZD 100M NW)</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Taxing book-value assets (τ_a = 1.5%) while cutting corporate/PAYE taxes penalizes low-return land hoarding (z_l) and raises after-tax returns for high-productivity builders (z_h), cooling urban rents −10.5% and lifting wages +3.2% to +9.6%.</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0">
                <a:solidFill>
                  <a:srgbClr val="ECF8F8"/>
                </a:solidFill>
                <a:latin typeface="Arial"/>
              </a:defRPr>
            </a:pPr>
            <a:r>
              <a:t>• Murphy, K. M., Shleifer, A., &amp; Vishny, R. W. (1991). The allocation of talent: Implications for growth. Quarterly Journal of Economics, 106(2), 503–530.</a:t>
            </a:r>
          </a:p>
          <a:p>
            <a:pPr>
              <a:spcAft>
                <a:spcPts val="200"/>
              </a:spcAft>
              <a:defRPr sz="840" b="0" i="1">
                <a:solidFill>
                  <a:srgbClr val="90E0EF"/>
                </a:solidFill>
                <a:latin typeface="Arial"/>
              </a:defRPr>
            </a:pPr>
            <a:r>
              <a:t>🏛️ Empirical Anchor: Guvenen et al. (2023) Use-It-Or-Lose-It wealth taxation; Hirano &amp; Toda (2025); Document 1A Part IV Section 3.</a:t>
            </a:r>
          </a:p>
          <a:p>
            <a:pPr>
              <a:spcAft>
                <a:spcPts val="0"/>
              </a:spcAft>
              <a:defRPr sz="850" b="1" i="0">
                <a:solidFill>
                  <a:srgbClr val="48CAE4"/>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B:05: Guvenen 'Use-It-Or-Lose-It' Wealth Tax &amp; MSV Talent Cutoff Flip   (Slide 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[B:06]  The 2050 50/50 Stabilizer (SS2 Rocket Ship)   —   MODULE 1: BASE LIFECYCLE &amp; FISCAL GATE</a:t>
            </a:r>
          </a:p>
          <a:p>
            <a:pPr algn="l">
              <a:spcAft>
                <a:spcPts val="0"/>
              </a:spcAft>
              <a:defRPr sz="950" b="0" i="1">
                <a:solidFill>
                  <a:srgbClr val="FFD166"/>
                </a:solidFill>
                <a:latin typeface="Arial"/>
              </a:defRPr>
            </a:pPr>
            <a:r>
              <a:t>Legendary Engine — Phase 2 Harvest  •  Phase: SS2 (Post-Breakeven Harvest)  •  Cost/Req: Cross Year 18.8 Cash Breakeven (or Year 5 Actuarial Breakeven via B:07)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30" b="1" i="0">
                <a:solidFill>
                  <a:srgbClr val="48CAE4"/>
                </a:solidFill>
                <a:latin typeface="Arial"/>
              </a:defRPr>
            </a:pPr>
            <a:r>
              <a:t>▸ Left Half (Sovereign Debt Sinking Fund):</a:t>
            </a:r>
          </a:p>
          <a:p>
            <a:pPr>
              <a:spcAft>
                <a:spcPts val="300"/>
              </a:spcAft>
              <a:defRPr sz="900" b="0" i="0">
                <a:solidFill>
                  <a:srgbClr val="ECF8F8"/>
                </a:solidFill>
                <a:latin typeface="Arial"/>
              </a:defRPr>
            </a:pPr>
            <a:r>
              <a:t>   Partition all Net Fiscal Surpluses 50/50 at the end of every turn. Left 50% destroys NZD 17.8B–21.9B of Crown Debt per cohort wave and lowers all players' mortgage and business interest rates by 60 bps.</a:t>
            </a:r>
          </a:p>
          <a:p>
            <a:pPr>
              <a:spcAft>
                <a:spcPts val="50"/>
              </a:spcAft>
              <a:defRPr sz="930" b="1" i="0">
                <a:solidFill>
                  <a:srgbClr val="48CAE4"/>
                </a:solidFill>
                <a:latin typeface="Arial"/>
              </a:defRPr>
            </a:pPr>
            <a:r>
              <a:t>▸ Right Half (Public Infrastructure Pool):</a:t>
            </a:r>
          </a:p>
          <a:p>
            <a:pPr>
              <a:spcAft>
                <a:spcPts val="300"/>
              </a:spcAft>
              <a:defRPr sz="900" b="0" i="0">
                <a:solidFill>
                  <a:srgbClr val="ECF8F8"/>
                </a:solidFill>
                <a:latin typeface="Arial"/>
              </a:defRPr>
            </a:pPr>
            <a:r>
              <a:t>   Multiply the remaining 50% (NZD 11.5B–14.9B per wave) by 1.65x to build Resilient Grids, Coastal Adaptation, Schools/Marae Solar, and Core Health (C:04).</a:t>
            </a:r>
          </a:p>
          <a:p>
            <a:pPr>
              <a:spcAft>
                <a:spcPts val="50"/>
              </a:spcAft>
              <a:defRPr sz="930" b="1" i="0">
                <a:solidFill>
                  <a:srgbClr val="48CAE4"/>
                </a:solidFill>
                <a:latin typeface="Arial"/>
              </a:defRPr>
            </a:pPr>
            <a:r>
              <a:t>▸ Ultimate Bonus:</a:t>
            </a:r>
          </a:p>
          <a:p>
            <a:pPr>
              <a:spcAft>
                <a:spcPts val="300"/>
              </a:spcAft>
              <a:defRPr sz="900" b="0" i="0">
                <a:solidFill>
                  <a:srgbClr val="ECF8F8"/>
                </a:solidFill>
                <a:latin typeface="Arial"/>
              </a:defRPr>
            </a:pPr>
            <a:r>
              <a:t>   Keep Universal NZ Superannuation at Age 65 AND grant all Working-Age Players a -3.5 percentage-point PAYE Tax Cut (22.0% down to 18.5%, returning NZD 3,325/yr to median earners).</a:t>
            </a:r>
          </a:p>
          <a:p>
            <a:pPr>
              <a:spcAft>
                <a:spcPts val="350"/>
              </a:spcAft>
              <a:defRPr sz="880" b="0" i="1">
                <a:solidFill>
                  <a:srgbClr val="FFD166"/>
                </a:solidFill>
                <a:latin typeface="Arial"/>
              </a:defRPr>
            </a:pPr>
            <a:r>
              <a:t>💬 "Austerity hawks wanted to raise the pension age to 70 and still pay 25.55% in tax. We kept Super at 65 and cut taxes to 18.5%."</a:t>
            </a:r>
          </a:p>
          <a:p>
            <a:pPr>
              <a:spcAft>
                <a:spcPts val="0"/>
              </a:spcAft>
              <a:defRPr sz="900" b="1" i="0">
                <a:solidFill>
                  <a:srgbClr val="72EFDD"/>
                </a:solidFill>
                <a:latin typeface="Arial"/>
              </a:defRPr>
            </a:pPr>
            <a:r>
              <a:t>🔗 River Synergy Links: B:04, B:07, C:04, K:03, H:05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The 2050 50/50 Fiscal Allocation Rule &amp; Universal Super Solvency</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PAYE Income Tax: 22.0% → 18.5% (−3.5 pp vs. 28.22% SS0 drift) | Crown Debt &lt; 40% GDP | Borrowing Spread: −60 to −100 bps | Super Kept at Age 65</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Splitting the mature 2050 human-capital and solar harvest 50/50 between debt/infrastructure sinking and household tax relief permanently funds Universal NZ Super at 65 while cutting PAYE to 18.5%.</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Barro, R. J. (1979). On the determination of the public debt. Journal of Political Economy, 87(5, Part 1), 940–971 (Tax-Smoothing &amp; Debt Stabilization).</a:t>
            </a:r>
          </a:p>
          <a:p>
            <a:pPr>
              <a:spcAft>
                <a:spcPts val="200"/>
              </a:spcAft>
              <a:defRPr sz="840" b="0" i="0">
                <a:solidFill>
                  <a:srgbClr val="ECF8F8"/>
                </a:solidFill>
                <a:latin typeface="Arial"/>
              </a:defRPr>
            </a:pPr>
            <a:r>
              <a:t>• New Zealand Treasury (2025). He Tirohanga Mokopuna: Long-Term Fiscal Statement (Sovereign Debt Trajectory &amp; Superannuation Solvency).</a:t>
            </a:r>
          </a:p>
          <a:p>
            <a:pPr>
              <a:spcAft>
                <a:spcPts val="200"/>
              </a:spcAft>
              <a:defRPr sz="840" b="0" i="1">
                <a:solidFill>
                  <a:srgbClr val="90E0EF"/>
                </a:solidFill>
                <a:latin typeface="Arial"/>
              </a:defRPr>
            </a:pPr>
            <a:r>
              <a:t>🏛️ Empirical Anchor: Document 1A Part IV Section 5 &amp; Part V Section 1 (The 2050 50/50 Dynamic Allocation Rule).</a:t>
            </a:r>
          </a:p>
          <a:p>
            <a:pPr>
              <a:spcAft>
                <a:spcPts val="0"/>
              </a:spcAft>
              <a:defRPr sz="850" b="1" i="0">
                <a:solidFill>
                  <a:srgbClr val="48CAE4"/>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B:06: The 2050 50/50 Fiscal Allocation Rule &amp; Universal Super Solvency   (Slide 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[B:07]  ACC Actuarial Time-Bend   —   MODULE 1: BASE LIFECYCLE &amp; FISCAL GATE</a:t>
            </a:r>
          </a:p>
          <a:p>
            <a:pPr algn="l">
              <a:spcAft>
                <a:spcPts val="0"/>
              </a:spcAft>
              <a:defRPr sz="950" b="0" i="1">
                <a:solidFill>
                  <a:srgbClr val="FFD166"/>
                </a:solidFill>
                <a:latin typeface="Arial"/>
              </a:defRPr>
            </a:pPr>
            <a:r>
              <a:t>Instant — Counter-Spell / Accounting Breakthrough  •  Phase: Year 5 Parliamentary Audit (SS1)  •  Cost/Req: 0 Cash (Uses Treasury Circular 2024/15 at 2.0% Real SRTP, net of 30% attribution haircut)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Counter Austerity:</a:t>
            </a:r>
          </a:p>
          <a:p>
            <a:pPr>
              <a:spcAft>
                <a:spcPts val="300"/>
              </a:spcAft>
              <a:defRPr sz="940" b="0" i="0">
                <a:solidFill>
                  <a:srgbClr val="ECF8F8"/>
                </a:solidFill>
                <a:latin typeface="Arial"/>
              </a:defRPr>
            </a:pPr>
            <a:r>
              <a:t>   Play when an opponent casts 'Parliamentary 3-Year Deficit Trap' (H:01) or 'There's No Magic Money Tree.' Reveal the 25-Year Forward Liability Ledger. Against NZD 9.19B invested by Year 5, immediately book NZD 10.68B in Direct Cost Avoidance (1.16x outlay) and NZD 35.25B in Total Fiscal Return (3.84x outlay) on the Crown Balance Sheet.</a:t>
            </a:r>
          </a:p>
          <a:p>
            <a:pPr>
              <a:spcAft>
                <a:spcPts val="50"/>
              </a:spcAft>
              <a:defRPr sz="970" b="1" i="0">
                <a:solidFill>
                  <a:srgbClr val="48CAE4"/>
                </a:solidFill>
                <a:latin typeface="Arial"/>
              </a:defRPr>
            </a:pPr>
            <a:r>
              <a:t>▸ Early Credibility Acceleration:</a:t>
            </a:r>
          </a:p>
          <a:p>
            <a:pPr>
              <a:spcAft>
                <a:spcPts val="300"/>
              </a:spcAft>
              <a:defRPr sz="940" b="0" i="0">
                <a:solidFill>
                  <a:srgbClr val="ECF8F8"/>
                </a:solidFill>
                <a:latin typeface="Arial"/>
              </a:defRPr>
            </a:pPr>
            <a:r>
              <a:t>   Young workers (ages 20-35) see the audited Year 5 surplus and cancel their one-way tickets to Australia 15 years early.</a:t>
            </a:r>
          </a:p>
          <a:p>
            <a:pPr>
              <a:spcAft>
                <a:spcPts val="350"/>
              </a:spcAft>
              <a:defRPr sz="880" b="0" i="1">
                <a:solidFill>
                  <a:srgbClr val="FFD166"/>
                </a:solidFill>
                <a:latin typeface="Arial"/>
              </a:defRPr>
            </a:pPr>
            <a:r>
              <a:t>💬 "When you prevent a car crash, ACC doesn't wait thirty years to book the saved hospital bill. Why were we treating our children worse than a dented bumper?"</a:t>
            </a:r>
          </a:p>
          <a:p>
            <a:pPr>
              <a:spcAft>
                <a:spcPts val="0"/>
              </a:spcAft>
              <a:defRPr sz="900" b="1" i="0">
                <a:solidFill>
                  <a:srgbClr val="72EFDD"/>
                </a:solidFill>
                <a:latin typeface="Arial"/>
              </a:defRPr>
            </a:pPr>
            <a:r>
              <a:t>🔗 River Synergy Links: B:01, B:02, B:08, N:03, H:01</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Williamson–ACC Actuarial Present-Value Liability Release</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r_SRTP = 2.0% real (vs. 5.0%–8.0% orthodox hurdle) | Year-5 Direct Avoided Crisis Cost = NZD 10.68B (1.16×) | Total Return = 3.84×</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Replacing 1-year cash-flow expensing with ACC forward liability discounting at the 2.0% Social Rate of Time Preference books NZD 10.68B in direct fiscal savings and NZD 35.25B in total return by Year 5.</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Williamson, O. E. (2009). Transaction Cost Economics: The natural progression (Nobel Prize Lecture). American Economic Review, 100(3), 673–690.</a:t>
            </a:r>
          </a:p>
          <a:p>
            <a:pPr>
              <a:spcAft>
                <a:spcPts val="200"/>
              </a:spcAft>
              <a:defRPr sz="840" b="0" i="0">
                <a:solidFill>
                  <a:srgbClr val="ECF8F8"/>
                </a:solidFill>
                <a:latin typeface="Arial"/>
              </a:defRPr>
            </a:pPr>
            <a:r>
              <a:t>• New Zealand Treasury (2025). CBAx Tool &amp; Public Sector Discount Rates Guidance (2.0% real SRTP for long-horizon social investments).</a:t>
            </a:r>
          </a:p>
          <a:p>
            <a:pPr>
              <a:spcAft>
                <a:spcPts val="200"/>
              </a:spcAft>
              <a:defRPr sz="840" b="0" i="1">
                <a:solidFill>
                  <a:srgbClr val="90E0EF"/>
                </a:solidFill>
                <a:latin typeface="Arial"/>
              </a:defRPr>
            </a:pPr>
            <a:r>
              <a:t>🏛️ Empirical Anchor: NZ Treasury CBAx User Guidance (Nov 2025) &amp; Circular 2024/15; Barnardos Generational Plan Economic Case (Sept 2026); Document 1A Part V.</a:t>
            </a:r>
          </a:p>
          <a:p>
            <a:pPr>
              <a:spcAft>
                <a:spcPts val="0"/>
              </a:spcAft>
              <a:defRPr sz="850" b="1" i="0">
                <a:solidFill>
                  <a:srgbClr val="48CAE4"/>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B:07: Williamson–ACC Actuarial Present-Value Liability Release   (Slide 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[B:08]  The 1925 Quantum Leap (OIA 20250878 Override)   —   MODULE 1: BASE LIFECYCLE &amp; FISCAL GATE</a:t>
            </a:r>
          </a:p>
          <a:p>
            <a:pPr algn="l">
              <a:spcAft>
                <a:spcPts val="0"/>
              </a:spcAft>
              <a:defRPr sz="950" b="0" i="1">
                <a:solidFill>
                  <a:srgbClr val="FFD166"/>
                </a:solidFill>
                <a:latin typeface="Arial"/>
              </a:defRPr>
            </a:pPr>
            <a:r>
              <a:t>Sorcery — Paradigm Shift  •  Phase: System-Wide Architecture  •  Cost/Req: 50 Years of Dunedin Study Data + 8-PType GPU Solver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Expose the Gap:</a:t>
            </a:r>
          </a:p>
          <a:p>
            <a:pPr>
              <a:spcAft>
                <a:spcPts val="300"/>
              </a:spcAft>
              <a:defRPr sz="940" b="0" i="0">
                <a:solidFill>
                  <a:srgbClr val="ECF8F8"/>
                </a:solidFill>
                <a:latin typeface="Arial"/>
              </a:defRPr>
            </a:pPr>
            <a:r>
              <a:t>   Expose the flaw in the opponent's Long-Term Fiscal Model (LTFM): 'Contains no data at the micro level' (Treasury OIA 20250878).</a:t>
            </a:r>
          </a:p>
          <a:p>
            <a:pPr>
              <a:spcAft>
                <a:spcPts val="50"/>
              </a:spcAft>
              <a:defRPr sz="970" b="1" i="0">
                <a:solidFill>
                  <a:srgbClr val="48CAE4"/>
                </a:solidFill>
                <a:latin typeface="Arial"/>
              </a:defRPr>
            </a:pPr>
            <a:r>
              <a:t>▸ Unified Board State:</a:t>
            </a:r>
          </a:p>
          <a:p>
            <a:pPr>
              <a:spcAft>
                <a:spcPts val="300"/>
              </a:spcAft>
              <a:defRPr sz="940" b="0" i="0">
                <a:solidFill>
                  <a:srgbClr val="ECF8F8"/>
                </a:solidFill>
                <a:latin typeface="Arial"/>
              </a:defRPr>
            </a:pPr>
            <a:r>
              <a:t>   Fuse Frontline Social Agencies, ACC Actuaries, and Macro OLG Planners into one unified board state. Unlock NZD 85.40B in Year 5 Booked GDP and NZD 1,510.7B in realized cash GDP over 60 Years.</a:t>
            </a:r>
          </a:p>
          <a:p>
            <a:pPr>
              <a:spcAft>
                <a:spcPts val="350"/>
              </a:spcAft>
              <a:defRPr sz="880" b="0" i="1">
                <a:solidFill>
                  <a:srgbClr val="FFD166"/>
                </a:solidFill>
                <a:latin typeface="Arial"/>
              </a:defRPr>
            </a:pPr>
            <a:r>
              <a:t>💬 "In 1925, physicists overthrew classical mechanics in thirty-six months because the matrix math was already sitting on the shelf. Our math is on the shelf. Stop governing like it's 1924."</a:t>
            </a:r>
          </a:p>
          <a:p>
            <a:pPr>
              <a:spcAft>
                <a:spcPts val="0"/>
              </a:spcAft>
              <a:defRPr sz="900" b="1" i="0">
                <a:solidFill>
                  <a:srgbClr val="72EFDD"/>
                </a:solidFill>
                <a:latin typeface="Arial"/>
              </a:defRPr>
            </a:pPr>
            <a:r>
              <a:t>🔗 River Synergy Links: B:07, K:03, K:04, N:01, N:03</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Coupled 8-PType × 4-Region Discrete VFI &amp; Kolmogorov Forward Solver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8 PTypes (2 Regions/Macro × Early Corner × Entrepreneur Split) | Exact discrete grid (no log-linearization) | Solved in &lt;28 min on GPU</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Linearized representative-agent models erase subsistence corners (i_c = 0) and precautionary buffers; solving the exact non-linear Bellman and KFE equations on the GPU reveals the full +20.49% CE welfare gain.</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Kirkby, R. (2017–2026). VFI Toolkit: A MATLAB GPU Toolkit for Macroeconomic Life-Cycle and Heterogeneous-Agent Models.</a:t>
            </a:r>
          </a:p>
          <a:p>
            <a:pPr>
              <a:spcAft>
                <a:spcPts val="200"/>
              </a:spcAft>
              <a:defRPr sz="840" b="0" i="0">
                <a:solidFill>
                  <a:srgbClr val="ECF8F8"/>
                </a:solidFill>
                <a:latin typeface="Arial"/>
              </a:defRPr>
            </a:pPr>
            <a:r>
              <a:t>• Huggett, M. (1996). Wealth distribution in life-cycle economies. Journal of Monetary Economics, 38(3), 469–494.</a:t>
            </a:r>
          </a:p>
          <a:p>
            <a:pPr>
              <a:spcAft>
                <a:spcPts val="200"/>
              </a:spcAft>
              <a:defRPr sz="840" b="0" i="1">
                <a:solidFill>
                  <a:srgbClr val="90E0EF"/>
                </a:solidFill>
                <a:latin typeface="Arial"/>
              </a:defRPr>
            </a:pPr>
            <a:r>
              <a:t>🏛️ Empirical Anchor: NZ Treasury Official Information Act Response OIA 20250878; Document 1C Section 2 (The 1925 Moment).</a:t>
            </a:r>
          </a:p>
          <a:p>
            <a:pPr>
              <a:spcAft>
                <a:spcPts val="0"/>
              </a:spcAft>
              <a:defRPr sz="850" b="1" i="0">
                <a:solidFill>
                  <a:srgbClr val="48CAE4"/>
                </a:solidFill>
                <a:latin typeface="Arial"/>
              </a:defRPr>
            </a:pPr>
            <a:r>
              <a:t>💻 Monograph &amp; Code Hook: Doc 1B §1.3 • Doc 2: NZ_4Region_Master.m &amp; QEA_2026.m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B:08: Coupled 8-PType × 4-Region Discrete VFI &amp; Kolmogorov Forward Solver   (Slide 10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[B:09]  Lifting the Gold from the River (He Tāngata)   —   MODULE 1: BASE LIFECYCLE &amp; FISCAL GATE</a:t>
            </a:r>
          </a:p>
          <a:p>
            <a:pPr algn="l">
              <a:spcAft>
                <a:spcPts val="0"/>
              </a:spcAft>
              <a:defRPr sz="950" b="0" i="1">
                <a:solidFill>
                  <a:srgbClr val="FFD166"/>
                </a:solidFill>
                <a:latin typeface="Arial"/>
              </a:defRPr>
            </a:pPr>
            <a:r>
              <a:t>Mythic Enchantment — Generational Victory  •  Phase: SS2 Victory Condition  •  Cost/Req: Cohort Stunting compressed to 1.5%, Social Cohesion Index at 126.0 (C:06), and all 7 Structural Engines online.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48CAE4"/>
                </a:solidFill>
                <a:latin typeface="Arial"/>
              </a:defRPr>
            </a:pPr>
            <a:r>
              <a:t>▸ Generational Victory:</a:t>
            </a:r>
          </a:p>
          <a:p>
            <a:pPr>
              <a:spcAft>
                <a:spcPts val="300"/>
              </a:spcAft>
              <a:defRPr sz="940" b="0" i="0">
                <a:solidFill>
                  <a:srgbClr val="ECF8F8"/>
                </a:solidFill>
                <a:latin typeface="Arial"/>
              </a:defRPr>
            </a:pPr>
            <a:r>
              <a:t>   You win the game with a +20.49% National Welfare Gain (+14.28% Rural, +13.66% Small, +22.17% Large, +26.03% Auckland) and restore New Zealand to #1 on the Global Social Credit Rating.</a:t>
            </a:r>
          </a:p>
          <a:p>
            <a:pPr>
              <a:spcAft>
                <a:spcPts val="350"/>
              </a:spcAft>
              <a:defRPr sz="880" b="0" i="1">
                <a:solidFill>
                  <a:srgbClr val="FFD166"/>
                </a:solidFill>
                <a:latin typeface="Arial"/>
              </a:defRPr>
            </a:pPr>
            <a:r>
              <a:t>💬 "There is no magic money tree—because we are standing in a river of gold. In the nineteenth century we looked for it in the gravel of Otago; in the twentieth we mistook inflated urban dirt for wealth. Today we know the truth: human capability is the only inexhaustible resource on earth. We need only lift it up."</a:t>
            </a:r>
          </a:p>
          <a:p>
            <a:pPr>
              <a:spcAft>
                <a:spcPts val="0"/>
              </a:spcAft>
              <a:defRPr sz="900" b="1" i="0">
                <a:solidFill>
                  <a:srgbClr val="72EFDD"/>
                </a:solidFill>
                <a:latin typeface="Arial"/>
              </a:defRPr>
            </a:pPr>
            <a:r>
              <a:t>🔗 River Synergy Links: B:00, B:04, C:06, K:07, N:06</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Consumption-Equivalent Intergenerational Welfare Victory Condition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+20.49% Aggregate CE | +42.8% Bottom-Decile CE | 65.0% Thriving Launch | −14.8 MtCO₂e/yr | Super @ 65 | PAYE = 18.5%</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When human capability (B:01–B:03), productive capital rotation (B:05–B:06), actuarial accounting (B:07), and solar endowment (E:02) lock together, every generation and region achieves Pareto-superior flourishing.</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Lucas, R. E. (1987). Models of Business Cycles. Basil Blackwell (Consumption-Equivalent Welfare Calculus).</a:t>
            </a:r>
          </a:p>
          <a:p>
            <a:pPr>
              <a:spcAft>
                <a:spcPts val="200"/>
              </a:spcAft>
              <a:defRPr sz="840" b="0" i="0">
                <a:solidFill>
                  <a:srgbClr val="ECF8F8"/>
                </a:solidFill>
                <a:latin typeface="Arial"/>
              </a:defRPr>
            </a:pPr>
            <a:r>
              <a:t>• Tiemann, M. (2026). Intergenerational Welfare, Capital Allocation, and Human Potential in New Zealand (Documents 1A, 1B, &amp; 2).</a:t>
            </a:r>
          </a:p>
          <a:p>
            <a:pPr>
              <a:spcAft>
                <a:spcPts val="200"/>
              </a:spcAft>
              <a:defRPr sz="840" b="0" i="1">
                <a:solidFill>
                  <a:srgbClr val="90E0EF"/>
                </a:solidFill>
                <a:latin typeface="Arial"/>
              </a:defRPr>
            </a:pPr>
            <a:r>
              <a:t>🏛️ Empirical Anchor: Document 1A Part IV Section 1 &amp; 6A (7-Factor Attribution); Document 1C Section 3 (A River of Gold).</a:t>
            </a:r>
          </a:p>
          <a:p>
            <a:pPr>
              <a:spcAft>
                <a:spcPts val="0"/>
              </a:spcAft>
              <a:defRPr sz="850" b="1" i="0">
                <a:solidFill>
                  <a:srgbClr val="48CAE4"/>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B:09: Consumption-Equivalent Intergenerational Welfare Victory Condition   (Slide 11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[T:00]  The Molesworth Street Cycle-Lane Paralysis (Limited-Edition Promo Trap)   —   MODULE 1B: CAUTIONARY TRAP &amp; SPOILER</a:t>
            </a:r>
          </a:p>
          <a:p>
            <a:pPr algn="l">
              <a:spcAft>
                <a:spcPts val="0"/>
              </a:spcAft>
              <a:defRPr sz="950" b="0" i="1">
                <a:solidFill>
                  <a:srgbClr val="FFD166"/>
                </a:solidFill>
                <a:latin typeface="Arial"/>
              </a:defRPr>
            </a:pPr>
            <a:r>
              <a:t>Orthodoxy Hazard — Ministerial Limo / Pedestrian Panic  •  Phase: SS0 Status Quo  •  Cost/Req: Triggered when leadership peeks through the Tinted Limo Window of Ignorance.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48CAE4"/>
                </a:solidFill>
                <a:latin typeface="Arial"/>
              </a:defRPr>
            </a:pPr>
            <a:r>
              <a:t>▸ The Hazard:</a:t>
            </a:r>
          </a:p>
          <a:p>
            <a:pPr>
              <a:spcAft>
                <a:spcPts val="300"/>
              </a:spcAft>
              <a:defRPr sz="940" b="0" i="0">
                <a:solidFill>
                  <a:srgbClr val="ECF8F8"/>
                </a:solidFill>
                <a:latin typeface="Arial"/>
              </a:defRPr>
            </a:pPr>
            <a:r>
              <a:t>   A single painted cycle lane appears on Molesworth Street between Premier House and the Beehive. Your leadership is too terrified to cross on foot and summons a Crown limo for a 250-meter trip—burning transport subsidies and giving tax breaks to landlords while reading Ayn Rand in the backseat.</a:t>
            </a:r>
          </a:p>
          <a:p>
            <a:pPr>
              <a:spcAft>
                <a:spcPts val="50"/>
              </a:spcAft>
              <a:defRPr sz="970" b="1" i="0">
                <a:solidFill>
                  <a:srgbClr val="48CAE4"/>
                </a:solidFill>
                <a:latin typeface="Arial"/>
              </a:defRPr>
            </a:pPr>
            <a:r>
              <a:t>▸ The Riddle &amp; Counter-Play:</a:t>
            </a:r>
          </a:p>
          <a:p>
            <a:pPr>
              <a:spcAft>
                <a:spcPts val="300"/>
              </a:spcAft>
              <a:defRPr sz="940" b="0" i="0">
                <a:solidFill>
                  <a:srgbClr val="ECF8F8"/>
                </a:solidFill>
                <a:latin typeface="Arial"/>
              </a:defRPr>
            </a:pPr>
            <a:r>
              <a:t>   When the Prime Minister finally musters the courage to cross Molesworth Street, which crosses first—the chicken, or THE EGG? Hand the Minister a copy of Foils &amp; Founders and introduce them to HANK to solve the intergenerational chicken-and-egg loop.</a:t>
            </a:r>
          </a:p>
          <a:p>
            <a:pPr>
              <a:spcAft>
                <a:spcPts val="350"/>
              </a:spcAft>
              <a:defRPr sz="880" b="0" i="1">
                <a:solidFill>
                  <a:srgbClr val="FFD166"/>
                </a:solidFill>
                <a:latin typeface="Arial"/>
              </a:defRPr>
            </a:pPr>
            <a:r>
              <a:t>💬 "Afraid to cross Molesworth Street? Here's a card game for you! We can't afford to give every beginner a whole national economy to wreck until they learn the rules—so please, stay on the footpath and play with HANK first."</a:t>
            </a:r>
          </a:p>
          <a:p>
            <a:pPr>
              <a:spcAft>
                <a:spcPts val="0"/>
              </a:spcAft>
              <a:defRPr sz="900" b="1" i="0">
                <a:solidFill>
                  <a:srgbClr val="72EFDD"/>
                </a:solidFill>
                <a:latin typeface="Arial"/>
              </a:defRPr>
            </a:pPr>
            <a:r>
              <a:t>🔗 River Synergy Links: B:00, B:05, E:01</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Unconditional Cash-Transfer Crowd-Out &amp; Limousine Leakage</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MPC into early child skill ∂i_c/∂T_cash ≈ 0.08 in deep rent/energy distress vs. 1.00 for in-kind G_ECE (B:01)</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Unconditional cash transfers without housing/energy cooling or in-kind ECE infrastructure are absorbed by landlord rent extraction (p_h^r h̄) at the bottom or leaked to non-constrained households at the top.</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Currie, J., &amp; Gahvari, F. (2008). Transfers in cash and in-kind: Theory meets the data. Journal of Economic Literature, 46(2), 333–383.</a:t>
            </a:r>
          </a:p>
          <a:p>
            <a:pPr>
              <a:spcAft>
                <a:spcPts val="200"/>
              </a:spcAft>
              <a:defRPr sz="840" b="0" i="0">
                <a:solidFill>
                  <a:srgbClr val="ECF8F8"/>
                </a:solidFill>
                <a:latin typeface="Arial"/>
              </a:defRPr>
            </a:pPr>
            <a:r>
              <a:t>• Nichols, A. L., &amp; Zeckhauser, R. J. (1982). Targeting transfers through restrictions on recipients. American Economic Review, 72(2), 372–377.</a:t>
            </a:r>
          </a:p>
          <a:p>
            <a:pPr>
              <a:spcAft>
                <a:spcPts val="200"/>
              </a:spcAft>
              <a:defRPr sz="840" b="0" i="1">
                <a:solidFill>
                  <a:srgbClr val="90E0EF"/>
                </a:solidFill>
                <a:latin typeface="Arial"/>
              </a:defRPr>
            </a:pPr>
            <a:r>
              <a:t>🏛️ Empirical Anchor: HANK and Kindergarten Lecture (Tiemann, 2026).</a:t>
            </a:r>
          </a:p>
          <a:p>
            <a:pPr>
              <a:spcAft>
                <a:spcPts val="0"/>
              </a:spcAft>
              <a:defRPr sz="850" b="1" i="0">
                <a:solidFill>
                  <a:srgbClr val="48CAE4"/>
                </a:solidFill>
                <a:latin typeface="Arial"/>
              </a:defRPr>
            </a:pPr>
            <a:r>
              <a:t>💻 Monograph &amp; Code Hook: Doc 1B §2.6 • Doc 2: Test_LinearTaxTransfer_Trap.m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T:00: Unconditional Cash-Transfer Crowd-Out &amp; Limousine Leakage   (Slide 12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[T:01]  The Scottish Devolution Ceiling   —   MODULE 1B: CAUTIONARY TRAP &amp; SPOILER</a:t>
            </a:r>
          </a:p>
          <a:p>
            <a:pPr algn="l">
              <a:spcAft>
                <a:spcPts val="0"/>
              </a:spcAft>
              <a:defRPr sz="950" b="0" i="1">
                <a:solidFill>
                  <a:srgbClr val="FFD166"/>
                </a:solidFill>
                <a:latin typeface="Arial"/>
              </a:defRPr>
            </a:pPr>
            <a:r>
              <a:t>Cautionary Trap — Single-Lens Pitch-Pole (Lens 1 Without Lens 3)  •  Phase: Round 2 Pitch-Pole Demo  •  Cost/Req: Play B:01 (First 2000 Days) + B:02 (Mentoring) without B:05 (Land/Estate Tax Powers).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48CAE4"/>
                </a:solidFill>
                <a:latin typeface="Arial"/>
              </a:defRPr>
            </a:pPr>
            <a:r>
              <a:t>▸ The Devolution Ceiling:</a:t>
            </a:r>
          </a:p>
          <a:p>
            <a:pPr>
              <a:spcAft>
                <a:spcPts val="300"/>
              </a:spcAft>
              <a:defRPr sz="940" b="0" i="0">
                <a:solidFill>
                  <a:srgbClr val="ECF8F8"/>
                </a:solidFill>
                <a:latin typeface="Arial"/>
              </a:defRPr>
            </a:pPr>
            <a:r>
              <a:t>   You played First-2000-Days and MCR Pathways Mentoring (cutting child poverty by 6 points below the rest of the UK!), but you forgot to bring sovereign Land &amp; Estate Tax powers. Your middle-earner PAYE tax rate hits 42%–48%, urban rents climb, and child poverty progress stalls out at 21% (missing the 18% target).</a:t>
            </a:r>
          </a:p>
          <a:p>
            <a:pPr>
              <a:spcAft>
                <a:spcPts val="350"/>
              </a:spcAft>
              <a:defRPr sz="880" b="0" i="1">
                <a:solidFill>
                  <a:srgbClr val="FFD166"/>
                </a:solidFill>
                <a:latin typeface="Arial"/>
              </a:defRPr>
            </a:pPr>
            <a:r>
              <a:t>💬 "Compassion without sovereign capital-tax levers forces working families to pay for everything twice."</a:t>
            </a:r>
          </a:p>
          <a:p>
            <a:pPr>
              <a:spcAft>
                <a:spcPts val="0"/>
              </a:spcAft>
              <a:defRPr sz="900" b="1" i="0">
                <a:solidFill>
                  <a:srgbClr val="72EFDD"/>
                </a:solidFill>
                <a:latin typeface="Arial"/>
              </a:defRPr>
            </a:pPr>
            <a:r>
              <a:t>🔗 River Synergy Links: B:01, B:02, B:05, H:05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Late-Remediation Elasticity Decay Under Low Early Readiness</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ϕ₁ = −0.50, ϕ₂ = −0.25 | Tertiary/vocational ROI drops by &gt;70% when Gate 1 (B:01) and Gate 2 (B:02) foundations are skipped</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Because human skill formation exhibits negative elasticity of substitution (ϕ &lt; 0), pouring subsidies into age-18+ remedial training after ignoring ages 0–5 yields near-zero marginal skill gain.</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Cunha, F., &amp; Heckman, J. J. (2007). The technology of skill formation. American Economic Review, 97(2), 31–47.</a:t>
            </a:r>
          </a:p>
          <a:p>
            <a:pPr>
              <a:spcAft>
                <a:spcPts val="200"/>
              </a:spcAft>
              <a:defRPr sz="840" b="0" i="0">
                <a:solidFill>
                  <a:srgbClr val="ECF8F8"/>
                </a:solidFill>
                <a:latin typeface="Arial"/>
              </a:defRPr>
            </a:pPr>
            <a:r>
              <a:t>• Carneiro, P., &amp; Heckman, J. J. (2003). Human capital policy. In Inequality in America: What Role for Human Capital Policies? MIT Press.</a:t>
            </a:r>
          </a:p>
          <a:p>
            <a:pPr>
              <a:spcAft>
                <a:spcPts val="200"/>
              </a:spcAft>
              <a:defRPr sz="840" b="0" i="1">
                <a:solidFill>
                  <a:srgbClr val="90E0EF"/>
                </a:solidFill>
                <a:latin typeface="Arial"/>
              </a:defRPr>
            </a:pPr>
            <a:r>
              <a:t>🏛️ Empirical Anchor: Scottish Government Tackling Child Poverty Delivery Plan 2026-2031; JRF Poverty in Scotland 2026; MCR Pathways (2025); Document 1A Part VI.</a:t>
            </a:r>
          </a:p>
          <a:p>
            <a:pPr>
              <a:spcAft>
                <a:spcPts val="0"/>
              </a:spcAft>
              <a:defRPr sz="850" b="1" i="0">
                <a:solidFill>
                  <a:srgbClr val="48CAE4"/>
                </a:solidFill>
                <a:latin typeface="Arial"/>
              </a:defRPr>
            </a:pPr>
            <a:r>
              <a:t>💻 Monograph &amp; Code Hook: Doc 1B §2.7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T:01: Late-Remediation Elasticity Decay Under Low Early Readiness   (Slide 13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[T:02]  The 1989 Tokyo Imperial Palace Bubble   —   MODULE 1B: CAUTIONARY TRAP &amp; SPOILER</a:t>
            </a:r>
          </a:p>
          <a:p>
            <a:pPr algn="l">
              <a:spcAft>
                <a:spcPts val="0"/>
              </a:spcAft>
              <a:defRPr sz="950" b="0" i="1">
                <a:solidFill>
                  <a:srgbClr val="FFD166"/>
                </a:solidFill>
                <a:latin typeface="Arial"/>
              </a:defRPr>
            </a:pPr>
            <a:r>
              <a:t>Cautionary Trap — Single-Lens Pitch-Pole (Lenses 1 &amp; 2 Without Lens 3)  •  Phase: Round 2 Pitch-Pole Demo  •  Cost/Req: Play Deming's Industrial Miracle without B:05 (Use-It-Or-Lose-It) or B:06 (2050 50/50 Stabilizer).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48CAE4"/>
                </a:solidFill>
                <a:latin typeface="Arial"/>
              </a:defRPr>
            </a:pPr>
            <a:r>
              <a:t>▸ Hirano–Toda Land Bubble:</a:t>
            </a:r>
          </a:p>
          <a:p>
            <a:pPr>
              <a:spcAft>
                <a:spcPts val="300"/>
              </a:spcAft>
              <a:defRPr sz="940" b="0" i="0">
                <a:solidFill>
                  <a:srgbClr val="ECF8F8"/>
                </a:solidFill>
                <a:latin typeface="Arial"/>
              </a:defRPr>
            </a:pPr>
            <a:r>
              <a:t>   You built a world-beating industrial and schooling engine, but left Lens 3 unguarded. All corporate surpluses pour into finite urban land until 1.15 sq km of Tokyo costs more than the State of California. Take 30 Turns of Balance-Sheet Stagnation.</a:t>
            </a:r>
          </a:p>
          <a:p>
            <a:pPr>
              <a:spcAft>
                <a:spcPts val="350"/>
              </a:spcAft>
              <a:defRPr sz="880" b="0" i="1">
                <a:solidFill>
                  <a:srgbClr val="FFD166"/>
                </a:solidFill>
                <a:latin typeface="Arial"/>
              </a:defRPr>
            </a:pPr>
            <a:r>
              <a:t>💬 "New Zealand managed to catch the Tokyo property disease without first building the Tokyo industrial engine."</a:t>
            </a:r>
          </a:p>
          <a:p>
            <a:pPr>
              <a:spcAft>
                <a:spcPts val="0"/>
              </a:spcAft>
              <a:defRPr sz="900" b="1" i="0">
                <a:solidFill>
                  <a:srgbClr val="72EFDD"/>
                </a:solidFill>
                <a:latin typeface="Arial"/>
              </a:defRPr>
            </a:pPr>
            <a:r>
              <a:t>🔗 River Synergy Links: B:05, B:06, H:05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Inelastic Housing Supply Capitalization of Demand Subsidies</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Auckland Price-to-Income Ratio = 3.10× rural baseline | Buyer subsidies without B:05 land-tax rebalancing inflate house prices 1-for-1</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Subsidizing mortgage demand or first-home deposits when urban land is hoarded tax-free (τ_a = 0) simply capitalizes into higher land prices, worsening the Gate 1 Stone–Geary rent squeeze.</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Glaeser, E. L., Gyourko, J., &amp; Saks, R. E. (2005). Why have housing prices gone up? American Economic Review, 95(2), 329–333.</a:t>
            </a:r>
          </a:p>
          <a:p>
            <a:pPr>
              <a:spcAft>
                <a:spcPts val="200"/>
              </a:spcAft>
              <a:defRPr sz="840" b="0" i="0">
                <a:solidFill>
                  <a:srgbClr val="ECF8F8"/>
                </a:solidFill>
                <a:latin typeface="Arial"/>
              </a:defRPr>
            </a:pPr>
            <a:r>
              <a:t>• Hirano, T., &amp; Toda, A. A. (2025). Bubble necessity theorem in overlapping generations models with land.</a:t>
            </a:r>
          </a:p>
          <a:p>
            <a:pPr>
              <a:spcAft>
                <a:spcPts val="200"/>
              </a:spcAft>
              <a:defRPr sz="840" b="0" i="1">
                <a:solidFill>
                  <a:srgbClr val="90E0EF"/>
                </a:solidFill>
                <a:latin typeface="Arial"/>
              </a:defRPr>
            </a:pPr>
            <a:r>
              <a:t>🏛️ Empirical Anchor: Deming (1950 Mt. Hakone Lecture); Hirano &amp; Toda (2025 Land Overvaluation Theorem); Document 1A Part VI Coda.</a:t>
            </a:r>
          </a:p>
          <a:p>
            <a:pPr>
              <a:spcAft>
                <a:spcPts val="0"/>
              </a:spcAft>
              <a:defRPr sz="850" b="1" i="0">
                <a:solidFill>
                  <a:srgbClr val="48CAE4"/>
                </a:solidFill>
                <a:latin typeface="Arial"/>
              </a:defRPr>
            </a:pPr>
            <a:r>
              <a:t>💻 Monograph &amp; Code Hook: Doc 1B §4.2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T:02: Inelastic Housing Supply Capitalization of Demand Subsidies   (Slide 14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[T:03]  The Seoul Hagwon Squeeze   —   MODULE 1B: CAUTIONARY TRAP &amp; SPOILER</a:t>
            </a:r>
          </a:p>
          <a:p>
            <a:pPr algn="l">
              <a:spcAft>
                <a:spcPts val="0"/>
              </a:spcAft>
              <a:defRPr sz="950" b="0" i="1">
                <a:solidFill>
                  <a:srgbClr val="FFD166"/>
                </a:solidFill>
                <a:latin typeface="Arial"/>
              </a:defRPr>
            </a:pPr>
            <a:r>
              <a:t>Cautionary Trap — Primate-City Housing &amp; Child-Cost Crush  •  Phase: Round 2 Pitch-Pole Demo  •  Cost/Req: Max out Schooling while leaving Primate-City Land Speculation and private tutoring costs unchecked.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48CAE4"/>
                </a:solidFill>
                <a:latin typeface="Arial"/>
              </a:defRPr>
            </a:pPr>
            <a:r>
              <a:t>▸ Demographic Collapse:</a:t>
            </a:r>
          </a:p>
          <a:p>
            <a:pPr>
              <a:spcAft>
                <a:spcPts val="300"/>
              </a:spcAft>
              <a:defRPr sz="940" b="0" i="0">
                <a:solidFill>
                  <a:srgbClr val="ECF8F8"/>
                </a:solidFill>
                <a:latin typeface="Arial"/>
              </a:defRPr>
            </a:pPr>
            <a:r>
              <a:t>   Young couples are crushed between 3.10x primate-city housing costs and a private tutoring arms race (Hagwon). Your Total Fertility Rate collapses to 0.72 and old-age pension solvency implodes.</a:t>
            </a:r>
          </a:p>
          <a:p>
            <a:pPr>
              <a:spcAft>
                <a:spcPts val="350"/>
              </a:spcAft>
              <a:defRPr sz="880" b="0" i="1">
                <a:solidFill>
                  <a:srgbClr val="FFD166"/>
                </a:solidFill>
                <a:latin typeface="Arial"/>
              </a:defRPr>
            </a:pPr>
            <a:r>
              <a:t>💬 "When raising a child becomes a stressed luxury good in an overvalued primate city, the future simply stops being born."</a:t>
            </a:r>
          </a:p>
          <a:p>
            <a:pPr>
              <a:spcAft>
                <a:spcPts val="0"/>
              </a:spcAft>
              <a:defRPr sz="900" b="1" i="0">
                <a:solidFill>
                  <a:srgbClr val="72EFDD"/>
                </a:solidFill>
                <a:latin typeface="Arial"/>
              </a:defRPr>
            </a:pPr>
            <a:r>
              <a:t>🔗 River Synergy Links: B:01, B:05, C:05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Primate-City Agglomeration Congestion vs. Regional Starvation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4 Regions: Rural (16%), Small (24%), Large (27%), Auckland (33%) | Rural transport fuel burden = 2.7×–2.8× metro baseline in SS0</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Concentrating infrastructure solely in Auckland while leaving rural and provincial regions exposed to 2.8× fossil-fuel transport costs and underfunded grids triggers simultaneous urban rent crush and regional hollowing.</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Krugman, P. (1991). Increasing returns and economic geography. Journal of Political Economy, 99(3), 483–499.</a:t>
            </a:r>
          </a:p>
          <a:p>
            <a:pPr>
              <a:spcAft>
                <a:spcPts val="200"/>
              </a:spcAft>
              <a:defRPr sz="840" b="0" i="0">
                <a:solidFill>
                  <a:srgbClr val="ECF8F8"/>
                </a:solidFill>
                <a:latin typeface="Arial"/>
              </a:defRPr>
            </a:pPr>
            <a:r>
              <a:t>• Grimes, A., &amp; Young, C. (2011). Spatial effects of infrastructure and housing shocks across New Zealand regions. Motu Working Paper.</a:t>
            </a:r>
          </a:p>
          <a:p>
            <a:pPr>
              <a:spcAft>
                <a:spcPts val="200"/>
              </a:spcAft>
              <a:defRPr sz="840" b="0" i="1">
                <a:solidFill>
                  <a:srgbClr val="90E0EF"/>
                </a:solidFill>
                <a:latin typeface="Arial"/>
              </a:defRPr>
            </a:pPr>
            <a:r>
              <a:t>🏛️ Empirical Anchor: 21st-Century South Korea TFR benchmark (0.72-0.75); Document 1A Part VI Section 2.</a:t>
            </a:r>
          </a:p>
          <a:p>
            <a:pPr>
              <a:spcAft>
                <a:spcPts val="0"/>
              </a:spcAft>
              <a:defRPr sz="850" b="1" i="0">
                <a:solidFill>
                  <a:srgbClr val="48CAE4"/>
                </a:solidFill>
                <a:latin typeface="Arial"/>
              </a:defRPr>
            </a:pPr>
            <a:r>
              <a:t>💻 Monograph &amp; Code Hook: Doc 1B §4.5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T:03: Primate-City Agglomeration Congestion vs. Regional Starvation   (Slide 15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[T:04]  The Lavoisier Syndrome (Rent-Seekers vs. Builders)   —   MODULE 1B: CAUTIONARY TRAP &amp; SPOILER</a:t>
            </a:r>
          </a:p>
          <a:p>
            <a:pPr algn="l">
              <a:spcAft>
                <a:spcPts val="0"/>
              </a:spcAft>
              <a:defRPr sz="950" b="0" i="1">
                <a:solidFill>
                  <a:srgbClr val="FFD166"/>
                </a:solidFill>
                <a:latin typeface="Arial"/>
              </a:defRPr>
            </a:pPr>
            <a:r>
              <a:t>Cautionary Trap — Talent Misallocation (Lens 2 &amp; Lens 3)  •  Phase: SS0 Status Quo / Round 2 Demo  •  Cost/Req: Triggered when a NZD 1.6T Untaxed Property Pool coexists with under-capitalized firms (High Rent-Seeking Tax 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48CAE4"/>
                </a:solidFill>
                <a:latin typeface="Arial"/>
              </a:defRPr>
            </a:pPr>
            <a:r>
              <a:t>▸ The Superstar Drain into Rent-Seeking:</a:t>
            </a:r>
          </a:p>
          <a:p>
            <a:pPr>
              <a:spcAft>
                <a:spcPts val="300"/>
              </a:spcAft>
              <a:defRPr sz="940" b="0" i="0">
                <a:solidFill>
                  <a:srgbClr val="ECF8F8"/>
                </a:solidFill>
                <a:latin typeface="Arial"/>
              </a:defRPr>
            </a:pPr>
            <a:r>
              <a:t>   In a country with large existing land wealth and slow wage growth, fighting over existing dirt and tax loopholes pays higher private returns than building new technology. Divert your top-ability graduates (A &gt; A*) out of Engineering &amp; Enterprise (z_h) into Property Speculation, Conveyancing, and Lobbying (z_l).</a:t>
            </a:r>
          </a:p>
          <a:p>
            <a:pPr>
              <a:spcAft>
                <a:spcPts val="50"/>
              </a:spcAft>
              <a:defRPr sz="970" b="1" i="0">
                <a:solidFill>
                  <a:srgbClr val="48CAE4"/>
                </a:solidFill>
                <a:latin typeface="Arial"/>
              </a:defRPr>
            </a:pPr>
            <a:r>
              <a:t>▸ Growth &amp; Wage Penalty:</a:t>
            </a:r>
          </a:p>
          <a:p>
            <a:pPr>
              <a:spcAft>
                <a:spcPts val="300"/>
              </a:spcAft>
              <a:defRPr sz="940" b="0" i="0">
                <a:solidFill>
                  <a:srgbClr val="ECF8F8"/>
                </a:solidFill>
                <a:latin typeface="Arial"/>
              </a:defRPr>
            </a:pPr>
            <a:r>
              <a:t>   Per Murphy, Shleifer, &amp; Vishny (1991), doubling your rent-seeking share permanently cuts real per-capita GDP growth by -0.3% to -0.78%/yr and starves domestic firms of scale. To break this trap, play B:05 (Use-It-Or-Lose-It) + B:03 (Youth Capital Grant) to shift the talent cutoff back to builders (+0.5% to +1.25%/yr growth boost).</a:t>
            </a:r>
          </a:p>
          <a:p>
            <a:pPr>
              <a:spcAft>
                <a:spcPts val="350"/>
              </a:spcAft>
              <a:defRPr sz="880" b="0" i="1">
                <a:solidFill>
                  <a:srgbClr val="FFD166"/>
                </a:solidFill>
                <a:latin typeface="Arial"/>
              </a:defRPr>
            </a:pPr>
            <a:r>
              <a:t>💬 "In 1780s France, the great chemist Lavoisier made his fortune as a tax collector because rent-seeking paid better than science. In 2020s New Zealand, we turned our brightest young minds into mortgage brokers and wondered why productivity died."</a:t>
            </a:r>
          </a:p>
          <a:p>
            <a:pPr>
              <a:spcAft>
                <a:spcPts val="0"/>
              </a:spcAft>
              <a:defRPr sz="900" b="1" i="0">
                <a:solidFill>
                  <a:srgbClr val="72EFDD"/>
                </a:solidFill>
                <a:latin typeface="Arial"/>
              </a:defRPr>
            </a:pPr>
            <a:r>
              <a:t>🔗 River Synergy Links: B:03, B:05, K:02, N:01, H:03</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The Lavoisier Syndrome: Murphy–Shleifer–Vishny Rent-Seeking Trap</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NZD 1.6T untaxed property pool (τ_a = 0) vs. 28% corporate / 39% top PAYE tax on active builders (z_h)</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When untaxed leveraged land appreciation out-yields taxed enterprise, the economy's sharpest minds become property speculators and tax lawyers instead of founders—stalling national productivity.</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Murphy, K. M., Shleifer, A., &amp; Vishny, R. W. (1991). The allocation of talent: Implications for growth. Quarterly Journal of Economics, 106(2), 503–530.</a:t>
            </a:r>
          </a:p>
          <a:p>
            <a:pPr>
              <a:spcAft>
                <a:spcPts val="200"/>
              </a:spcAft>
              <a:defRPr sz="840" b="0" i="0">
                <a:solidFill>
                  <a:srgbClr val="ECF8F8"/>
                </a:solidFill>
                <a:latin typeface="Arial"/>
              </a:defRPr>
            </a:pPr>
            <a:r>
              <a:t>• Pikett, K., &amp; Wilkinson, R. / Tax Working Group New Zealand (2019). Future of Tax: Final Report on Capital Income Disharmony.</a:t>
            </a:r>
          </a:p>
          <a:p>
            <a:pPr>
              <a:spcAft>
                <a:spcPts val="200"/>
              </a:spcAft>
              <a:defRPr sz="840" b="0" i="1">
                <a:solidFill>
                  <a:srgbClr val="90E0EF"/>
                </a:solidFill>
                <a:latin typeface="Arial"/>
              </a:defRPr>
            </a:pPr>
            <a:r>
              <a:t>🏛️ Empirical Anchor: Murphy, Shleifer, &amp; Vishny (1991, QJE: Tables III–VI &amp; Section III); Baumol (1990); Document 1A Part II Lens 2.</a:t>
            </a:r>
          </a:p>
          <a:p>
            <a:pPr>
              <a:spcAft>
                <a:spcPts val="0"/>
              </a:spcAft>
              <a:defRPr sz="850" b="1" i="0">
                <a:solidFill>
                  <a:srgbClr val="48CAE4"/>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T:04: The Lavoisier Syndrome: Murphy–Shleifer–Vishny Rent-Seeking Trap   (Slide 16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[T:05]  Disinformation &amp; Outrage Drag (The Polarisation Tax)   —   MODULE 1B: CAUTIONARY TRAP &amp; SPOILER</a:t>
            </a:r>
          </a:p>
          <a:p>
            <a:pPr algn="l">
              <a:spcAft>
                <a:spcPts val="0"/>
              </a:spcAft>
              <a:defRPr sz="950" b="0" i="1">
                <a:solidFill>
                  <a:srgbClr val="FFD166"/>
                </a:solidFill>
                <a:latin typeface="Arial"/>
              </a:defRPr>
            </a:pPr>
            <a:r>
              <a:t>Cautionary Trap — Epistemic &amp; Social Cohesion Erosion (All Lenses)  •  Phase: SS0 Status Quo / Continuous Hazard  •  Cost/Req: Triggered when Gate 1–2 Stunting &amp; Housing Despair meet Unfiltered Algorithmic Outrage.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48CAE4"/>
                </a:solidFill>
                <a:latin typeface="Arial"/>
              </a:defRPr>
            </a:pPr>
            <a:r>
              <a:t>▸ Preying on Disengagement &amp; Stunting:</a:t>
            </a:r>
          </a:p>
          <a:p>
            <a:pPr>
              <a:spcAft>
                <a:spcPts val="300"/>
              </a:spcAft>
              <a:defRPr sz="940" b="0" i="0">
                <a:solidFill>
                  <a:srgbClr val="ECF8F8"/>
                </a:solidFill>
                <a:latin typeface="Arial"/>
              </a:defRPr>
            </a:pPr>
            <a:r>
              <a:t>   Disinformation preys on early executive-function deficits (Gate 1) and economic alienation (Gate 3). While active in SS0, institutional trust drops to 40%, amplifying Exit 4 (Anti-Social &amp; Justice Burden) by +25% and imposing a 0.5% GDP (~NZD 2.0B/yr) transaction-cost drag across public health and climate infrastructure.</a:t>
            </a:r>
          </a:p>
          <a:p>
            <a:pPr>
              <a:spcAft>
                <a:spcPts val="50"/>
              </a:spcAft>
              <a:defRPr sz="970" b="1" i="0">
                <a:solidFill>
                  <a:srgbClr val="48CAE4"/>
                </a:solidFill>
                <a:latin typeface="Arial"/>
              </a:defRPr>
            </a:pPr>
            <a:r>
              <a:t>▸ The Finnish Inoculation Counter-Play (Monilukutaito):</a:t>
            </a:r>
          </a:p>
          <a:p>
            <a:pPr>
              <a:spcAft>
                <a:spcPts val="300"/>
              </a:spcAft>
              <a:defRPr sz="940" b="0" i="0">
                <a:solidFill>
                  <a:srgbClr val="ECF8F8"/>
                </a:solidFill>
                <a:latin typeface="Arial"/>
              </a:defRPr>
            </a:pPr>
            <a:r>
              <a:t>   Following Finland (#1 in European Media Literacy Index 2017–2026), couple B:01 (First 2000 Days Executive Function) + B:02 (Ages 12–14 Mentoring) + C:02 (Cognitive Flexibility) to teach critical thinking and psychological inoculation from early childhood. Neutralizes T:05, lifts Social Cohesion from 100.0 to 126.0, and locks in C:06 (#1 Global Trust Rating).</a:t>
            </a:r>
          </a:p>
          <a:p>
            <a:pPr>
              <a:spcAft>
                <a:spcPts val="350"/>
              </a:spcAft>
              <a:defRPr sz="880" b="0" i="1">
                <a:solidFill>
                  <a:srgbClr val="FFD166"/>
                </a:solidFill>
                <a:latin typeface="Arial"/>
              </a:defRPr>
            </a:pPr>
            <a:r>
              <a:t>💬 "Finland shares a 1,340 km border with the world's largest disinformation factory, yet leads the world in societal trust—because they vaccinated their children's minds in primary school instead of policing the wreckage at Parliament."</a:t>
            </a:r>
          </a:p>
          <a:p>
            <a:pPr>
              <a:spcAft>
                <a:spcPts val="0"/>
              </a:spcAft>
              <a:defRPr sz="900" b="1" i="0">
                <a:solidFill>
                  <a:srgbClr val="72EFDD"/>
                </a:solidFill>
                <a:latin typeface="Arial"/>
              </a:defRPr>
            </a:pPr>
            <a:r>
              <a:t>🔗 River Synergy Links: B:01, B:02, C:02, C:06, K:07</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Algorithmic Outrage &amp; Epistemic Polarisation Drag Function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η_outrage = +0.25 (+25% Exit 4 justice drag ≈ NZD 2B/yr) | NZ CPI Trust Slide: 91 → 81 (40% govt trust) vs. Finland 88/100 (#1 Monilukutaito)</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Foreign and algorithmic outrage mills exploit unbuffered childhood hardship (i_c = 0) and unmentored adolescents, inflating justice drag by +25% unless inoculated at Gates 1–2 by B:01 + B:02 + C:02 (Monilukutaito).</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Transparency International (2025). Corruption Perceptions Index &amp; Edelman Trust Barometer (Finland 88/100 vs. New Zealand 81/100 slide).</a:t>
            </a:r>
          </a:p>
          <a:p>
            <a:pPr>
              <a:spcAft>
                <a:spcPts val="200"/>
              </a:spcAft>
              <a:defRPr sz="840" b="0" i="0">
                <a:solidFill>
                  <a:srgbClr val="ECF8F8"/>
                </a:solidFill>
                <a:latin typeface="Arial"/>
              </a:defRPr>
            </a:pPr>
            <a:r>
              <a:t>• Finnish National Agency for Education (EDUFI, 2024). Monilukutaito (Multiliteracy) Cross-Curricular Epistemic Inoculation Framework.</a:t>
            </a:r>
          </a:p>
          <a:p>
            <a:pPr>
              <a:spcAft>
                <a:spcPts val="200"/>
              </a:spcAft>
              <a:defRPr sz="840" b="0" i="0">
                <a:solidFill>
                  <a:srgbClr val="ECF8F8"/>
                </a:solidFill>
                <a:latin typeface="Arial"/>
              </a:defRPr>
            </a:pPr>
            <a:r>
              <a:t>• Berentson-Shaw, J. (2018). A Matter of Fact: Talking Truth in a Post-Truth World. Bridget Williams Books (BWB Texts, ISBN 9781988545387).</a:t>
            </a:r>
          </a:p>
          <a:p>
            <a:pPr>
              <a:spcAft>
                <a:spcPts val="200"/>
              </a:spcAft>
              <a:defRPr sz="840" b="0" i="1">
                <a:solidFill>
                  <a:srgbClr val="90E0EF"/>
                </a:solidFill>
                <a:latin typeface="Arial"/>
              </a:defRPr>
            </a:pPr>
            <a:r>
              <a:t>🏛️ Empirical Anchor: OSI Media Literacy Index (2017–2026: Finland #1); Koi Tū Centre for Informed Futures (Gluckman &amp; Sridhar, 2023–2026); UNESCO/Sopra Steria Global Disinformation Cost Audit; Zak &amp; Knack (2001).; Berentson-Shaw (2018, BWB: A Matter of Fact).</a:t>
            </a:r>
          </a:p>
          <a:p>
            <a:pPr>
              <a:spcAft>
                <a:spcPts val="0"/>
              </a:spcAft>
              <a:defRPr sz="850" b="1" i="0">
                <a:solidFill>
                  <a:srgbClr val="48CAE4"/>
                </a:solidFill>
                <a:latin typeface="Arial"/>
              </a:defRPr>
            </a:pPr>
            <a:r>
              <a:t>💻 Monograph &amp; Code Hook: Doc 1B §5.5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T:05: Algorithmic Outrage &amp; Epistemic Polarisation Drag Function   (Slide 17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[T:06]  The Voodoo Supply-Side Mirage (The Coerced-Wage Trap)   —   MODULE 1B: CAUTIONARY TRAP &amp; SPOILER</a:t>
            </a:r>
          </a:p>
          <a:p>
            <a:pPr algn="l">
              <a:spcAft>
                <a:spcPts val="0"/>
              </a:spcAft>
              <a:defRPr sz="950" b="0" i="1">
                <a:solidFill>
                  <a:srgbClr val="FFD166"/>
                </a:solidFill>
                <a:latin typeface="Arial"/>
              </a:defRPr>
            </a:pPr>
            <a:r>
              <a:t>Cautionary Trap — Regressive Tax-Cut &amp; Wage-Coercion Dogma  •  Phase: All Gates — Macro Fiscal &amp; Labor Allocation  •  Cost/Req: Triggered when top-tier income/capital tax cuts are paired with benefit austerity &amp; wage de-unionization (1981 Reagan / 1991 ECA).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48CAE4"/>
                </a:solidFill>
                <a:latin typeface="Arial"/>
              </a:defRPr>
            </a:pPr>
            <a:r>
              <a:t>▸ First-Order Effect (The Asymmetric Incentive Contradiction):</a:t>
            </a:r>
          </a:p>
          <a:p>
            <a:pPr>
              <a:spcAft>
                <a:spcPts val="300"/>
              </a:spcAft>
              <a:defRPr sz="940" b="0" i="0">
                <a:solidFill>
                  <a:srgbClr val="ECF8F8"/>
                </a:solidFill>
                <a:latin typeface="Arial"/>
              </a:defRPr>
            </a:pPr>
            <a:r>
              <a:t>   Claims the wealthy only produce if given more money (top tax cuts &amp; untaxed capital gains) while wage-earners only work if given less (benefit cuts &amp; coercive precarity). Because elasticity e_ETI ≈ 0.20 is far below the Laffer peak, top cuts blow out sovereign debt (+NZD 6.5B/yr revenue hole) and bid up land prices (z_l).</a:t>
            </a:r>
          </a:p>
          <a:p>
            <a:pPr>
              <a:spcAft>
                <a:spcPts val="50"/>
              </a:spcAft>
              <a:defRPr sz="970" b="1" i="0">
                <a:solidFill>
                  <a:srgbClr val="48CAE4"/>
                </a:solidFill>
                <a:latin typeface="Arial"/>
              </a:defRPr>
            </a:pPr>
            <a:r>
              <a:t>▸ Second-Order Effect (Parental Time Strip &amp; Bargaining Collapse):</a:t>
            </a:r>
          </a:p>
          <a:p>
            <a:pPr>
              <a:spcAft>
                <a:spcPts val="300"/>
              </a:spcAft>
              <a:defRPr sz="940" b="0" i="0">
                <a:solidFill>
                  <a:srgbClr val="ECF8F8"/>
                </a:solidFill>
                <a:latin typeface="Arial"/>
              </a:defRPr>
            </a:pPr>
            <a:r>
              <a:t>   Coercive double-shift low-wage work strips parental time (tau_c) at Gates 1–2 and transfers 8.5% of GDP from labor to passive rentiers, pushing Vigintiles 1–6 into stunting (i_c = 0). Countered by B:05 (Guvenen Use-It-Or-Lose-It Split) + B:01 (In-Kind ECE) + B:03 (Youth Equity Floor).</a:t>
            </a:r>
          </a:p>
          <a:p>
            <a:pPr>
              <a:spcAft>
                <a:spcPts val="350"/>
              </a:spcAft>
              <a:defRPr sz="880" b="0" i="1">
                <a:solidFill>
                  <a:srgbClr val="FFD166"/>
                </a:solidFill>
                <a:latin typeface="Arial"/>
              </a:defRPr>
            </a:pPr>
            <a:r>
              <a:t>💬 "A curious dogma where millionaires require lavish carrots to lift a finger, yet nurses and factory workers require the stick of poverty to get out of bed."</a:t>
            </a:r>
          </a:p>
          <a:p>
            <a:pPr>
              <a:spcAft>
                <a:spcPts val="0"/>
              </a:spcAft>
              <a:defRPr sz="900" b="1" i="0">
                <a:solidFill>
                  <a:srgbClr val="72EFDD"/>
                </a:solidFill>
                <a:latin typeface="Arial"/>
              </a:defRPr>
            </a:pPr>
            <a:r>
              <a:t>🔗 River Synergy Links: B:01, B:03, B:05, B:06, H:04, H:05, T:04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Laffer Fiscal Deficit Identity &amp; Coerced-Labor Parental Time Crowd-Out</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Empirical ε_real ≈ 0.15–0.25 ≪ (1−τ)/τ ≈ 1.50 | Hope &amp; Limberg (2022): Δg_GDP ≈ 0.00%, Top-1% Share +0.8 pp | Coerced hours cut τ_c at Gate 1</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Because real top-earner elasticity (ε_real ≈ 0.20) is a fraction of the Laffer self-financing threshold, trickle-down cuts starve the fiscus and inflate land rents—while coercing low-wage parents into extra hours strips developmental time (τ_c) from Gate 1 children.</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Piketty, T., Saez, E., &amp; Stantcheva, S. (2014). Optimal taxation of top labor incomes: A tale of three elasticities. American Economic Journal: Economic Policy, 6(1), 230–271.</a:t>
            </a:r>
          </a:p>
          <a:p>
            <a:pPr>
              <a:spcAft>
                <a:spcPts val="200"/>
              </a:spcAft>
              <a:defRPr sz="840" b="0" i="0">
                <a:solidFill>
                  <a:srgbClr val="ECF8F8"/>
                </a:solidFill>
                <a:latin typeface="Arial"/>
              </a:defRPr>
            </a:pPr>
            <a:r>
              <a:t>• Straub, L., &amp; Werning, I. (2020). Positive long-run capital taxation: Chamley–Judd revisited. American Economic Review, 110(1), 86–119.</a:t>
            </a:r>
          </a:p>
          <a:p>
            <a:pPr>
              <a:spcAft>
                <a:spcPts val="200"/>
              </a:spcAft>
              <a:defRPr sz="840" b="0" i="0">
                <a:solidFill>
                  <a:srgbClr val="ECF8F8"/>
                </a:solidFill>
                <a:latin typeface="Arial"/>
              </a:defRPr>
            </a:pPr>
            <a:r>
              <a:t>• Hope, D., &amp; Limberg, J. (2022). The economic consequences of major tax cuts for the rich (50-year panel across 18 OECD countries). Socio-Economic Review, 20(2), 539–559.</a:t>
            </a:r>
          </a:p>
          <a:p>
            <a:pPr>
              <a:spcAft>
                <a:spcPts val="200"/>
              </a:spcAft>
              <a:defRPr sz="840" b="0" i="0">
                <a:solidFill>
                  <a:srgbClr val="ECF8F8"/>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1">
                <a:solidFill>
                  <a:srgbClr val="90E0EF"/>
                </a:solidFill>
                <a:latin typeface="Arial"/>
              </a:defRPr>
            </a:pPr>
            <a:r>
              <a:t>🏛️ Empirical Anchor: Piketty, Saez, &amp; Stantcheva (2014, AEJ: Economic Policy); Straub &amp; Werning (2020, AER: Chamley-Judd refuted); Guvenen et al. (2023, QJE); Hope &amp; Limberg (2022, Socio-Economic Review: 50-year audit of 18 OECD nations); Stockman (1981, The Atlantic).</a:t>
            </a:r>
          </a:p>
          <a:p>
            <a:pPr>
              <a:spcAft>
                <a:spcPts val="0"/>
              </a:spcAft>
              <a:defRPr sz="850" b="1" i="0">
                <a:solidFill>
                  <a:srgbClr val="48CAE4"/>
                </a:solidFill>
                <a:latin typeface="Arial"/>
              </a:defRPr>
            </a:pPr>
            <a:r>
              <a:t>💻 Monograph &amp; Code Hook: Doc 1A §3.7 &amp; Doc 1B §4.2 • Rules: rules/T_06_tutorial.md</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T:06: Laffer Fiscal Deficit Identity &amp; Coerced-Labor Parental Time Crowd-Out   (Slide 18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[C:01]  The Bilal–Känzig Shock (USD 1,200/tCO2e Reality Check)   —   MODULE 2: CLIMATE, COHESION &amp; RESILIENCE</a:t>
            </a:r>
          </a:p>
          <a:p>
            <a:pPr algn="l">
              <a:spcAft>
                <a:spcPts val="0"/>
              </a:spcAft>
              <a:defRPr sz="950" b="0" i="1">
                <a:solidFill>
                  <a:srgbClr val="FFD166"/>
                </a:solidFill>
                <a:latin typeface="Arial"/>
              </a:defRPr>
            </a:pPr>
            <a:r>
              <a:t>Global Environment — World Enchantment  •  Phase: Every Turn (Accelerating Change Clock)  •  Cost/Req: Triggered automatically by Business-As-Usual turns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48CAE4"/>
                </a:solidFill>
                <a:latin typeface="Arial"/>
              </a:defRPr>
            </a:pPr>
            <a:r>
              <a:t>▸ Order of Magnitude:</a:t>
            </a:r>
          </a:p>
          <a:p>
            <a:pPr>
              <a:spcAft>
                <a:spcPts val="300"/>
              </a:spcAft>
              <a:defRPr sz="940" b="0" i="0">
                <a:solidFill>
                  <a:srgbClr val="ECF8F8"/>
                </a:solidFill>
                <a:latin typeface="Arial"/>
              </a:defRPr>
            </a:pPr>
            <a:r>
              <a:t>   Reveal the true macroeconomic damage function: +1°C of Global Warming reduces World GDP by &gt;20% and inflicts a &gt;30% Present Welfare Loss. Set the true Social Cost of Carbon to USD 1,200+ per ton of CO2e.</a:t>
            </a:r>
          </a:p>
          <a:p>
            <a:pPr>
              <a:spcAft>
                <a:spcPts val="50"/>
              </a:spcAft>
              <a:defRPr sz="970" b="1" i="0">
                <a:solidFill>
                  <a:srgbClr val="48CAE4"/>
                </a:solidFill>
                <a:latin typeface="Arial"/>
              </a:defRPr>
            </a:pPr>
            <a:r>
              <a:t>▸ Asymmetric Impact:</a:t>
            </a:r>
          </a:p>
          <a:p>
            <a:pPr>
              <a:spcAft>
                <a:spcPts val="300"/>
              </a:spcAft>
              <a:defRPr sz="940" b="0" i="0">
                <a:solidFill>
                  <a:srgbClr val="ECF8F8"/>
                </a:solidFill>
                <a:latin typeface="Arial"/>
              </a:defRPr>
            </a:pPr>
            <a:r>
              <a:t>   Conventional Thinkers relying on 'Country-Level Temperature' models or deferred maintenance take 3x Unbuffered Extreme Event Damage. IGWelfare Players gain Double Value on B:07 (ACC Forward Accounting) and C:04 (Coastal &amp; Grid Armor).</a:t>
            </a:r>
          </a:p>
          <a:p>
            <a:pPr>
              <a:spcAft>
                <a:spcPts val="350"/>
              </a:spcAft>
              <a:defRPr sz="880" b="0" i="1">
                <a:solidFill>
                  <a:srgbClr val="FFD166"/>
                </a:solidFill>
                <a:latin typeface="Arial"/>
              </a:defRPr>
            </a:pPr>
            <a:r>
              <a:t>💬 "Economists spent decades looking at local weather and guessing climate change would cost a percent or two. Then they looked at global extreme events—and realized the board itself was on fire."</a:t>
            </a:r>
          </a:p>
          <a:p>
            <a:pPr>
              <a:spcAft>
                <a:spcPts val="0"/>
              </a:spcAft>
              <a:defRPr sz="900" b="1" i="0">
                <a:solidFill>
                  <a:srgbClr val="72EFDD"/>
                </a:solidFill>
                <a:latin typeface="Arial"/>
              </a:defRPr>
            </a:pPr>
            <a:r>
              <a:t>🔗 River Synergy Links: B:06, B:07, C:02, C:04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Bilal–Känzig Macroeconomic Temperature Shock &amp; Capital Destruction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+1°C global temperature shock reduces unarmored GDP by −12% peak and destroys 2%–5% of unbuffered physical capital K_t per decade</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Macroeconomic climate damage is 6× larger than legacy DICE estimates (USD 1,200/tCO₂e); leaving infrastructure unarmored exposes both physical capital and Gate 1–2 whānau to compounding cyclone/flood shocks.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Bilal, A., &amp; Känzig, D. R. (2024). The macroeconomic impact of climate change: Global vs. local temperature. NBER Working Paper No. 32450.</a:t>
            </a:r>
          </a:p>
          <a:p>
            <a:pPr>
              <a:spcAft>
                <a:spcPts val="200"/>
              </a:spcAft>
              <a:defRPr sz="840" b="0" i="0">
                <a:solidFill>
                  <a:srgbClr val="ECF8F8"/>
                </a:solidFill>
                <a:latin typeface="Arial"/>
              </a:defRPr>
            </a:pPr>
            <a:r>
              <a:t>• Weitzman, M. L. (2009). On modeling and interpreting the economics of catastrophic climate change. Review of Economics and Statistics, 91(1), 1–19.</a:t>
            </a:r>
          </a:p>
          <a:p>
            <a:pPr>
              <a:spcAft>
                <a:spcPts val="200"/>
              </a:spcAft>
              <a:defRPr sz="840" b="0" i="1">
                <a:solidFill>
                  <a:srgbClr val="90E0EF"/>
                </a:solidFill>
                <a:latin typeface="Arial"/>
              </a:defRPr>
            </a:pPr>
            <a:r>
              <a:t>🏛️ Empirical Anchor: Bilal &amp; Känzig (2024) NBER Working Paper on the Macroeconomic Impact of Climate Change.</a:t>
            </a:r>
          </a:p>
          <a:p>
            <a:pPr>
              <a:spcAft>
                <a:spcPts val="0"/>
              </a:spcAft>
              <a:defRPr sz="850" b="1" i="0">
                <a:solidFill>
                  <a:srgbClr val="48CAE4"/>
                </a:solidFill>
                <a:latin typeface="Arial"/>
              </a:defRPr>
            </a:pPr>
            <a:r>
              <a:t>💻 Monograph &amp; Code Hook: Doc 1B §5.1 • Doc 2: ClimateDamage_BilalKanzig.m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C:01: Bilal–Känzig Macroeconomic Temperature Shock &amp; Capital Destruction   (Slide 19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[C:02]  Cognitive Flexibility (The Ultimate Resilient Asset)   —   MODULE 2: CLIMATE, COHESION &amp; RESILIENCE</a:t>
            </a:r>
          </a:p>
          <a:p>
            <a:pPr algn="l">
              <a:spcAft>
                <a:spcPts val="0"/>
              </a:spcAft>
              <a:defRPr sz="950" b="0" i="1">
                <a:solidFill>
                  <a:srgbClr val="FFD166"/>
                </a:solidFill>
                <a:latin typeface="Arial"/>
              </a:defRPr>
            </a:pPr>
            <a:r>
              <a:t>Continuous Aura — Human Capability Shield  •  Phase: SS1 -&gt; SS2  •  Cost/Req: Compress Cohort Stunting to 1.5% via B:01 (First 2000 Days) + B:02 (Tuakana–Teina / Montessori)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48CAE4"/>
                </a:solidFill>
                <a:latin typeface="Arial"/>
              </a:defRPr>
            </a:pPr>
            <a:r>
              <a:t>▸ Adaptive Pivot:</a:t>
            </a:r>
          </a:p>
          <a:p>
            <a:pPr>
              <a:spcAft>
                <a:spcPts val="300"/>
              </a:spcAft>
              <a:defRPr sz="940" b="0" i="0">
                <a:solidFill>
                  <a:srgbClr val="ECF8F8"/>
                </a:solidFill>
                <a:latin typeface="Arial"/>
              </a:defRPr>
            </a:pPr>
            <a:r>
              <a:t>   Attach to your 65.0%+ Thriving Adult Cohort. Whenever an Accelerating Change or Supply-Chain Shock card enters play, your workforce adapts: prevent all unemployment shock damage to Rangatahi (Ages 12–14) and convert the crisis into +1 Frontier Clean-Tech Innovation.</a:t>
            </a:r>
          </a:p>
          <a:p>
            <a:pPr>
              <a:spcAft>
                <a:spcPts val="350"/>
              </a:spcAft>
              <a:defRPr sz="880" b="0" i="1">
                <a:solidFill>
                  <a:srgbClr val="FFD166"/>
                </a:solidFill>
                <a:latin typeface="Arial"/>
              </a:defRPr>
            </a:pPr>
            <a:r>
              <a:t>💬 "Sea walls can crack and spreadsheets go obsolete overnight. A generation raised with executive function, creative agency, and whanaungatanga can rebuild the ship while it's flying."</a:t>
            </a:r>
          </a:p>
          <a:p>
            <a:pPr>
              <a:spcAft>
                <a:spcPts val="0"/>
              </a:spcAft>
              <a:defRPr sz="900" b="1" i="0">
                <a:solidFill>
                  <a:srgbClr val="72EFDD"/>
                </a:solidFill>
                <a:latin typeface="Arial"/>
              </a:defRPr>
            </a:pPr>
            <a:r>
              <a:t>🔗 River Synergy Links: B:01, B:02, C:01, C:03, T:05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Nelson–Phelps–Schultz Adaptive Skill &amp; Epistemic Immunity Return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Attaches to 65.0%+ Thriving Cohort | +1 Productivity under technological/climate disruption | Full immunity to T:05 disinformation drag</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General cognitive flexibility and Finnish-style multiliteracy (Monilukutaito) have their highest marginal return precisely when technological and climate regimes are shifting rapidly.</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Nelson, R. R., &amp; Phelps, E. S. (1966). Investment in humans, technological diffusion, and economic growth. American Economic Review, 56(1/2), 69–75.</a:t>
            </a:r>
          </a:p>
          <a:p>
            <a:pPr>
              <a:spcAft>
                <a:spcPts val="200"/>
              </a:spcAft>
              <a:defRPr sz="840" b="0" i="0">
                <a:solidFill>
                  <a:srgbClr val="ECF8F8"/>
                </a:solidFill>
                <a:latin typeface="Arial"/>
              </a:defRPr>
            </a:pPr>
            <a:r>
              <a:t>• Schultz, T. W. (1975). The value of the ability to deal with disequilibria. Journal of Economic Literature, 13(3), 827–846.</a:t>
            </a:r>
          </a:p>
          <a:p>
            <a:pPr>
              <a:spcAft>
                <a:spcPts val="200"/>
              </a:spcAft>
              <a:defRPr sz="840" b="0" i="0">
                <a:solidFill>
                  <a:srgbClr val="ECF8F8"/>
                </a:solidFill>
                <a:latin typeface="Arial"/>
              </a:defRPr>
            </a:pPr>
            <a:r>
              <a:t>• Berentson-Shaw, J. (2018). A Matter of Fact: Talking Truth in a Post-Truth World. Bridget Williams Books (BWB Texts, ISBN 9781988545387).</a:t>
            </a:r>
          </a:p>
          <a:p>
            <a:pPr>
              <a:spcAft>
                <a:spcPts val="200"/>
              </a:spcAft>
              <a:defRPr sz="840" b="0" i="1">
                <a:solidFill>
                  <a:srgbClr val="90E0EF"/>
                </a:solidFill>
                <a:latin typeface="Arial"/>
              </a:defRPr>
            </a:pPr>
            <a:r>
              <a:t>🏛️ Empirical Anchor: Heckman &amp; Kautz (2012); Lillard (2005); Document 1A Part II Lens 1.; Berentson-Shaw (2018, BWB: A Matter of Fact).</a:t>
            </a:r>
          </a:p>
          <a:p>
            <a:pPr>
              <a:spcAft>
                <a:spcPts val="0"/>
              </a:spcAft>
              <a:defRPr sz="850" b="1" i="0">
                <a:solidFill>
                  <a:srgbClr val="48CAE4"/>
                </a:solidFill>
                <a:latin typeface="Arial"/>
              </a:defRPr>
            </a:pPr>
            <a:r>
              <a:t>💻 Monograph &amp; Code Hook: Doc 1B §2.5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C:02: Nelson–Phelps–Schultz Adaptive Skill &amp; Epistemic Immunity Return   (Slide 20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[C:03]  Project K Wilderness &amp; Kura-ā-Iwi Resilience   —   MODULE 2: CLIMATE, COHESION &amp; RESILIENCE</a:t>
            </a:r>
          </a:p>
          <a:p>
            <a:pPr algn="l">
              <a:spcAft>
                <a:spcPts val="0"/>
              </a:spcAft>
              <a:defRPr sz="950" b="0" i="1">
                <a:solidFill>
                  <a:srgbClr val="FFD166"/>
                </a:solidFill>
                <a:latin typeface="Arial"/>
              </a:defRPr>
            </a:pPr>
            <a:r>
              <a:t>Cohort Becoming — Gate 2 Adaptation Training (Ages 12–14)  •  Phase: Gate 2 (Ages 12-14)  •  Cost/Req: Scale Adolescent Mentoring from 17.3% to 65.0%+ of Years 8–10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48CAE4"/>
                </a:solidFill>
                <a:latin typeface="Arial"/>
              </a:defRPr>
            </a:pPr>
            <a:r>
              <a:t>▸ Grit &amp; Kinship:</a:t>
            </a:r>
          </a:p>
          <a:p>
            <a:pPr>
              <a:spcAft>
                <a:spcPts val="300"/>
              </a:spcAft>
              <a:defRPr sz="940" b="0" i="0">
                <a:solidFill>
                  <a:srgbClr val="ECF8F8"/>
                </a:solidFill>
                <a:latin typeface="Arial"/>
              </a:defRPr>
            </a:pPr>
            <a:r>
              <a:t>   Combine Graeme Dingle Foundation (Project K &amp; Stars), Kura Kaupapa Māori / Kura-ā-Iwi, Pasifika Tuakana Academies, and Montessori Erdkinder. When family job loss or climate displacement strikes, Teina mentees take 0 Trajectory Damage, while Tuakana mentors gain +2 Self-Regulation, +2 Manaakitanga, and +2 Real-World Problem Solving.</a:t>
            </a:r>
          </a:p>
          <a:p>
            <a:pPr>
              <a:spcAft>
                <a:spcPts val="350"/>
              </a:spcAft>
              <a:defRPr sz="880" b="0" i="1">
                <a:solidFill>
                  <a:srgbClr val="FFD166"/>
                </a:solidFill>
                <a:latin typeface="Arial"/>
              </a:defRPr>
            </a:pPr>
            <a:r>
              <a:t>💬 "Resilience isn't taught in a cram-school Hagwon. It is forged in the wilderness, on the marae, and in the workshop—when a thirteen-year-old discovers their community needs their hands and their voice."</a:t>
            </a:r>
          </a:p>
          <a:p>
            <a:pPr>
              <a:spcAft>
                <a:spcPts val="0"/>
              </a:spcAft>
              <a:defRPr sz="900" b="1" i="0">
                <a:solidFill>
                  <a:srgbClr val="72EFDD"/>
                </a:solidFill>
                <a:latin typeface="Arial"/>
              </a:defRPr>
            </a:pPr>
            <a:r>
              <a:t>🔗 River Synergy Links: B:02, C:02, E:02, K:01</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Polycentric Marae &amp; School Microgrid Civil-Defence Resilience</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CapEx = NZD 1.2B–1.5B across 2,500 Schools + 800 Marae | Frees NZD 250M/yr into classroom teaching/mentoring | −0.4 MtCO₂e/yr</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Equipping every school and marae with commercial solar + BESS microgrids simultaneously funds Gate 2 Tuakana–Teina mentoring in peacetime and guarantees civil-defence shelter during grid blackouts.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Ostrom, E. (2010). Polycentric systems for coping with collective action and global environmental change. Global Environmental Change, 20(4), 550–557.</a:t>
            </a:r>
          </a:p>
          <a:p>
            <a:pPr>
              <a:spcAft>
                <a:spcPts val="200"/>
              </a:spcAft>
              <a:defRPr sz="840" b="0" i="0">
                <a:solidFill>
                  <a:srgbClr val="ECF8F8"/>
                </a:solidFill>
                <a:latin typeface="Arial"/>
              </a:defRPr>
            </a:pPr>
            <a:r>
              <a:t>• Kenny, C., &amp; Phibbs, S. (2015). A Māori love story: Community-led disaster management on Marae following the Christchurch earthquakes. International Journal of Disaster Risk Reduction, 14, 46–55.</a:t>
            </a:r>
          </a:p>
          <a:p>
            <a:pPr>
              <a:spcAft>
                <a:spcPts val="200"/>
              </a:spcAft>
              <a:defRPr sz="840" b="0" i="1">
                <a:solidFill>
                  <a:srgbClr val="90E0EF"/>
                </a:solidFill>
                <a:latin typeface="Arial"/>
              </a:defRPr>
            </a:pPr>
            <a:r>
              <a:t>🏛️ Empirical Anchor: Graeme Dingle Foundation Research &amp; Evaluation Summary (2024-2025); Gluckman (2011).</a:t>
            </a:r>
          </a:p>
          <a:p>
            <a:pPr>
              <a:spcAft>
                <a:spcPts val="0"/>
              </a:spcAft>
              <a:defRPr sz="850" b="1" i="0">
                <a:solidFill>
                  <a:srgbClr val="48CAE4"/>
                </a:solidFill>
                <a:latin typeface="Arial"/>
              </a:defRPr>
            </a:pPr>
            <a:r>
              <a:t>💻 Monograph &amp; Code Hook: Doc 1B §5.3 • Doc 2: QEA_2026.m (Sector 2: Schools &amp; Marae)</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C:03: Polycentric Marae &amp; School Microgrid Civil-Defence Resilience   (Slide 21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[C:04]  Coastal &amp; Grid Armor (The 2050 Ring-Fenced Pool)   —   MODULE 2: CLIMATE, COHESION &amp; RESILIENCE</a:t>
            </a:r>
          </a:p>
          <a:p>
            <a:pPr algn="l">
              <a:spcAft>
                <a:spcPts val="0"/>
              </a:spcAft>
              <a:defRPr sz="950" b="0" i="1">
                <a:solidFill>
                  <a:srgbClr val="FFD166"/>
                </a:solidFill>
                <a:latin typeface="Arial"/>
              </a:defRPr>
            </a:pPr>
            <a:r>
              <a:t>Legendary Infrastructure — Rear T-Foil Stabilizer  •  Phase: SS2 (2050 Protocol)  •  Cost/Req: 50% of Post-Breakeven Fiscal Surplus (NZD 11.5B–14.9B per Cohort Wave via B:06)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48CAE4"/>
                </a:solidFill>
                <a:latin typeface="Arial"/>
              </a:defRPr>
            </a:pPr>
            <a:r>
              <a:t>▸ 1.65x Infrastructure Multiplier:</a:t>
            </a:r>
          </a:p>
          <a:p>
            <a:pPr>
              <a:spcAft>
                <a:spcPts val="300"/>
              </a:spcAft>
              <a:defRPr sz="940" b="0" i="0">
                <a:solidFill>
                  <a:srgbClr val="ECF8F8"/>
                </a:solidFill>
                <a:latin typeface="Arial"/>
              </a:defRPr>
            </a:pPr>
            <a:r>
              <a:t>   For every 1 Resource locked into this card via the 2050 50/50 Protocol (B:06), generate 1.65x in Resilient Grids, Coastal Adaptation, School/Marae Microgrids, and Core Health.</a:t>
            </a:r>
          </a:p>
          <a:p>
            <a:pPr>
              <a:spcAft>
                <a:spcPts val="50"/>
              </a:spcAft>
              <a:defRPr sz="970" b="1" i="0">
                <a:solidFill>
                  <a:srgbClr val="48CAE4"/>
                </a:solidFill>
                <a:latin typeface="Arial"/>
              </a:defRPr>
            </a:pPr>
            <a:r>
              <a:t>▸ Sovereign Credit Shield:</a:t>
            </a:r>
          </a:p>
          <a:p>
            <a:pPr>
              <a:spcAft>
                <a:spcPts val="300"/>
              </a:spcAft>
              <a:defRPr sz="940" b="0" i="0">
                <a:solidFill>
                  <a:srgbClr val="ECF8F8"/>
                </a:solidFill>
                <a:latin typeface="Arial"/>
              </a:defRPr>
            </a:pPr>
            <a:r>
              <a:t>   Because the other 50% of your surplus retired NZD 17.8B–21.9B of Crown Debt, lower all green-build borrowing costs by 60 basis points. Your nation is now immune to Infrastructure Failure Cascades (such as the 2026 Moa Point wastewater collapse).</a:t>
            </a:r>
          </a:p>
          <a:p>
            <a:pPr>
              <a:spcAft>
                <a:spcPts val="350"/>
              </a:spcAft>
              <a:defRPr sz="880" b="0" i="1">
                <a:solidFill>
                  <a:srgbClr val="FFD166"/>
                </a:solidFill>
                <a:latin typeface="Arial"/>
              </a:defRPr>
            </a:pPr>
            <a:r>
              <a:t>💬 "Displacement-mode governments borrow to pay for prisons and let the power grid and seawalls rot. Foil-borne nations cure the social drag and armor the coast with the surplus."</a:t>
            </a:r>
          </a:p>
          <a:p>
            <a:pPr>
              <a:spcAft>
                <a:spcPts val="0"/>
              </a:spcAft>
              <a:defRPr sz="900" b="1" i="0">
                <a:solidFill>
                  <a:srgbClr val="72EFDD"/>
                </a:solidFill>
                <a:latin typeface="Arial"/>
              </a:defRPr>
            </a:pPr>
            <a:r>
              <a:t>🔗 River Synergy Links: B:06, C:01, E:01, E:03, H:05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1.65× Ring-Fenced Sovereign Infrastructure &amp; Coastal Armor Pool</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1.65× Ring-Fenced Infrastructure Pool (funded via B:06 50/50 Rule) | Cuts C:01 physical capital depreciation spikes by 75%</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Pre-funding a 1.65× ring-fenced resilience pool out of B:06 surpluses armors grids, water catchments, and coastal corridors before cyclones strike, avoiding post-disaster debt spirals.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Hallegatte, S., Rentschler, J., &amp; Rozenberg, J. (2019). Lifelines: The Resilient Infrastructure Opportunity. World Bank Publications.</a:t>
            </a:r>
          </a:p>
          <a:p>
            <a:pPr>
              <a:spcAft>
                <a:spcPts val="200"/>
              </a:spcAft>
              <a:defRPr sz="840" b="0" i="0">
                <a:solidFill>
                  <a:srgbClr val="ECF8F8"/>
                </a:solidFill>
                <a:latin typeface="Arial"/>
              </a:defRPr>
            </a:pPr>
            <a:r>
              <a:t>• New Zealand Infrastructure Commission / Te Waihanga (2025). Rautaki Hanganga o Aotearoa: 30-Year Infrastructure Strategy.</a:t>
            </a:r>
          </a:p>
          <a:p>
            <a:pPr>
              <a:spcAft>
                <a:spcPts val="200"/>
              </a:spcAft>
              <a:defRPr sz="840" b="0" i="1">
                <a:solidFill>
                  <a:srgbClr val="90E0EF"/>
                </a:solidFill>
                <a:latin typeface="Arial"/>
              </a:defRPr>
            </a:pPr>
            <a:r>
              <a:t>🏛️ Empirical Anchor: Te Waihanga / NZ Infrastructure Commission National Infrastructure Plan (2026); Document 1A Executive Summary Section 2.5.</a:t>
            </a:r>
          </a:p>
          <a:p>
            <a:pPr>
              <a:spcAft>
                <a:spcPts val="0"/>
              </a:spcAft>
              <a:defRPr sz="850" b="1" i="0">
                <a:solidFill>
                  <a:srgbClr val="48CAE4"/>
                </a:solidFill>
                <a:latin typeface="Arial"/>
              </a:defRPr>
            </a:pPr>
            <a:r>
              <a:t>💻 Monograph &amp; Code Hook: Doc 1B §5.4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C:04: 1.65× Ring-Fenced Sovereign Infrastructure &amp; Coastal Armor Pool   (Slide 22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[C:05]  The 4-Region Just-Transition Compass (Income × Geography)   —   MODULE 2: CLIMATE, COHESION &amp; RESILIENCE</a:t>
            </a:r>
          </a:p>
          <a:p>
            <a:pPr algn="l">
              <a:spcAft>
                <a:spcPts val="0"/>
              </a:spcAft>
              <a:defRPr sz="950" b="0" i="1">
                <a:solidFill>
                  <a:srgbClr val="FFD166"/>
                </a:solidFill>
                <a:latin typeface="Arial"/>
              </a:defRPr>
            </a:pPr>
            <a:r>
              <a:t>Artifact — Spatial Balancing Engine  •  Phase: SS1 -&gt; SS2  •  Cost/Req: Replace 'One-Size-Fits-All' National Rules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48CAE4"/>
                </a:solidFill>
                <a:latin typeface="Arial"/>
              </a:defRPr>
            </a:pPr>
            <a:r>
              <a:t>▸ Regional Solidarity:</a:t>
            </a:r>
          </a:p>
          <a:p>
            <a:pPr>
              <a:spcAft>
                <a:spcPts val="300"/>
              </a:spcAft>
              <a:defRPr sz="940" b="0" i="0">
                <a:solidFill>
                  <a:srgbClr val="ECF8F8"/>
                </a:solidFill>
                <a:latin typeface="Arial"/>
              </a:defRPr>
            </a:pPr>
            <a:r>
              <a:t>   Recognize that Rural (16% pop) and Small Provincial Towns (24% pop) carry 2.7x to 2.8x the mandatory transport and fuel burden of metro cities. Grant Rural and Small-town players immediate Geographic Cost-of-Living Relief and universal in-kind ECE (+14.28% and +13.66% long-run welfare), while Large Cities (25.9%) and Auckland (34.1%) receive -7.5% to -10.5% Housing Cooling and retain their 3,550/yr Green-Collar Graduates.</a:t>
            </a:r>
          </a:p>
          <a:p>
            <a:pPr>
              <a:spcAft>
                <a:spcPts val="50"/>
              </a:spcAft>
              <a:defRPr sz="970" b="1" i="0">
                <a:solidFill>
                  <a:srgbClr val="48CAE4"/>
                </a:solidFill>
                <a:latin typeface="Arial"/>
              </a:defRPr>
            </a:pPr>
            <a:r>
              <a:t>▸ Mutiny Shield:</a:t>
            </a:r>
          </a:p>
          <a:p>
            <a:pPr>
              <a:spcAft>
                <a:spcPts val="300"/>
              </a:spcAft>
              <a:defRPr sz="940" b="0" i="0">
                <a:solidFill>
                  <a:srgbClr val="ECF8F8"/>
                </a:solidFill>
                <a:latin typeface="Arial"/>
              </a:defRPr>
            </a:pPr>
            <a:r>
              <a:t>   Opponents cannot play 'Urban–Rural Divide' to block your climate transition.</a:t>
            </a:r>
          </a:p>
          <a:p>
            <a:pPr>
              <a:spcAft>
                <a:spcPts val="350"/>
              </a:spcAft>
              <a:defRPr sz="880" b="0" i="1">
                <a:solidFill>
                  <a:srgbClr val="FFD166"/>
                </a:solidFill>
                <a:latin typeface="Arial"/>
              </a:defRPr>
            </a:pPr>
            <a:r>
              <a:t>💬 "A climate transition that punishes a rural nurse for driving to work while rewarding an Auckland landlord for sitting on dirt isn't a transition—it's a mutiny waiting to happen."</a:t>
            </a:r>
          </a:p>
          <a:p>
            <a:pPr>
              <a:spcAft>
                <a:spcPts val="0"/>
              </a:spcAft>
              <a:defRPr sz="900" b="1" i="0">
                <a:solidFill>
                  <a:srgbClr val="72EFDD"/>
                </a:solidFill>
                <a:latin typeface="Arial"/>
              </a:defRPr>
            </a:pPr>
            <a:r>
              <a:t>🔗 River Synergy Links: B:01, B:05, E:02, K:03</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Regional Transport &amp; Ag-Machinery Electrification Incidence</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Cancels 2.7×–2.8× rural transport fuel penalty | Paired with 19,000+ farm-pond floating solar arrays | Saves NZD 9.8B/yr in imported fuel</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Because rural households and farmers drive 2.8× more kilometers and run heavy machinery, replacing imported diesel with farm-pond and rooftop solar electricity delivers the largest proportional cost-of-living boost to provincial Aotearoa.</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Rewiring Aotearoa (2025). Electric Farms &amp; Rural Transport Transition: Empirical Cost and Emissions Analysis for New Zealand Primary Producers.</a:t>
            </a:r>
          </a:p>
          <a:p>
            <a:pPr>
              <a:spcAft>
                <a:spcPts val="200"/>
              </a:spcAft>
              <a:defRPr sz="840" b="0" i="0">
                <a:solidFill>
                  <a:srgbClr val="ECF8F8"/>
                </a:solidFill>
                <a:latin typeface="Arial"/>
              </a:defRPr>
            </a:pPr>
            <a:r>
              <a:t>• Stats NZ (2025). Household Economic Survey: Regional Expenditure on Transport Energy by Urban/Rural Classification.</a:t>
            </a:r>
          </a:p>
          <a:p>
            <a:pPr>
              <a:spcAft>
                <a:spcPts val="200"/>
              </a:spcAft>
              <a:defRPr sz="840" b="0" i="1">
                <a:solidFill>
                  <a:srgbClr val="90E0EF"/>
                </a:solidFill>
                <a:latin typeface="Arial"/>
              </a:defRPr>
            </a:pPr>
            <a:r>
              <a:t>🏛️ Empirical Anchor: Labrousse &amp; Perdereau (2026); Document 1A Part I Section 3 &amp; Part IV Section 1.</a:t>
            </a:r>
          </a:p>
          <a:p>
            <a:pPr>
              <a:spcAft>
                <a:spcPts val="0"/>
              </a:spcAft>
              <a:defRPr sz="850" b="1" i="0">
                <a:solidFill>
                  <a:srgbClr val="48CAE4"/>
                </a:solidFill>
                <a:latin typeface="Arial"/>
              </a:defRPr>
            </a:pPr>
            <a:r>
              <a:t>💻 Monograph &amp; Code Hook: Doc 1B §5.2 • Doc 2: QEA_2026.m (Sector 5: Transport &amp; Farms)</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C:05: Regional Transport &amp; Ag-Machinery Electrification Incidence   (Slide 23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[C:06]  Social Credit Rating: 126.0 (The High-Trust Lifeboat)   —   MODULE 2: CLIMATE, COHESION &amp; RESILIENCE</a:t>
            </a:r>
          </a:p>
          <a:p>
            <a:pPr algn="l">
              <a:spcAft>
                <a:spcPts val="0"/>
              </a:spcAft>
              <a:defRPr sz="950" b="0" i="1">
                <a:solidFill>
                  <a:srgbClr val="FFD166"/>
                </a:solidFill>
                <a:latin typeface="Arial"/>
              </a:defRPr>
            </a:pPr>
            <a:r>
              <a:t>Mythic Aura — National Integrity &amp; Cohesion  •  Phase: SS2 Convergence  •  Cost/Req: Reverse the slide from #1 to #4 (81/100 CPI) by closing the Deprivation Pipeline (B:01), ending High-Churn Brain Drain (B:03), and taxing Passive Land Shelters (B:05).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48CAE4"/>
                </a:solidFill>
                <a:latin typeface="Arial"/>
              </a:defRPr>
            </a:pPr>
            <a:r>
              <a:t>▸ High-Trust Dividend:</a:t>
            </a:r>
          </a:p>
          <a:p>
            <a:pPr>
              <a:spcAft>
                <a:spcPts val="300"/>
              </a:spcAft>
              <a:defRPr sz="940" b="0" i="0">
                <a:solidFill>
                  <a:srgbClr val="ECF8F8"/>
                </a:solidFill>
                <a:latin typeface="Arial"/>
              </a:defRPr>
            </a:pPr>
            <a:r>
              <a:t>   Lift Aotearoa's Social Cohesion Index from 100.0 to 126.0, surpassing Denmark (89), Finland (88), and Singapore (84).</a:t>
            </a:r>
          </a:p>
          <a:p>
            <a:pPr>
              <a:spcAft>
                <a:spcPts val="50"/>
              </a:spcAft>
              <a:defRPr sz="970" b="1" i="0">
                <a:solidFill>
                  <a:srgbClr val="48CAE4"/>
                </a:solidFill>
                <a:latin typeface="Arial"/>
              </a:defRPr>
            </a:pPr>
            <a:r>
              <a:t>▸ Why Resilience Is Everything:</a:t>
            </a:r>
          </a:p>
          <a:p>
            <a:pPr>
              <a:spcAft>
                <a:spcPts val="300"/>
              </a:spcAft>
              <a:defRPr sz="940" b="0" i="0">
                <a:solidFill>
                  <a:srgbClr val="ECF8F8"/>
                </a:solidFill>
                <a:latin typeface="Arial"/>
              </a:defRPr>
            </a:pPr>
            <a:r>
              <a:t>   In a world of accelerating global shocks, high institutional trust acts as Economic Infrastructure—slashing friction in trade, investment, and emergency coordination.</a:t>
            </a:r>
          </a:p>
          <a:p>
            <a:pPr>
              <a:spcAft>
                <a:spcPts val="350"/>
              </a:spcAft>
              <a:defRPr sz="880" b="0" i="1">
                <a:solidFill>
                  <a:srgbClr val="FFD166"/>
                </a:solidFill>
                <a:latin typeface="Arial"/>
              </a:defRPr>
            </a:pPr>
            <a:r>
              <a:t>💬 "Resilience is not some mere thing—it is everything needed to survive in a world of accelerating change. And the bedrock of resilience is knowing your neighbor, your whānau, and your country won't leave you behind."</a:t>
            </a:r>
          </a:p>
          <a:p>
            <a:pPr>
              <a:spcAft>
                <a:spcPts val="0"/>
              </a:spcAft>
              <a:defRPr sz="900" b="1" i="0">
                <a:solidFill>
                  <a:srgbClr val="72EFDD"/>
                </a:solidFill>
                <a:latin typeface="Arial"/>
              </a:defRPr>
            </a:pPr>
            <a:r>
              <a:t>🔗 River Synergy Links: B:01, B:03, B:05, B:09, K:07</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Endogenous Social Cohesion &amp; Institutional Trust Trajectory</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Trajectory: 100.0 (SS0 Baseline) → 114.8 (SS1 Year-5) → 126.0 (SS2 Victory — Surpassing Finland 88 &amp; Denmark 90 on Global Trust)</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Social trust is not an exogenous cultural accident; it is an endogenous state variable generated by universal early care (B:01), mentoring (B:02), fair capital taxation (B:05), and Te Tiriti partnership (K:07).</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Knack, S., &amp; Keefer, P. (1997). Does social capital have an economic payoff? A cross-country investigation. Quarterly Journal of Economics, 112(4), 1251–1288.</a:t>
            </a:r>
          </a:p>
          <a:p>
            <a:pPr>
              <a:spcAft>
                <a:spcPts val="200"/>
              </a:spcAft>
              <a:defRPr sz="840" b="0" i="0">
                <a:solidFill>
                  <a:srgbClr val="ECF8F8"/>
                </a:solidFill>
                <a:latin typeface="Arial"/>
              </a:defRPr>
            </a:pPr>
            <a:r>
              <a:t>• Algan, Y., &amp; Cahuc, P. (2010). Inherited trust and growth. American Economic Review, 100(5), 2060–2092.</a:t>
            </a:r>
          </a:p>
          <a:p>
            <a:pPr>
              <a:spcAft>
                <a:spcPts val="200"/>
              </a:spcAft>
              <a:defRPr sz="840" b="0" i="1">
                <a:solidFill>
                  <a:srgbClr val="90E0EF"/>
                </a:solidFill>
                <a:latin typeface="Arial"/>
              </a:defRPr>
            </a:pPr>
            <a:r>
              <a:t>🏛️ Empirical Anchor: Transparency International Corruption Perceptions Index (2025/2026) &amp; TINZ National Integrity System Analysis; Controller and Auditor-General (2026); Document 1A Part II Synthesis.</a:t>
            </a:r>
          </a:p>
          <a:p>
            <a:pPr>
              <a:spcAft>
                <a:spcPts val="0"/>
              </a:spcAft>
              <a:defRPr sz="850" b="1" i="0">
                <a:solidFill>
                  <a:srgbClr val="48CAE4"/>
                </a:solidFill>
                <a:latin typeface="Arial"/>
              </a:defRPr>
            </a:pPr>
            <a:r>
              <a:t>💻 Monograph &amp; Code Hook: Doc 1B §5.5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C:06: Endogenous Social Cohesion &amp; Institutional Trust Trajectory   (Slide 24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[K:01]  The Catalytic Steward: Philanthropist, Iwi Trust, &amp; Community Leader   —   MODULE 3: WAYFINDER KAUPAPA PERSONA</a:t>
            </a:r>
          </a:p>
          <a:p>
            <a:pPr algn="l">
              <a:spcAft>
                <a:spcPts val="0"/>
              </a:spcAft>
              <a:defRPr sz="950" b="0" i="1">
                <a:solidFill>
                  <a:srgbClr val="FFD166"/>
                </a:solidFill>
                <a:latin typeface="Arial"/>
              </a:defRPr>
            </a:pPr>
            <a:r>
              <a:t>Wayfinder Persona — Manaakitanga, Whanaungatanga, &amp; R&amp;D Seed (Lens 1)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48CAE4"/>
                </a:solidFill>
                <a:latin typeface="Arial"/>
              </a:defRPr>
            </a:pPr>
            <a:r>
              <a:t>▸ Innate Kaupapa — Proof Before Scale (Tap):</a:t>
            </a:r>
          </a:p>
          <a:p>
            <a:pPr>
              <a:spcAft>
                <a:spcPts val="300"/>
              </a:spcAft>
              <a:defRPr sz="900" b="0" i="0">
                <a:solidFill>
                  <a:srgbClr val="ECF8F8"/>
                </a:solidFill>
                <a:latin typeface="Arial"/>
              </a:defRPr>
            </a:pPr>
            <a:r>
              <a:t>   Spend 1 Catalytic R&amp;D Token to pilot B:01 (First 2000 Days) or B:02/C:03 (Tuakana–Teina Mentoring) in one region at 50% cost. Once piloted, the Crown can scale that card nationally on the next turn with 0 friction penalty.</a:t>
            </a:r>
          </a:p>
          <a:p>
            <a:pPr>
              <a:spcAft>
                <a:spcPts val="50"/>
              </a:spcAft>
              <a:defRPr sz="930" b="1" i="0">
                <a:solidFill>
                  <a:srgbClr val="48CAE4"/>
                </a:solidFill>
                <a:latin typeface="Arial"/>
              </a:defRPr>
            </a:pPr>
            <a:r>
              <a:t>▸ Dual-Class with K:05 (Artist as Community Leader):</a:t>
            </a:r>
          </a:p>
          <a:p>
            <a:pPr>
              <a:spcAft>
                <a:spcPts val="300"/>
              </a:spcAft>
              <a:defRPr sz="900" b="0" i="0">
                <a:solidFill>
                  <a:srgbClr val="ECF8F8"/>
                </a:solidFill>
                <a:latin typeface="Arial"/>
              </a:defRPr>
            </a:pPr>
            <a:r>
              <a:t>   Turn statistical nodes into lived community trust. Double uptake of early-years wraparound and adolescent mentoring (to 65.0%+ of Years 8–10) and gain Immunity to H:02 (Wellington Micromanagement).</a:t>
            </a:r>
          </a:p>
          <a:p>
            <a:pPr>
              <a:spcAft>
                <a:spcPts val="50"/>
              </a:spcAft>
              <a:defRPr sz="930" b="1" i="0">
                <a:solidFill>
                  <a:srgbClr val="48CAE4"/>
                </a:solidFill>
                <a:latin typeface="Arial"/>
              </a:defRPr>
            </a:pPr>
            <a:r>
              <a:t>▸ Dual-Class with K:04 (Philanthropist as Economist):</a:t>
            </a:r>
          </a:p>
          <a:p>
            <a:pPr>
              <a:spcAft>
                <a:spcPts val="300"/>
              </a:spcAft>
              <a:defRPr sz="900" b="0" i="0">
                <a:solidFill>
                  <a:srgbClr val="ECF8F8"/>
                </a:solidFill>
                <a:latin typeface="Arial"/>
              </a:defRPr>
            </a:pPr>
            <a:r>
              <a:t>   Anchor evaluations in cardinal adult outcomes (earnings, mental health, avoided state care) rather than arbitrary test scores—instantly unlocking B:07 (ACC Actuarial Time-Bend) and N:03 (Williamson's Ledger).</a:t>
            </a:r>
          </a:p>
          <a:p>
            <a:pPr>
              <a:spcAft>
                <a:spcPts val="350"/>
              </a:spcAft>
              <a:defRPr sz="880" b="0" i="1">
                <a:solidFill>
                  <a:srgbClr val="FFD166"/>
                </a:solidFill>
                <a:latin typeface="Arial"/>
              </a:defRPr>
            </a:pPr>
            <a:r>
              <a:t>💬 "Markets don't lend to three-year-olds, and bureaucracies can't manufacture trust. We bring the aroha, the patience, and the proof that makes national transformation undeniable."</a:t>
            </a:r>
          </a:p>
          <a:p>
            <a:pPr>
              <a:spcAft>
                <a:spcPts val="0"/>
              </a:spcAft>
              <a:defRPr sz="900" b="1" i="0">
                <a:solidFill>
                  <a:srgbClr val="72EFDD"/>
                </a:solidFill>
                <a:latin typeface="Arial"/>
              </a:defRPr>
            </a:pPr>
            <a:r>
              <a:t>🔗 River Synergy Links: B:01, B:02, B:07, K:04, K:05, N:04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Early-Stage In-Kind Floor Operator &amp; State-Care Entry Bound</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Compresses Gate 1 stunting from 22.0% → 1.5% | Cuts Oranga Tamariki reactive state-care entries by &gt;94% (&lt;300 nationally)</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By guaranteeing universal in-kind early wraparound before the household budget constraint binds, the Kaitiaki operator eliminates the subsistence corner and shuts off the reactive state-care pipeline at its root.</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ECF8F8"/>
                </a:solidFill>
                <a:latin typeface="Arial"/>
              </a:defRPr>
            </a:pPr>
            <a:r>
              <a:t>• Barnardos Aotearoa (2026). Te Korowai Mokopuna: Universal Early Childhood &amp; Whānau Wraparound Actuarial Case.</a:t>
            </a:r>
          </a:p>
          <a:p>
            <a:pPr>
              <a:spcAft>
                <a:spcPts val="200"/>
              </a:spcAft>
              <a:defRPr sz="840" b="0" i="1">
                <a:solidFill>
                  <a:srgbClr val="90E0EF"/>
                </a:solidFill>
                <a:latin typeface="Arial"/>
              </a:defRPr>
            </a:pPr>
            <a:r>
              <a:t>🏛️ Empirical Anchor: Document 1A Executive Summary Section 5 &amp; Part I Section 1; Document 1C Section 5.1.</a:t>
            </a:r>
          </a:p>
          <a:p>
            <a:pPr>
              <a:spcAft>
                <a:spcPts val="0"/>
              </a:spcAft>
              <a:defRPr sz="850" b="1" i="0">
                <a:solidFill>
                  <a:srgbClr val="48CAE4"/>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K:01: Early-Stage In-Kind Floor Operator &amp; State-Care Entry Bound   (Slide 25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[K:02]  The Enterprise Wayfinder: Venture Catalyst, Founder, &amp; Growth Investor   —   MODULE 3: WAYFINDER KAUPAPA PERSONA</a:t>
            </a:r>
          </a:p>
          <a:p>
            <a:pPr algn="l">
              <a:spcAft>
                <a:spcPts val="0"/>
              </a:spcAft>
              <a:defRPr sz="950" b="0" i="1">
                <a:solidFill>
                  <a:srgbClr val="FFD166"/>
                </a:solidFill>
                <a:latin typeface="Arial"/>
              </a:defRPr>
            </a:pPr>
            <a:r>
              <a:t>Wayfinder Persona — Productive Capital &amp; High-Wage Innovation (Lenses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48CAE4"/>
                </a:solidFill>
                <a:latin typeface="Arial"/>
              </a:defRPr>
            </a:pPr>
            <a:r>
              <a:t>▸ Innate Kaupapa — Unchain the NZD 1.6T Transfer (Tap):</a:t>
            </a:r>
          </a:p>
          <a:p>
            <a:pPr>
              <a:spcAft>
                <a:spcPts val="300"/>
              </a:spcAft>
              <a:defRPr sz="900" b="0" i="0">
                <a:solidFill>
                  <a:srgbClr val="ECF8F8"/>
                </a:solidFill>
                <a:latin typeface="Arial"/>
              </a:defRPr>
            </a:pPr>
            <a:r>
              <a:t>   Whenever B:05 (Use-It-Or-Lose-It Rebalancer) is active, rotate 1 Dormant Property Token into High-Growth Operating Firms, lifting regional business wages by +3.2% to +9.6% while keeping active entrepreneurs net welfare positive up to NZD 100M net worth.</a:t>
            </a:r>
          </a:p>
          <a:p>
            <a:pPr>
              <a:spcAft>
                <a:spcPts val="50"/>
              </a:spcAft>
              <a:defRPr sz="930" b="1" i="0">
                <a:solidFill>
                  <a:srgbClr val="48CAE4"/>
                </a:solidFill>
                <a:latin typeface="Arial"/>
              </a:defRPr>
            </a:pPr>
            <a:r>
              <a:t>▸ Dual-Class with B:02 / Teacher (Venture Catalyst as Mentor):</a:t>
            </a:r>
          </a:p>
          <a:p>
            <a:pPr>
              <a:spcAft>
                <a:spcPts val="300"/>
              </a:spcAft>
              <a:defRPr sz="900" b="0" i="0">
                <a:solidFill>
                  <a:srgbClr val="ECF8F8"/>
                </a:solidFill>
                <a:latin typeface="Arial"/>
              </a:defRPr>
            </a:pPr>
            <a:r>
              <a:t>   Pair B:03 (Age-20 Youth Capital Grant) with hands-on founder mentorship at Gates 2 and 3. Cut city brain drain from 19.3%–23.4% down to 7.6% Nat. and turn first-generation graduates into domestic job creators.</a:t>
            </a:r>
          </a:p>
          <a:p>
            <a:pPr>
              <a:spcAft>
                <a:spcPts val="50"/>
              </a:spcAft>
              <a:defRPr sz="930" b="1" i="0">
                <a:solidFill>
                  <a:srgbClr val="48CAE4"/>
                </a:solidFill>
                <a:latin typeface="Arial"/>
              </a:defRPr>
            </a:pPr>
            <a:r>
              <a:t>▸ Dual-Class with K:03 (The Sovereign Helmsman):</a:t>
            </a:r>
          </a:p>
          <a:p>
            <a:pPr>
              <a:spcAft>
                <a:spcPts val="300"/>
              </a:spcAft>
              <a:defRPr sz="900" b="0" i="0">
                <a:solidFill>
                  <a:srgbClr val="ECF8F8"/>
                </a:solidFill>
                <a:latin typeface="Arial"/>
              </a:defRPr>
            </a:pPr>
            <a:r>
              <a:t>   Co-sign the Corporate Tax Cut + Land/Estate Rebalance (B:05), proving to the business community that taxing dormant dirt instead of productive enterprise grows the pie for 95% of households.</a:t>
            </a:r>
          </a:p>
          <a:p>
            <a:pPr>
              <a:spcAft>
                <a:spcPts val="350"/>
              </a:spcAft>
              <a:defRPr sz="880" b="0" i="1">
                <a:solidFill>
                  <a:srgbClr val="FFD166"/>
                </a:solidFill>
                <a:latin typeface="Arial"/>
              </a:defRPr>
            </a:pPr>
            <a:r>
              <a:t>💬 "Hoarding residential land is how a country flounders in displacement mode. Backing retained young talent with patient capital is how a nation gets up on the wing-sail."</a:t>
            </a:r>
          </a:p>
          <a:p>
            <a:pPr>
              <a:spcAft>
                <a:spcPts val="0"/>
              </a:spcAft>
              <a:defRPr sz="900" b="1" i="0">
                <a:solidFill>
                  <a:srgbClr val="72EFDD"/>
                </a:solidFill>
                <a:latin typeface="Arial"/>
              </a:defRPr>
            </a:pPr>
            <a:r>
              <a:t>🔗 River Synergy Links: B:03, B:05, K:03, K:04, N:05, T:04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Murphy–Shleifer–Vishny Occupational Choice &amp; Retained-Founder Operator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Lowers founder entry threshold ∂z*/∂B_youth &lt; 0 | Retains +3,550/yr skilled graduates in NZ | Lifts real wages +3.2% to +9.6%</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Combining the NZD 62k+ Youth Capital Grant (B:03) with Use-It-Or-Lose-It tax rebalancing (B:05) lowers the collateral barrier to entrepreneurship so young builders launch firms in Aotearoa instead of emigrating.</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Murphy, K. M., Shleifer, A., &amp; Vishny, R. W. (1991). The allocation of talent: Implications for growth. Quarterly Journal of Economics, 106(2), 503–530.</a:t>
            </a:r>
          </a:p>
          <a:p>
            <a:pPr>
              <a:spcAft>
                <a:spcPts val="200"/>
              </a:spcAft>
              <a:defRPr sz="840" b="0" i="0">
                <a:solidFill>
                  <a:srgbClr val="ECF8F8"/>
                </a:solidFill>
                <a:latin typeface="Arial"/>
              </a:defRPr>
            </a:pPr>
            <a:r>
              <a:t>• Evans, D. S., &amp; Jovanovic, B. (1989). An estimated model of entrepreneurial choice under liquidity constraints. Journal of Political Economy, 97(4), 808–827.</a:t>
            </a:r>
          </a:p>
          <a:p>
            <a:pPr>
              <a:spcAft>
                <a:spcPts val="200"/>
              </a:spcAft>
              <a:defRPr sz="840" b="0" i="1">
                <a:solidFill>
                  <a:srgbClr val="90E0EF"/>
                </a:solidFill>
                <a:latin typeface="Arial"/>
              </a:defRPr>
            </a:pPr>
            <a:r>
              <a:t>🏛️ Empirical Anchor: Document 1A Part I Section 2 &amp; Part IV Section 3; Document 1C Section 5.2.</a:t>
            </a:r>
          </a:p>
          <a:p>
            <a:pPr>
              <a:spcAft>
                <a:spcPts val="0"/>
              </a:spcAft>
              <a:defRPr sz="850" b="1" i="0">
                <a:solidFill>
                  <a:srgbClr val="48CAE4"/>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K:02: Murphy–Shleifer–Vishny Occupational Choice &amp; Retained-Founder Operator   (Slide 26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[K:03]  The Sovereign Helmsman: Policy-Maker, Minister, Treasury, &amp; Reserve Bank Official   —   MODULE 3: WAYFINDER KAUPAPA PERSONA</a:t>
            </a:r>
          </a:p>
          <a:p>
            <a:pPr algn="l">
              <a:spcAft>
                <a:spcPts val="0"/>
              </a:spcAft>
              <a:defRPr sz="950" b="0" i="1">
                <a:solidFill>
                  <a:srgbClr val="FFD166"/>
                </a:solidFill>
                <a:latin typeface="Arial"/>
              </a:defRPr>
            </a:pPr>
            <a:r>
              <a:t>Wayfinder Persona — Actuarial Governance &amp; Macro Stability (All 3 Lenses)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48CAE4"/>
                </a:solidFill>
                <a:latin typeface="Arial"/>
              </a:defRPr>
            </a:pPr>
            <a:r>
              <a:t>▸ Innate Kaupapa — Bridge the OIA 20250878 Gap (Tap):</a:t>
            </a:r>
          </a:p>
          <a:p>
            <a:pPr>
              <a:spcAft>
                <a:spcPts val="300"/>
              </a:spcAft>
              <a:defRPr sz="900" b="0" i="0">
                <a:solidFill>
                  <a:srgbClr val="ECF8F8"/>
                </a:solidFill>
                <a:latin typeface="Arial"/>
              </a:defRPr>
            </a:pPr>
            <a:r>
              <a:t>   Play B:08 (The 1925 Quantum Leap) to couple micro-cohort social outcomes directly to the Crown's LTFM. Book 3.84x Verified Actuarial Breakeven by Year 5 (1.16x from direct cost avoidance alone via B:07) and engage B:06 (The 2050 50/50 Stabilizer).</a:t>
            </a:r>
          </a:p>
          <a:p>
            <a:pPr>
              <a:spcAft>
                <a:spcPts val="50"/>
              </a:spcAft>
              <a:defRPr sz="930" b="1" i="0">
                <a:solidFill>
                  <a:srgbClr val="48CAE4"/>
                </a:solidFill>
                <a:latin typeface="Arial"/>
              </a:defRPr>
            </a:pPr>
            <a:r>
              <a:t>▸ Dual-Class with K:01 (The Catalytic Steward):</a:t>
            </a:r>
          </a:p>
          <a:p>
            <a:pPr>
              <a:spcAft>
                <a:spcPts val="300"/>
              </a:spcAft>
              <a:defRPr sz="900" b="0" i="0">
                <a:solidFill>
                  <a:srgbClr val="ECF8F8"/>
                </a:solidFill>
                <a:latin typeface="Arial"/>
              </a:defRPr>
            </a:pPr>
            <a:r>
              <a:t>   Adopt N:04 (Ostrom's Polycentric Commons)—funding proven community wraparound at national scale while slashing NZD 17.7B–28.5B/yr in reactive hull drag down to NZD 4.2B/yr (B:04).</a:t>
            </a:r>
          </a:p>
          <a:p>
            <a:pPr>
              <a:spcAft>
                <a:spcPts val="50"/>
              </a:spcAft>
              <a:defRPr sz="930" b="1" i="0">
                <a:solidFill>
                  <a:srgbClr val="48CAE4"/>
                </a:solidFill>
                <a:latin typeface="Arial"/>
              </a:defRPr>
            </a:pPr>
            <a:r>
              <a:t>▸ Dual-Class with K:04 (The 1925 Moment Architect):</a:t>
            </a:r>
          </a:p>
          <a:p>
            <a:pPr>
              <a:spcAft>
                <a:spcPts val="300"/>
              </a:spcAft>
              <a:defRPr sz="900" b="0" i="0">
                <a:solidFill>
                  <a:srgbClr val="ECF8F8"/>
                </a:solidFill>
                <a:latin typeface="Arial"/>
              </a:defRPr>
            </a:pPr>
            <a:r>
              <a:t>   Replace blunt OCR monetary hammering and reactive austerity with Energy &amp; Housing Firming (C:04, E:03), cutting domestic interest rates by 60–100 bps, keeping NZ Super at Age 65, and delivering a -3.5 pp PAYE tax cut in SS2.</a:t>
            </a:r>
          </a:p>
          <a:p>
            <a:pPr>
              <a:spcAft>
                <a:spcPts val="350"/>
              </a:spcAft>
              <a:defRPr sz="880" b="0" i="1">
                <a:solidFill>
                  <a:srgbClr val="FFD166"/>
                </a:solidFill>
                <a:latin typeface="Arial"/>
              </a:defRPr>
            </a:pPr>
            <a:r>
              <a:t>💬 "For forty years, our rulebook forced us to count investment in children as debt and infrastructure neglect as thrift. Give us the right actuarial compass, and we will steer Aotearoa into clear air."</a:t>
            </a:r>
          </a:p>
          <a:p>
            <a:pPr>
              <a:spcAft>
                <a:spcPts val="0"/>
              </a:spcAft>
              <a:defRPr sz="900" b="1" i="0">
                <a:solidFill>
                  <a:srgbClr val="72EFDD"/>
                </a:solidFill>
                <a:latin typeface="Arial"/>
              </a:defRPr>
            </a:pPr>
            <a:r>
              <a:t>🔗 River Synergy Links: B:06, B:07, B:08, E:03, K:01, K:04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Aiyagari–Kiyotaki–Moore Regional Collateral &amp; Spread Compressor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Sovereign/household borrowing spread: −60 to −100 bps | Urban rent cooling: −7.5% (SS1) to −10.5% (SS2) across all 4 regions</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Sinking sovereign debt below 40% of GDP (B:06) and rotating speculative land into housing supply (B:05) compresses mortgage and business credit spreads by 60–100 bps nationwide.</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Kiyotaki, N., &amp; Moore, J. (1997). Credit cycles. Journal of Political Economy, 105(2), 211–248.</a:t>
            </a:r>
          </a:p>
          <a:p>
            <a:pPr>
              <a:spcAft>
                <a:spcPts val="200"/>
              </a:spcAft>
              <a:defRPr sz="840" b="0" i="0">
                <a:solidFill>
                  <a:srgbClr val="ECF8F8"/>
                </a:solidFill>
                <a:latin typeface="Arial"/>
              </a:defRPr>
            </a:pPr>
            <a:r>
              <a:t>• Aiyagari, S. R. (1994). Uninsured idiosyncratic risk and aggregate saving. Quarterly Journal of Economics, 109(3), 659–684.</a:t>
            </a:r>
          </a:p>
          <a:p>
            <a:pPr>
              <a:spcAft>
                <a:spcPts val="200"/>
              </a:spcAft>
              <a:defRPr sz="840" b="0" i="1">
                <a:solidFill>
                  <a:srgbClr val="90E0EF"/>
                </a:solidFill>
                <a:latin typeface="Arial"/>
              </a:defRPr>
            </a:pPr>
            <a:r>
              <a:t>🏛️ Empirical Anchor: Document 1A Part I Section 3 &amp; Part V; Document 1C Section 5.3.</a:t>
            </a:r>
          </a:p>
          <a:p>
            <a:pPr>
              <a:spcAft>
                <a:spcPts val="0"/>
              </a:spcAft>
              <a:defRPr sz="850" b="1" i="0">
                <a:solidFill>
                  <a:srgbClr val="48CAE4"/>
                </a:solidFill>
                <a:latin typeface="Arial"/>
              </a:defRPr>
            </a:pPr>
            <a:r>
              <a:t>💻 Monograph &amp; Code Hook: Doc 1B §4.3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K:03: Aiyagari–Kiyotaki–Moore Regional Collateral &amp; Spread Compressor   (Slide 27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[K:04]  The '1925 Moment' Architect: Quantitative Economist &amp; Open-Source Researcher   —   MODULE 3: WAYFINDER KAUPAPA PERSONA</a:t>
            </a:r>
          </a:p>
          <a:p>
            <a:pPr algn="l">
              <a:spcAft>
                <a:spcPts val="0"/>
              </a:spcAft>
              <a:defRPr sz="950" b="0" i="1">
                <a:solidFill>
                  <a:srgbClr val="FFD166"/>
                </a:solidFill>
                <a:latin typeface="Arial"/>
              </a:defRPr>
            </a:pPr>
            <a:r>
              <a:t>Wayfinder Persona — A System of Profound Knowledge &amp; GPU Proof (System-Wide)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48CAE4"/>
                </a:solidFill>
                <a:latin typeface="Arial"/>
              </a:defRPr>
            </a:pPr>
            <a:r>
              <a:t>▸ Innate Kaupapa — Inspect the 8-PType Engine (Tap):</a:t>
            </a:r>
          </a:p>
          <a:p>
            <a:pPr>
              <a:spcAft>
                <a:spcPts val="300"/>
              </a:spcAft>
              <a:defRPr sz="900" b="0" i="0">
                <a:solidFill>
                  <a:srgbClr val="ECF8F8"/>
                </a:solidFill>
                <a:latin typeface="Arial"/>
              </a:defRPr>
            </a:pPr>
            <a:r>
              <a:t>   Reveal the hidden general-equilibrium feedback loops across Rural, Small, Large, Auckland, and Abroad (C:05). Neutralize any 'Ideological Bluff' or 'Zero-Sum Myth' card played by the Orthodoxy Deck (H:01–H:06) by citing Dunedin Study elasticities and the 11 Historical Precedents.</a:t>
            </a:r>
          </a:p>
          <a:p>
            <a:pPr>
              <a:spcAft>
                <a:spcPts val="50"/>
              </a:spcAft>
              <a:defRPr sz="930" b="1" i="0">
                <a:solidFill>
                  <a:srgbClr val="48CAE4"/>
                </a:solidFill>
                <a:latin typeface="Arial"/>
              </a:defRPr>
            </a:pPr>
            <a:r>
              <a:t>▸ Dual-Class with K:02 (Founder as Economist):</a:t>
            </a:r>
          </a:p>
          <a:p>
            <a:pPr>
              <a:spcAft>
                <a:spcPts val="300"/>
              </a:spcAft>
              <a:defRPr sz="900" b="0" i="0">
                <a:solidFill>
                  <a:srgbClr val="ECF8F8"/>
                </a:solidFill>
                <a:latin typeface="Arial"/>
              </a:defRPr>
            </a:pPr>
            <a:r>
              <a:t>   Combine N:01 (Coase), N:03 (Williamson), N:04 (Ostrom), and N:05 (Romer) to prove that lowering transaction costs and unlocking non-rival human capability generates a +20.49% National Welfare Gain and NZD 1,510.7B in 60-year cash GDP.</a:t>
            </a:r>
          </a:p>
          <a:p>
            <a:pPr>
              <a:spcAft>
                <a:spcPts val="50"/>
              </a:spcAft>
              <a:defRPr sz="930" b="1" i="0">
                <a:solidFill>
                  <a:srgbClr val="48CAE4"/>
                </a:solidFill>
                <a:latin typeface="Arial"/>
              </a:defRPr>
            </a:pPr>
            <a:r>
              <a:t>▸ Dual-Class with K:06 (The Kaumātua Dividend):</a:t>
            </a:r>
          </a:p>
          <a:p>
            <a:pPr>
              <a:spcAft>
                <a:spcPts val="300"/>
              </a:spcAft>
              <a:defRPr sz="900" b="0" i="0">
                <a:solidFill>
                  <a:srgbClr val="ECF8F8"/>
                </a:solidFill>
                <a:latin typeface="Arial"/>
              </a:defRPr>
            </a:pPr>
            <a:r>
              <a:t>   Synthesize 60 years of lived entrepreneurial and civic history into open-source VFI Toolkit code and interactive Sankeys—reducing the deployment cost of all Phase 1 (SS1), Phase 2 (SS2), and Challenge Mode (E:02) reforms by 100%.</a:t>
            </a:r>
          </a:p>
          <a:p>
            <a:pPr>
              <a:spcAft>
                <a:spcPts val="350"/>
              </a:spcAft>
              <a:defRPr sz="880" b="0" i="1">
                <a:solidFill>
                  <a:srgbClr val="FFD166"/>
                </a:solidFill>
                <a:latin typeface="Arial"/>
              </a:defRPr>
            </a:pPr>
            <a:r>
              <a:t>💬 "In 1925, physics had all the math on the shelf to leap from classical drag to quantum mechanics in three years. Macroeconomics stands at that exact threshold today."</a:t>
            </a:r>
          </a:p>
          <a:p>
            <a:pPr>
              <a:spcAft>
                <a:spcPts val="0"/>
              </a:spcAft>
              <a:defRPr sz="900" b="1" i="0">
                <a:solidFill>
                  <a:srgbClr val="72EFDD"/>
                </a:solidFill>
                <a:latin typeface="Arial"/>
              </a:defRPr>
            </a:pPr>
            <a:r>
              <a:t>🔗 River Synergy Links: B:08, E:02, K:02, K:06, N:01, N:05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8-PType Discrete Grid Bellman &amp; Kolmogorov Forward Fixed-Point Operator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8 Permanent Types × 81 Annual Ages × 9 Farmer–Toda AR(1) Shock States | Zero log-linearization error around subsistence corners</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By computing exact discrete policy functions d_i*(s) and stationary measures μ*(s) on the GPU, the Systems Architect proves when a policy self-finances via precautionary release (ΔA_prec) versus when it crowds out.</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Kirkby, R. (2017–2026). VFI Toolkit: A MATLAB GPU Toolkit for Macroeconomic Life-Cycle and Heterogeneous-Agent Models.</a:t>
            </a:r>
          </a:p>
          <a:p>
            <a:pPr>
              <a:spcAft>
                <a:spcPts val="200"/>
              </a:spcAft>
              <a:defRPr sz="840" b="0" i="0">
                <a:solidFill>
                  <a:srgbClr val="ECF8F8"/>
                </a:solidFill>
                <a:latin typeface="Arial"/>
              </a:defRPr>
            </a:pPr>
            <a:r>
              <a:t>• Farmer, L. E., &amp; Toda, A. A. (2017). Discretizing nonlinear, non-Gaussian Markov processes with exact conditional moments. Quantitative Economics, 8(2), 651–683.</a:t>
            </a:r>
          </a:p>
          <a:p>
            <a:pPr>
              <a:spcAft>
                <a:spcPts val="200"/>
              </a:spcAft>
              <a:defRPr sz="840" b="0" i="1">
                <a:solidFill>
                  <a:srgbClr val="90E0EF"/>
                </a:solidFill>
                <a:latin typeface="Arial"/>
              </a:defRPr>
            </a:pPr>
            <a:r>
              <a:t>🏛️ Empirical Anchor: Document 1A Part I Section 4; Document 1C Section 2 &amp; 5.4; QEA_2026.m.</a:t>
            </a:r>
          </a:p>
          <a:p>
            <a:pPr>
              <a:spcAft>
                <a:spcPts val="0"/>
              </a:spcAft>
              <a:defRPr sz="850" b="1" i="0">
                <a:solidFill>
                  <a:srgbClr val="48CAE4"/>
                </a:solidFill>
                <a:latin typeface="Arial"/>
              </a:defRPr>
            </a:pPr>
            <a:r>
              <a:t>💻 Monograph &amp; Code Hook: Doc 1B §1.3 • Doc 2: QEA_2026.m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K:04: 8-PType Discrete Grid Bellman &amp; Kolmogorov Forward Fixed-Point Operator   (Slide 28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[K:05]  The Pūrākau Weaver: Creative, Storyteller, &amp; Cultural Catalyst   —   MODULE 3: WAYFINDER KAUPAPA PERSONA</a:t>
            </a:r>
          </a:p>
          <a:p>
            <a:pPr algn="l">
              <a:spcAft>
                <a:spcPts val="0"/>
              </a:spcAft>
              <a:defRPr sz="950" b="0" i="1">
                <a:solidFill>
                  <a:srgbClr val="FFD166"/>
                </a:solidFill>
                <a:latin typeface="Arial"/>
              </a:defRPr>
            </a:pPr>
            <a:r>
              <a:t>Wayfinder Persona — Narrative Imagination &amp; National Renaissance (Gates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48CAE4"/>
                </a:solidFill>
                <a:latin typeface="Arial"/>
              </a:defRPr>
            </a:pPr>
            <a:r>
              <a:t>▸ Innate Kaupapa — Shatter the Myth of Managed Decline (Tap):</a:t>
            </a:r>
          </a:p>
          <a:p>
            <a:pPr>
              <a:spcAft>
                <a:spcPts val="300"/>
              </a:spcAft>
              <a:defRPr sz="900" b="0" i="0">
                <a:solidFill>
                  <a:srgbClr val="ECF8F8"/>
                </a:solidFill>
                <a:latin typeface="Arial"/>
              </a:defRPr>
            </a:pPr>
            <a:r>
              <a:t>   Transform the 17 nodes of the Population Sankey and the 26 nodes of the Fiscal Ledger into a living story where every Kiwi sees their own whānau and mokopuna. Remove all 'Political Paralysis' and 'Tall Poppy Cynicism' counters from the board.</a:t>
            </a:r>
          </a:p>
          <a:p>
            <a:pPr>
              <a:spcAft>
                <a:spcPts val="50"/>
              </a:spcAft>
              <a:defRPr sz="930" b="1" i="0">
                <a:solidFill>
                  <a:srgbClr val="48CAE4"/>
                </a:solidFill>
                <a:latin typeface="Arial"/>
              </a:defRPr>
            </a:pPr>
            <a:r>
              <a:t>▸ Dual-Class with K:01 (The Catalytic Steward):</a:t>
            </a:r>
          </a:p>
          <a:p>
            <a:pPr>
              <a:spcAft>
                <a:spcPts val="300"/>
              </a:spcAft>
              <a:defRPr sz="900" b="0" i="0">
                <a:solidFill>
                  <a:srgbClr val="ECF8F8"/>
                </a:solidFill>
                <a:latin typeface="Arial"/>
              </a:defRPr>
            </a:pPr>
            <a:r>
              <a:t>   Infuse Gate 2 adolescent mentoring (B:02, C:03) with cultural identity (Ako, Tuakana–Teina, creative arts), lifting thriving youth launch from 23.5% to 65.0% and raising C:06 (Social Cohesion Index) from 100 to 126.</a:t>
            </a:r>
          </a:p>
          <a:p>
            <a:pPr>
              <a:spcAft>
                <a:spcPts val="50"/>
              </a:spcAft>
              <a:defRPr sz="930" b="1" i="0">
                <a:solidFill>
                  <a:srgbClr val="48CAE4"/>
                </a:solidFill>
                <a:latin typeface="Arial"/>
              </a:defRPr>
            </a:pPr>
            <a:r>
              <a:t>▸ Dual-Class with K:02 (The Enterprise Wayfinder):</a:t>
            </a:r>
          </a:p>
          <a:p>
            <a:pPr>
              <a:spcAft>
                <a:spcPts val="300"/>
              </a:spcAft>
              <a:defRPr sz="900" b="0" i="0">
                <a:solidFill>
                  <a:srgbClr val="ECF8F8"/>
                </a:solidFill>
                <a:latin typeface="Arial"/>
              </a:defRPr>
            </a:pPr>
            <a:r>
              <a:t>   Combine B:03 (Age-20 Renaissance Founder) and cooled urban rents (B:05) to ignite a Domestic Creative &amp; Tech Renaissance—turning Wellington, Auckland, Christchurch, and provincial hubs into global magnets for talent.</a:t>
            </a:r>
          </a:p>
          <a:p>
            <a:pPr>
              <a:spcAft>
                <a:spcPts val="350"/>
              </a:spcAft>
              <a:defRPr sz="880" b="0" i="1">
                <a:solidFill>
                  <a:srgbClr val="FFD166"/>
                </a:solidFill>
                <a:latin typeface="Arial"/>
              </a:defRPr>
            </a:pPr>
            <a:r>
              <a:t>💬 "Equations and actuarial tables give us permission to fly, but nobody boards the vessel without a story worth believing in. Building the future is ultimately a creative act."</a:t>
            </a:r>
          </a:p>
          <a:p>
            <a:pPr>
              <a:spcAft>
                <a:spcPts val="0"/>
              </a:spcAft>
              <a:defRPr sz="900" b="1" i="0">
                <a:solidFill>
                  <a:srgbClr val="72EFDD"/>
                </a:solidFill>
                <a:latin typeface="Arial"/>
              </a:defRPr>
            </a:pPr>
            <a:r>
              <a:t>🔗 River Synergy Links: B:02, B:03, C:06, K:01, K:02, T:05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Akerlof–Kranton Identity Utility &amp; Pūrākau Engagement Operator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Lifts Gate 2 school/mentoring engagement from 17.3% → 65.0%+ | Blocks alienated dropout (Exit 4) and T:05 outrage susceptibility</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When rangatahi see their own whakapapa and pūrākau reflected in kura, arts, and mentoring (B:02 + C:03), identity utility (I_pūrākau) reinforces educational effort e₂* rather than warring against it.</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Akerlof, G. A., &amp; Kranton, R. E. (2000). Economics and identity. Quarterly Journal of Economics, 115(3), 715–753.</a:t>
            </a:r>
          </a:p>
          <a:p>
            <a:pPr>
              <a:spcAft>
                <a:spcPts val="200"/>
              </a:spcAft>
              <a:defRPr sz="840" b="0" i="0">
                <a:solidFill>
                  <a:srgbClr val="ECF8F8"/>
                </a:solidFill>
                <a:latin typeface="Arial"/>
              </a:defRPr>
            </a:pPr>
            <a:r>
              <a:t>• Durie, M. (2001). Mauri Ora: The Dynamics of Māori Health &amp; Whānau Capacity. Oxford University Press.</a:t>
            </a:r>
          </a:p>
          <a:p>
            <a:pPr>
              <a:spcAft>
                <a:spcPts val="200"/>
              </a:spcAft>
              <a:defRPr sz="840" b="0" i="1">
                <a:solidFill>
                  <a:srgbClr val="90E0EF"/>
                </a:solidFill>
                <a:latin typeface="Arial"/>
              </a:defRPr>
            </a:pPr>
            <a:r>
              <a:t>🏛️ Empirical Anchor: Document 1C Section 5.5.</a:t>
            </a:r>
          </a:p>
          <a:p>
            <a:pPr>
              <a:spcAft>
                <a:spcPts val="0"/>
              </a:spcAft>
              <a:defRPr sz="850" b="1" i="0">
                <a:solidFill>
                  <a:srgbClr val="48CAE4"/>
                </a:solidFill>
                <a:latin typeface="Arial"/>
              </a:defRPr>
            </a:pPr>
            <a:r>
              <a:t>💻 Monograph &amp; Code Hook: Doc 1B §2.4 • Rules: STORIES.md</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K:05: Akerlof–Kranton Identity Utility &amp; Pūrākau Engagement Operator   (Slide 29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[K:06]  The Kaumātua &amp; Founder's Dividend: Wisdom of the Golden Years (Ages 65+)   —   MODULE 3: WAYFINDER KAUPAPA PERSONA</a:t>
            </a:r>
          </a:p>
          <a:p>
            <a:pPr algn="l">
              <a:spcAft>
                <a:spcPts val="0"/>
              </a:spcAft>
              <a:defRPr sz="950" b="0" i="1">
                <a:solidFill>
                  <a:srgbClr val="FFD166"/>
                </a:solidFill>
                <a:latin typeface="Arial"/>
              </a:defRPr>
            </a:pPr>
            <a:r>
              <a:t>Wayfinder Lifecycle Identity — Intergenerational Wisdom &amp; Catalytic Bequest (Lens 3)  •  Phase: Ages 65+ (Continuous / Tap)  •  Cost/Req: Keep Universal NZ Superannuation Solvent at Age 65 (B:06) + Retain Domestic Youth (SS1 -&gt; SS2)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70" b="1" i="0">
                <a:solidFill>
                  <a:srgbClr val="48CAE4"/>
                </a:solidFill>
                <a:latin typeface="Arial"/>
              </a:defRPr>
            </a:pPr>
            <a:r>
              <a:t>▸ Freedom from Survival Mode:</a:t>
            </a:r>
          </a:p>
          <a:p>
            <a:pPr>
              <a:spcAft>
                <a:spcPts val="300"/>
              </a:spcAft>
              <a:defRPr sz="940" b="0" i="0">
                <a:solidFill>
                  <a:srgbClr val="ECF8F8"/>
                </a:solidFill>
                <a:latin typeface="Arial"/>
              </a:defRPr>
            </a:pPr>
            <a:r>
              <a:t>   Because Universal NZ Superannuation is secured at Age 65 and living/energy costs are firmed (E:02), retiring cohorts do not have to spend their golden years scrambling against poverty or mourning exiled grandchildren.</a:t>
            </a:r>
          </a:p>
          <a:p>
            <a:pPr>
              <a:spcAft>
                <a:spcPts val="50"/>
              </a:spcAft>
              <a:defRPr sz="970" b="1" i="0">
                <a:solidFill>
                  <a:srgbClr val="48CAE4"/>
                </a:solidFill>
                <a:latin typeface="Arial"/>
              </a:defRPr>
            </a:pPr>
            <a:r>
              <a:t>▸ The 60-Year Synthesis (Non-Rival Wisdom — Tap):</a:t>
            </a:r>
          </a:p>
          <a:p>
            <a:pPr>
              <a:spcAft>
                <a:spcPts val="300"/>
              </a:spcAft>
              <a:defRPr sz="940" b="0" i="0">
                <a:solidFill>
                  <a:srgbClr val="ECF8F8"/>
                </a:solidFill>
                <a:latin typeface="Arial"/>
              </a:defRPr>
            </a:pPr>
            <a:r>
              <a:t>   Contribute 1 Lifetime Experience Token every turn at zero fiscal cost. Spend to: (1) Reduce the cost of any Nobel Milestone (N:01–N:05) or Systems Innovation (B:04, B:08, E:02) card by 100%, OR (2) Pair with Gate 2 (B:02) or Gate 3 (B:03) to double first-gen startup survival and boost Social Cohesion from 100 to 126 (C:06).</a:t>
            </a:r>
          </a:p>
          <a:p>
            <a:pPr>
              <a:spcAft>
                <a:spcPts val="350"/>
              </a:spcAft>
              <a:defRPr sz="880" b="0" i="1">
                <a:solidFill>
                  <a:srgbClr val="FFD166"/>
                </a:solidFill>
                <a:latin typeface="Arial"/>
              </a:defRPr>
            </a:pPr>
            <a:r>
              <a:t>💬 "It takes sixty years of scraped knees, contrarian bets, and lived history to see how the whole board fits together. Secure dignity in retirement, and a nation's elders become its greatest open-source library."</a:t>
            </a:r>
          </a:p>
          <a:p>
            <a:pPr>
              <a:spcAft>
                <a:spcPts val="0"/>
              </a:spcAft>
              <a:defRPr sz="900" b="1" i="0">
                <a:solidFill>
                  <a:srgbClr val="72EFDD"/>
                </a:solidFill>
                <a:latin typeface="Arial"/>
              </a:defRPr>
            </a:pPr>
            <a:r>
              <a:t>🔗 River Synergy Links: B:02, B:03, B:06, K:04, H:04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De Nardi Warm-Glow Solar Bequest &amp; Ngā Kete Wisdom Spillover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wg₁ = 1.5, wg₂ = 3.0 (3× bequest weight on paid-off solar pv=5) | Ngā Kete Human-Capital Multiplier (1 + θ_kete) = 1.75×</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Keeping Universal NZ Super solvent at age 65 (countering H:04) allows Kaumātua and Kuia to pass down debt-free rooftop solar (pv=5) and 1.75× intergenerational mentoring wisdom (Ngā Kete) to their mokopuna.</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De Nardi, M. (2004). Wealth inequality and intergenerational links. Review of Economic Studies, 71(3), 743–768.</a:t>
            </a:r>
          </a:p>
          <a:p>
            <a:pPr>
              <a:spcAft>
                <a:spcPts val="200"/>
              </a:spcAft>
              <a:defRPr sz="840" b="0" i="0">
                <a:solidFill>
                  <a:srgbClr val="ECF8F8"/>
                </a:solidFill>
                <a:latin typeface="Arial"/>
              </a:defRPr>
            </a:pPr>
            <a:r>
              <a:t>• Mead, H. M. (2016). Tikanga Māori: Living by Māori Values (Kaumātua Stewardship &amp; Ngā Kete o te Wānanga). Huia Publishers.</a:t>
            </a:r>
          </a:p>
          <a:p>
            <a:pPr>
              <a:spcAft>
                <a:spcPts val="200"/>
              </a:spcAft>
              <a:defRPr sz="840" b="0" i="1">
                <a:solidFill>
                  <a:srgbClr val="90E0EF"/>
                </a:solidFill>
                <a:latin typeface="Arial"/>
              </a:defRPr>
            </a:pPr>
            <a:r>
              <a:t>🏛️ Empirical Anchor: Document 1A Part II Lens 3 &amp; Part IV Section 5; Ka pū te ruha, ka hao te rangatahi.</a:t>
            </a:r>
          </a:p>
          <a:p>
            <a:pPr>
              <a:spcAft>
                <a:spcPts val="0"/>
              </a:spcAft>
              <a:defRPr sz="850" b="1" i="0">
                <a:solidFill>
                  <a:srgbClr val="48CAE4"/>
                </a:solidFill>
                <a:latin typeface="Arial"/>
              </a:defRPr>
            </a:pPr>
            <a:r>
              <a:t>💻 Monograph &amp; Code Hook: Doc 1B §4.4 • Doc 2: QEA_2026.m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K:06: De Nardi Warm-Glow Solar Bequest &amp; Ngā Kete Wisdom Spillover   (Slide 30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[K:07]  Te Tiriti &amp; The Big Table Crew: The Five-Crew Hydrofoil Formation   —   MODULE 3: WAYFINDER KAUPAPA PERSONA</a:t>
            </a:r>
          </a:p>
          <a:p>
            <a:pPr algn="l">
              <a:spcAft>
                <a:spcPts val="0"/>
              </a:spcAft>
              <a:defRPr sz="950" b="0" i="1">
                <a:solidFill>
                  <a:srgbClr val="FFD166"/>
                </a:solidFill>
                <a:latin typeface="Arial"/>
              </a:defRPr>
            </a:pPr>
            <a:r>
              <a:t>Legendary Kaupapa Enchantment — Multi-Persona Crew Synergy  •  Phase: SS1 -&gt; SS2  •  Cost/Req: At least three Dual-Class Wayfinder Personas (K:01–K:06) active at the table (representing Crown Kāwanatanga, Iwi/Community Rangatiratanga, Enterprise, Science, and Story).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70" b="1" i="0">
                <a:solidFill>
                  <a:srgbClr val="48CAE4"/>
                </a:solidFill>
                <a:latin typeface="Arial"/>
              </a:defRPr>
            </a:pPr>
            <a:r>
              <a:t>▸ One Crew, One Foiling Vessel:</a:t>
            </a:r>
          </a:p>
          <a:p>
            <a:pPr>
              <a:spcAft>
                <a:spcPts val="300"/>
              </a:spcAft>
              <a:defRPr sz="940" b="0" i="0">
                <a:solidFill>
                  <a:srgbClr val="ECF8F8"/>
                </a:solidFill>
                <a:latin typeface="Arial"/>
              </a:defRPr>
            </a:pPr>
            <a:r>
              <a:t>   While The Big Table Crew (K:07) is active, every Persona at the table shares its Innate Kaupapa Ability with all other players.</a:t>
            </a:r>
          </a:p>
          <a:p>
            <a:pPr>
              <a:spcAft>
                <a:spcPts val="50"/>
              </a:spcAft>
              <a:defRPr sz="970" b="1" i="0">
                <a:solidFill>
                  <a:srgbClr val="48CAE4"/>
                </a:solidFill>
                <a:latin typeface="Arial"/>
              </a:defRPr>
            </a:pPr>
            <a:r>
              <a:t>▸ Prosperity We Can Keep:</a:t>
            </a:r>
          </a:p>
          <a:p>
            <a:pPr>
              <a:spcAft>
                <a:spcPts val="300"/>
              </a:spcAft>
              <a:defRPr sz="940" b="0" i="0">
                <a:solidFill>
                  <a:srgbClr val="ECF8F8"/>
                </a:solidFill>
                <a:latin typeface="Arial"/>
              </a:defRPr>
            </a:pPr>
            <a:r>
              <a:t>   Restore New Zealand's Transparency International Social Credit Rating (C:06) to #1 in the World, permanently lock in B:06 (The 2050 50/50 Stabilizer), and unlock B:09 (Lifting the Gold from the River) and N:06 (The Aotearoa Synthesis).</a:t>
            </a:r>
          </a:p>
          <a:p>
            <a:pPr>
              <a:spcAft>
                <a:spcPts val="350"/>
              </a:spcAft>
              <a:defRPr sz="880" b="0" i="1">
                <a:solidFill>
                  <a:srgbClr val="FFD166"/>
                </a:solidFill>
                <a:latin typeface="Arial"/>
              </a:defRPr>
            </a:pPr>
            <a:r>
              <a:t>💬 "We have found our new gold. We are standing in the river. When all five crews lift together, Aotearoa doesn't just survive the heavy seas—she flies."</a:t>
            </a:r>
          </a:p>
          <a:p>
            <a:pPr>
              <a:spcAft>
                <a:spcPts val="0"/>
              </a:spcAft>
              <a:defRPr sz="900" b="1" i="0">
                <a:solidFill>
                  <a:srgbClr val="72EFDD"/>
                </a:solidFill>
                <a:latin typeface="Arial"/>
              </a:defRPr>
            </a:pPr>
            <a:r>
              <a:t>🔗 River Synergy Links: B:06, B:09, C:06, N:06, T:05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Double-Hull Supermodularity &amp; Nash Cooperative Bargaining Theorem</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Supermodular Kīato Cross-Beam Dividend Δ_kīato &gt; 0 | Drives Social Cohesion Index to 126.0 and neutralizes T:05 polarisation</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By Topkis's Supermodularity Theorem, lashing institutional/actuarial precision (Hull A) to whakapapa/kaitiakitanga (Hull B) via the Kīato cross-beams generates strictly higher welfare than either tradition alone.</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Topkis, D. M. (1998). Supermodularity and Complementarity. Princeton University Press.</a:t>
            </a:r>
          </a:p>
          <a:p>
            <a:pPr>
              <a:spcAft>
                <a:spcPts val="200"/>
              </a:spcAft>
              <a:defRPr sz="840" b="0" i="0">
                <a:solidFill>
                  <a:srgbClr val="ECF8F8"/>
                </a:solidFill>
                <a:latin typeface="Arial"/>
              </a:defRPr>
            </a:pPr>
            <a:r>
              <a:t>• Nash, J. F. (1950). The bargaining problem. Econometrica, 18(2), 155–162.</a:t>
            </a:r>
          </a:p>
          <a:p>
            <a:pPr>
              <a:spcAft>
                <a:spcPts val="200"/>
              </a:spcAft>
              <a:defRPr sz="840" b="0" i="1">
                <a:solidFill>
                  <a:srgbClr val="90E0EF"/>
                </a:solidFill>
                <a:latin typeface="Arial"/>
              </a:defRPr>
            </a:pPr>
            <a:r>
              <a:t>🏛️ Empirical Anchor: Document 1A Part VI Coda (Honoring Te Tiriti o Waitangi as good ancestors for our mokopuna); Document 1C Section 4 &amp; 5.</a:t>
            </a:r>
          </a:p>
          <a:p>
            <a:pPr>
              <a:spcAft>
                <a:spcPts val="0"/>
              </a:spcAft>
              <a:defRPr sz="850" b="1" i="0">
                <a:solidFill>
                  <a:srgbClr val="48CAE4"/>
                </a:solidFill>
                <a:latin typeface="Arial"/>
              </a:defRPr>
            </a:pPr>
            <a:r>
              <a:t>💻 Monograph &amp; Code Hook: Doc 1B §6.2 • Rules: STORIES.md</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K:07: Double-Hull Supermodularity &amp; Nash Cooperative Bargaining Theorem   (Slide 31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[N:01]  Ronald Coase's Transaction-Cost Scalpel (Nobel Prize, 1991)   —   MODULE 4: NOBEL &amp; INSTITUTIONAL ARCHIVE</a:t>
            </a:r>
          </a:p>
          <a:p>
            <a:pPr algn="l">
              <a:spcAft>
                <a:spcPts val="0"/>
              </a:spcAft>
              <a:defRPr sz="950" b="0" i="1">
                <a:solidFill>
                  <a:srgbClr val="FFD166"/>
                </a:solidFill>
                <a:latin typeface="Arial"/>
              </a:defRPr>
            </a:pPr>
            <a:r>
              <a:t>Nobel Milestone — Rule-Bending Sorcery  •  Phase: SS1 -&gt; SS2  •  Cost/Req: USD 6,000 Bootstrap Seed (or 1 Contrarian Conviction Token)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48CAE4"/>
                </a:solidFill>
                <a:latin typeface="Arial"/>
              </a:defRPr>
            </a:pPr>
            <a:r>
              <a:t>▸ Make Free Software (and Human Potential) Affordable:</a:t>
            </a:r>
          </a:p>
          <a:p>
            <a:pPr>
              <a:spcAft>
                <a:spcPts val="300"/>
              </a:spcAft>
              <a:defRPr sz="940" b="0" i="0">
                <a:solidFill>
                  <a:srgbClr val="ECF8F8"/>
                </a:solidFill>
                <a:latin typeface="Arial"/>
              </a:defRPr>
            </a:pPr>
            <a:r>
              <a:t>   Expose the hidden transaction costs of the status quo. Every time an opponent pays for reactive symptom remediation (Oranga Tamariki State Care at NZD 180k/yr, Avoidable Hospitalisations, or Corrections), they must pay an additional 2x Deadweight Drag Penalty.</a:t>
            </a:r>
          </a:p>
          <a:p>
            <a:pPr>
              <a:spcAft>
                <a:spcPts val="50"/>
              </a:spcAft>
              <a:defRPr sz="970" b="1" i="0">
                <a:solidFill>
                  <a:srgbClr val="48CAE4"/>
                </a:solidFill>
                <a:latin typeface="Arial"/>
              </a:defRPr>
            </a:pPr>
            <a:r>
              <a:t>▸ Platform for Innovation:</a:t>
            </a:r>
          </a:p>
          <a:p>
            <a:pPr>
              <a:spcAft>
                <a:spcPts val="300"/>
              </a:spcAft>
              <a:defRPr sz="940" b="0" i="0">
                <a:solidFill>
                  <a:srgbClr val="ECF8F8"/>
                </a:solidFill>
                <a:latin typeface="Arial"/>
              </a:defRPr>
            </a:pPr>
            <a:r>
              <a:t>   Reduce the cost of deploying all open-source and preventative social infrastructure cards (B:01–B:08, E:02) in your hand by 75%.</a:t>
            </a:r>
          </a:p>
          <a:p>
            <a:pPr>
              <a:spcAft>
                <a:spcPts val="350"/>
              </a:spcAft>
              <a:defRPr sz="880" b="0" i="1">
                <a:solidFill>
                  <a:srgbClr val="FFD166"/>
                </a:solidFill>
                <a:latin typeface="Arial"/>
              </a:defRPr>
            </a:pPr>
            <a:r>
              <a:t>💬 "Orthodoxy only counts the price tag on the shelf and ignores the billions wasted in friction. Optimize the transaction costs, and you jump to light-speed."</a:t>
            </a:r>
          </a:p>
          <a:p>
            <a:pPr>
              <a:spcAft>
                <a:spcPts val="0"/>
              </a:spcAft>
              <a:defRPr sz="900" b="1" i="0">
                <a:solidFill>
                  <a:srgbClr val="72EFDD"/>
                </a:solidFill>
                <a:latin typeface="Arial"/>
              </a:defRPr>
            </a:pPr>
            <a:r>
              <a:t>🔗 River Synergy Links: B:04, N:03, N:05, H:01, H:03</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Coase–North Institutional Transaction-Cost &amp; Red-Tape Compression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Cuts institutional agency/compliance friction by 75% (from 32% siloed overhead to ≤8% high-trust commissioning)</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Replacing fragmented, adversarial agency silos (H:02) with unified high-trust Whānau Ora / Te Korowai commissioning ensures 92%+ of every public dollar reaches the child's CES skill production function.</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Coase, R. H. (1937). The nature of the firm. Economica, 4(16), 386–405 (Nobel Prize in Economic Sciences 1991).</a:t>
            </a:r>
          </a:p>
          <a:p>
            <a:pPr>
              <a:spcAft>
                <a:spcPts val="200"/>
              </a:spcAft>
              <a:defRPr sz="840" b="0" i="0">
                <a:solidFill>
                  <a:srgbClr val="ECF8F8"/>
                </a:solidFill>
                <a:latin typeface="Arial"/>
              </a:defRPr>
            </a:pPr>
            <a:r>
              <a:t>• North, D. C. (1990). Institutions, Institutional Change and Economic Performance. Cambridge University Press (Nobel Prize 1993).</a:t>
            </a:r>
          </a:p>
          <a:p>
            <a:pPr>
              <a:spcAft>
                <a:spcPts val="200"/>
              </a:spcAft>
              <a:defRPr sz="840" b="0" i="1">
                <a:solidFill>
                  <a:srgbClr val="90E0EF"/>
                </a:solidFill>
                <a:latin typeface="Arial"/>
              </a:defRPr>
            </a:pPr>
            <a:r>
              <a:t>🏛️ Empirical Anchor: Coase (1937, 1960; Nobel Prize 1991); Cygnus Support tagline (1989); Document 1C Section 6.</a:t>
            </a:r>
          </a:p>
          <a:p>
            <a:pPr>
              <a:spcAft>
                <a:spcPts val="0"/>
              </a:spcAft>
              <a:defRPr sz="850" b="1" i="0">
                <a:solidFill>
                  <a:srgbClr val="48CAE4"/>
                </a:solidFill>
                <a:latin typeface="Arial"/>
              </a:defRPr>
            </a:pPr>
            <a:r>
              <a:t>💻 Monograph &amp; Code Hook: Doc 1B §3.3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N:01: Coase–North Institutional Transaction-Cost &amp; Red-Tape Compression   (Slide 32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[N:02]  James Heckman's Dynamic Complementarity Engine (Nobel Prize, 2000)   —   MODULE 4: NOBEL &amp; INSTITUTIONAL ARCHIVE</a:t>
            </a:r>
          </a:p>
          <a:p>
            <a:pPr algn="l">
              <a:spcAft>
                <a:spcPts val="0"/>
              </a:spcAft>
              <a:defRPr sz="950" b="0" i="1">
                <a:solidFill>
                  <a:srgbClr val="FFD166"/>
                </a:solidFill>
                <a:latin typeface="Arial"/>
              </a:defRPr>
            </a:pPr>
            <a:r>
              <a:t>Nobel Artifact — Two-Stage Skill Multiplier (Lens 1)  •  Phase: Gate 1 (Ages 0-5) -&gt; Gate 2 (Ages 12-14)  •  Cost/Req: Front-Load NZD 13.0k/yr in Gate 1 (B:01, Ages 0–5)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48CAE4"/>
                </a:solidFill>
                <a:latin typeface="Arial"/>
              </a:defRPr>
            </a:pPr>
            <a:r>
              <a:t>▸ Skills Beget Skills:</a:t>
            </a:r>
          </a:p>
          <a:p>
            <a:pPr>
              <a:spcAft>
                <a:spcPts val="300"/>
              </a:spcAft>
              <a:defRPr sz="940" b="0" i="0">
                <a:solidFill>
                  <a:srgbClr val="ECF8F8"/>
                </a:solidFill>
                <a:latin typeface="Arial"/>
              </a:defRPr>
            </a:pPr>
            <a:r>
              <a:t>   Whenever you play B:01 (Tamariki of the First 2000 Days — Te Korowai Mokopuna / Whānau Ora), place a Readiness Counter on that cohort.</a:t>
            </a:r>
          </a:p>
          <a:p>
            <a:pPr>
              <a:spcAft>
                <a:spcPts val="50"/>
              </a:spcAft>
              <a:defRPr sz="970" b="1" i="0">
                <a:solidFill>
                  <a:srgbClr val="48CAE4"/>
                </a:solidFill>
                <a:latin typeface="Arial"/>
              </a:defRPr>
            </a:pPr>
            <a:r>
              <a:t>▸ Two-Stage Synergy:</a:t>
            </a:r>
          </a:p>
          <a:p>
            <a:pPr>
              <a:spcAft>
                <a:spcPts val="300"/>
              </a:spcAft>
              <a:defRPr sz="940" b="0" i="0">
                <a:solidFill>
                  <a:srgbClr val="ECF8F8"/>
                </a:solidFill>
                <a:latin typeface="Arial"/>
              </a:defRPr>
            </a:pPr>
            <a:r>
              <a:t>   Cohorts with a Readiness Counter receive 3x the skill payoff from all subsequent Primary/Secondary Schooling and Gate 2 Montessori / Tuakana–Teina Mentoring (B:02, C:03) cards, and automatically crowd in +NZD 15.3k of Private Parental Care at zero fiscal cost.</a:t>
            </a:r>
          </a:p>
          <a:p>
            <a:pPr>
              <a:spcAft>
                <a:spcPts val="350"/>
              </a:spcAft>
              <a:defRPr sz="880" b="0" i="1">
                <a:solidFill>
                  <a:srgbClr val="FFD166"/>
                </a:solidFill>
                <a:latin typeface="Arial"/>
              </a:defRPr>
            </a:pPr>
            <a:r>
              <a:t>💬 "Remediation at age 18 is swimming up a waterfall. Readiness at age 3 turns every classroom into a launchpad."</a:t>
            </a:r>
          </a:p>
          <a:p>
            <a:pPr>
              <a:spcAft>
                <a:spcPts val="0"/>
              </a:spcAft>
              <a:defRPr sz="900" b="1" i="0">
                <a:solidFill>
                  <a:srgbClr val="72EFDD"/>
                </a:solidFill>
                <a:latin typeface="Arial"/>
              </a:defRPr>
            </a:pPr>
            <a:r>
              <a:t>🔗 River Synergy Links: B:01, B:02, C:03, N:04, H:02</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Cunha–Heckman Self-Productivity &amp; Dynamic Complementarity Matrix</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Early elasticity of substitution ϕ₁ = −0.50 vs. late ϕ₃ = +0.30 | Gate 1 investments yield ≥3× the lifetime return of late remediation</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Skills beget skills (∂h_{t+1}/∂h_t &gt; 0) and early readiness raises the productivity of all later schooling and mentoring (∂²h_{t+1}/∂h_t∂I_t &gt; 0)—the foundational theorem of Foils &amp; Founders.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Heckman, J. J. (2000). Policies to foster human capital. Research in Economics, 54(1), 3–56 (Nobel Prize in Economic Sciences 2000).</a:t>
            </a:r>
          </a:p>
          <a:p>
            <a:pPr>
              <a:spcAft>
                <a:spcPts val="200"/>
              </a:spcAft>
              <a:defRPr sz="840" b="0" i="0">
                <a:solidFill>
                  <a:srgbClr val="ECF8F8"/>
                </a:solidFill>
                <a:latin typeface="Arial"/>
              </a:defRPr>
            </a:pPr>
            <a:r>
              <a:t>• Cunha, F., &amp; Heckman, J. J. (2007). The technology of skill formation. American Economic Review, 97(2), 31–47.</a:t>
            </a:r>
          </a:p>
          <a:p>
            <a:pPr>
              <a:spcAft>
                <a:spcPts val="200"/>
              </a:spcAft>
              <a:defRPr sz="840" b="0" i="1">
                <a:solidFill>
                  <a:srgbClr val="90E0EF"/>
                </a:solidFill>
                <a:latin typeface="Arial"/>
              </a:defRPr>
            </a:pPr>
            <a:r>
              <a:t>🏛️ Empirical Anchor: Cunha, Heckman, &amp; Schennach (2010); Heckman (Nobel Prize 2000); Lee &amp; Seshadri (2019); Document 1A Part IV Section 2.</a:t>
            </a:r>
          </a:p>
          <a:p>
            <a:pPr>
              <a:spcAft>
                <a:spcPts val="0"/>
              </a:spcAft>
              <a:defRPr sz="850" b="1" i="0">
                <a:solidFill>
                  <a:srgbClr val="48CAE4"/>
                </a:solidFill>
                <a:latin typeface="Arial"/>
              </a:defRPr>
            </a:pPr>
            <a:r>
              <a:t>💻 Monograph &amp; Code Hook: Doc 1B §2.1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N:02: Cunha–Heckman Self-Productivity &amp; Dynamic Complementarity Matrix   (Slide 33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[N:03]  Oliver Williamson's Actuarial Ledger (Nobel Prize, 2009 — Part I)   —   MODULE 4: NOBEL &amp; INSTITUTIONAL ARCHIVE</a:t>
            </a:r>
          </a:p>
          <a:p>
            <a:pPr algn="l">
              <a:spcAft>
                <a:spcPts val="0"/>
              </a:spcAft>
              <a:defRPr sz="950" b="0" i="1">
                <a:solidFill>
                  <a:srgbClr val="FFD166"/>
                </a:solidFill>
                <a:latin typeface="Arial"/>
              </a:defRPr>
            </a:pPr>
            <a:r>
              <a:t>Nobel Enchantment — Institutional Governance &amp; ACC Accounting  •  Phase: Year 5 Parliamentary Audit (SS1)  •  Cost/Req: Escape the 'Cash-Flow Myopia' Rule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48CAE4"/>
                </a:solidFill>
                <a:latin typeface="Arial"/>
              </a:defRPr>
            </a:pPr>
            <a:r>
              <a:t>▸ Year 5 Continuation Valuation:</a:t>
            </a:r>
          </a:p>
          <a:p>
            <a:pPr>
              <a:spcAft>
                <a:spcPts val="300"/>
              </a:spcAft>
              <a:defRPr sz="940" b="0" i="0">
                <a:solidFill>
                  <a:srgbClr val="ECF8F8"/>
                </a:solidFill>
                <a:latin typeface="Arial"/>
              </a:defRPr>
            </a:pPr>
            <a:r>
              <a:t>   You are no longer forced to wait 18.8 turns (years) to book the fiscal return on child and adolescent investments.</a:t>
            </a:r>
          </a:p>
          <a:p>
            <a:pPr>
              <a:spcAft>
                <a:spcPts val="50"/>
              </a:spcAft>
              <a:defRPr sz="970" b="1" i="0">
                <a:solidFill>
                  <a:srgbClr val="48CAE4"/>
                </a:solidFill>
                <a:latin typeface="Arial"/>
              </a:defRPr>
            </a:pPr>
            <a:r>
              <a:t>▸ Audited Breakeven:</a:t>
            </a:r>
          </a:p>
          <a:p>
            <a:pPr>
              <a:spcAft>
                <a:spcPts val="300"/>
              </a:spcAft>
              <a:defRPr sz="940" b="0" i="0">
                <a:solidFill>
                  <a:srgbClr val="ECF8F8"/>
                </a:solidFill>
                <a:latin typeface="Arial"/>
              </a:defRPr>
            </a:pPr>
            <a:r>
              <a:t>   As soon as a cohort clears Gate 1 (Age 5, B:01) and Gate 2 (Age 14, B:02) with verified reductions in stunting, immediately unlock 3.84x Audited Fiscal Breakeven (NZD 35.25B Fiscal / NZD 85.40B GDP at Treasury's 2% discount rate)—including 1.16x breakeven (NZD 10.68B) from direct cost avoidance alone inside a single parliamentary term.</a:t>
            </a:r>
          </a:p>
          <a:p>
            <a:pPr>
              <a:spcAft>
                <a:spcPts val="350"/>
              </a:spcAft>
              <a:defRPr sz="880" b="0" i="1">
                <a:solidFill>
                  <a:srgbClr val="FFD166"/>
                </a:solidFill>
                <a:latin typeface="Arial"/>
              </a:defRPr>
            </a:pPr>
            <a:r>
              <a:t>💬 "Bad governance treats a child's future as an unrecoverable sunk cost. Good governance reads the actuarial balance sheet and books the liability release today."</a:t>
            </a:r>
          </a:p>
          <a:p>
            <a:pPr>
              <a:spcAft>
                <a:spcPts val="0"/>
              </a:spcAft>
              <a:defRPr sz="900" b="1" i="0">
                <a:solidFill>
                  <a:srgbClr val="72EFDD"/>
                </a:solidFill>
                <a:latin typeface="Arial"/>
              </a:defRPr>
            </a:pPr>
            <a:r>
              <a:t>🔗 River Synergy Links: B:07, B:08, K:03, N:01, H:01</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Williamson Governance-Structure Alignment &amp; Forward Liability Booking</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Matches 81-year human-capital asset horizon (T_horizon) with 2.0% real SRTP actuarial governance (3.84× Year-5 return)</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Evaluating a 25-to-80-year human-capital investment with a 1-year cash-budget rule (H:01) is a fatal governance mismatch; aligning the accounting horizon with ACC actuarial valuation unlocks immediate fiscal solvency.</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Williamson, O. E. (1985). The Economic Institutions of Capitalism. Free Press (Nobel Prize in Economic Sciences 2009).</a:t>
            </a:r>
          </a:p>
          <a:p>
            <a:pPr>
              <a:spcAft>
                <a:spcPts val="200"/>
              </a:spcAft>
              <a:defRPr sz="840" b="0" i="0">
                <a:solidFill>
                  <a:srgbClr val="ECF8F8"/>
                </a:solidFill>
                <a:latin typeface="Arial"/>
              </a:defRPr>
            </a:pPr>
            <a:r>
              <a:t>• Williamson, O. E. (2009). Transaction Cost Economics: The natural progression. American Economic Review, 100(3), 673–690.</a:t>
            </a:r>
          </a:p>
          <a:p>
            <a:pPr>
              <a:spcAft>
                <a:spcPts val="200"/>
              </a:spcAft>
              <a:defRPr sz="840" b="0" i="1">
                <a:solidFill>
                  <a:srgbClr val="90E0EF"/>
                </a:solidFill>
                <a:latin typeface="Arial"/>
              </a:defRPr>
            </a:pPr>
            <a:r>
              <a:t>🏛️ Empirical Anchor: Williamson (1985; Nobel Prize 2009); Document 1A Part V Section 2; Document 1C Section 6.</a:t>
            </a:r>
          </a:p>
          <a:p>
            <a:pPr>
              <a:spcAft>
                <a:spcPts val="0"/>
              </a:spcAft>
              <a:defRPr sz="850" b="1" i="0">
                <a:solidFill>
                  <a:srgbClr val="48CAE4"/>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N:03: Williamson Governance-Structure Alignment &amp; Forward Liability Booking   (Slide 34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[N:04]  Elinor Ostrom's Polycentric Commons (Nobel Prize, 2009 — Part II)   —   MODULE 4: NOBEL &amp; INSTITUTIONAL ARCHIVE</a:t>
            </a:r>
          </a:p>
          <a:p>
            <a:pPr algn="l">
              <a:spcAft>
                <a:spcPts val="0"/>
              </a:spcAft>
              <a:defRPr sz="950" b="0" i="1">
                <a:solidFill>
                  <a:srgbClr val="FFD166"/>
                </a:solidFill>
                <a:latin typeface="Arial"/>
              </a:defRPr>
            </a:pPr>
            <a:r>
              <a:t>Nobel Aura — Community-Led Governance (Manaakitanga &amp; Whanaungatanga)  •  Phase: Gates 1 &amp; 2 (Community Delivery)  •  Cost/Req: Devolve Power from Central Bureaucracy to Local &amp; Iwi Trusts (K:01)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48CAE4"/>
                </a:solidFill>
                <a:latin typeface="Arial"/>
              </a:defRPr>
            </a:pPr>
            <a:r>
              <a:t>▸ Beyond Market vs. Leviathan:</a:t>
            </a:r>
          </a:p>
          <a:p>
            <a:pPr>
              <a:spcAft>
                <a:spcPts val="300"/>
              </a:spcAft>
              <a:defRPr sz="940" b="0" i="0">
                <a:solidFill>
                  <a:srgbClr val="ECF8F8"/>
                </a:solidFill>
                <a:latin typeface="Arial"/>
              </a:defRPr>
            </a:pPr>
            <a:r>
              <a:t>   Immune to 'Wellington Micromanagement' (H:02) and 'Privatization Failure' debuffs.</a:t>
            </a:r>
          </a:p>
          <a:p>
            <a:pPr>
              <a:spcAft>
                <a:spcPts val="50"/>
              </a:spcAft>
              <a:defRPr sz="970" b="1" i="0">
                <a:solidFill>
                  <a:srgbClr val="48CAE4"/>
                </a:solidFill>
                <a:latin typeface="Arial"/>
              </a:defRPr>
            </a:pPr>
            <a:r>
              <a:t>▸ Reciprocal Leadership:</a:t>
            </a:r>
          </a:p>
          <a:p>
            <a:pPr>
              <a:spcAft>
                <a:spcPts val="300"/>
              </a:spcAft>
              <a:defRPr sz="940" b="0" i="0">
                <a:solidFill>
                  <a:srgbClr val="ECF8F8"/>
                </a:solidFill>
                <a:latin typeface="Arial"/>
              </a:defRPr>
            </a:pPr>
            <a:r>
              <a:t>   When paired with Iwi Trusts (K:01), Barnardos, or Graeme Dingle Foundation (Stars / Te Kāhui Whetū &amp; Project K, B:02 / C:03), double the reach of adolescent mentoring (from 17.3% to 65.0%+ of Years 8–10) and insulate all mentored rangatahi against Family Unemployment Shocks.</a:t>
            </a:r>
          </a:p>
          <a:p>
            <a:pPr>
              <a:spcAft>
                <a:spcPts val="350"/>
              </a:spcAft>
              <a:defRPr sz="880" b="0" i="1">
                <a:solidFill>
                  <a:srgbClr val="FFD166"/>
                </a:solidFill>
                <a:latin typeface="Arial"/>
              </a:defRPr>
            </a:pPr>
            <a:r>
              <a:t>💬 "Nobel orthodoxy said communities couldn't govern the commons without a boss or a billionaire. Elinor Ostrom—and centuries of Tuakana–Teina—proved them wrong."</a:t>
            </a:r>
          </a:p>
          <a:p>
            <a:pPr>
              <a:spcAft>
                <a:spcPts val="0"/>
              </a:spcAft>
              <a:defRPr sz="900" b="1" i="0">
                <a:solidFill>
                  <a:srgbClr val="72EFDD"/>
                </a:solidFill>
                <a:latin typeface="Arial"/>
              </a:defRPr>
            </a:pPr>
            <a:r>
              <a:t>🔗 River Synergy Links: B:01, B:02, C:03, K:01, N:02, H:02</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Ostrom Polycentric Commons Governance &amp; Local Information Advantage</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8 Design Principles for Polycentric Commons | Powers C:03 (2,500 Schools + 800 Marae hubs) and B:01/B:02 local delivery</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Polycentric community governance (Iwi, Hapu, Marae, local schools, Barnardos hubs) possesses superior local information I_local and monitoring trust compared to either remote state monopolies or atomized markets.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Ostrom, E. (1990). Governing the Commons: The Evolution of Institutions for Collective Action. Cambridge University Press (Nobel Prize 2009).</a:t>
            </a:r>
          </a:p>
          <a:p>
            <a:pPr>
              <a:spcAft>
                <a:spcPts val="200"/>
              </a:spcAft>
              <a:defRPr sz="840" b="0" i="0">
                <a:solidFill>
                  <a:srgbClr val="ECF8F8"/>
                </a:solidFill>
                <a:latin typeface="Arial"/>
              </a:defRPr>
            </a:pPr>
            <a:r>
              <a:t>• Ostrom, E. (2010). Beyond markets and states: Polycentric governance of complex economic systems. American Economic Review, 100(3), 641–672.</a:t>
            </a:r>
          </a:p>
          <a:p>
            <a:pPr>
              <a:spcAft>
                <a:spcPts val="200"/>
              </a:spcAft>
              <a:defRPr sz="840" b="0" i="1">
                <a:solidFill>
                  <a:srgbClr val="90E0EF"/>
                </a:solidFill>
                <a:latin typeface="Arial"/>
              </a:defRPr>
            </a:pPr>
            <a:r>
              <a:t>🏛️ Empirical Anchor: Ostrom (1990, 2009 Nobel Prize Lecture); Wenger, McDermott, &amp; Snyder (2002); Document 1C Section 6.</a:t>
            </a:r>
          </a:p>
          <a:p>
            <a:pPr>
              <a:spcAft>
                <a:spcPts val="0"/>
              </a:spcAft>
              <a:defRPr sz="850" b="1" i="0">
                <a:solidFill>
                  <a:srgbClr val="48CAE4"/>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N:04: Ostrom Polycentric Commons Governance &amp; Local Information Advantage   (Slide 35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[N:05]  Paul Romer's Collective Intelligence Reactor (Nobel Prize, 2018)   —   MODULE 4: NOBEL &amp; INSTITUTIONAL ARCHIVE</a:t>
            </a:r>
          </a:p>
          <a:p>
            <a:pPr algn="l">
              <a:spcAft>
                <a:spcPts val="0"/>
              </a:spcAft>
              <a:defRPr sz="950" b="0" i="1">
                <a:solidFill>
                  <a:srgbClr val="FFD166"/>
                </a:solidFill>
                <a:latin typeface="Arial"/>
              </a:defRPr>
            </a:pPr>
            <a:r>
              <a:t>Nobel Engine — Endogenous Non-Rival Knowledge Creation  •  Phase: Gate 3 (Ages 20-35) &amp; Intergenerational Loop  •  Cost/Req: Retain Domestic Age 20–35 Talent + Seed the Age-20 Youth Capital Grant (B:03)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48CAE4"/>
                </a:solidFill>
                <a:latin typeface="Arial"/>
              </a:defRPr>
            </a:pPr>
            <a:r>
              <a:t>▸ Compounding Ideas:</a:t>
            </a:r>
          </a:p>
          <a:p>
            <a:pPr>
              <a:spcAft>
                <a:spcPts val="300"/>
              </a:spcAft>
              <a:defRPr sz="940" b="0" i="0">
                <a:solidFill>
                  <a:srgbClr val="ECF8F8"/>
                </a:solidFill>
                <a:latin typeface="Arial"/>
              </a:defRPr>
            </a:pPr>
            <a:r>
              <a:t>   Unlike finite urban dirt, human capability and shared knowledge are non-rival—the more people use them, the more valuable they become.</a:t>
            </a:r>
          </a:p>
          <a:p>
            <a:pPr>
              <a:spcAft>
                <a:spcPts val="50"/>
              </a:spcAft>
              <a:defRPr sz="970" b="1" i="0">
                <a:solidFill>
                  <a:srgbClr val="48CAE4"/>
                </a:solidFill>
                <a:latin typeface="Arial"/>
              </a:defRPr>
            </a:pPr>
            <a:r>
              <a:t>▸ The Three-Fourths Generational Multiplier:</a:t>
            </a:r>
          </a:p>
          <a:p>
            <a:pPr>
              <a:spcAft>
                <a:spcPts val="300"/>
              </a:spcAft>
              <a:defRPr sz="940" b="0" i="0">
                <a:solidFill>
                  <a:srgbClr val="ECF8F8"/>
                </a:solidFill>
                <a:latin typeface="Arial"/>
              </a:defRPr>
            </a:pPr>
            <a:r>
              <a:t>   For every cohort that launches into the Thriving Skill Tier (65.0%) and stays in Aotearoa instead of emigrating, permanently increase regional enterprise wages by +3.2% to +9.6% and multiply the next generation's starting human capital by 1.75x.</a:t>
            </a:r>
          </a:p>
          <a:p>
            <a:pPr>
              <a:spcAft>
                <a:spcPts val="350"/>
              </a:spcAft>
              <a:defRPr sz="880" b="0" i="1">
                <a:solidFill>
                  <a:srgbClr val="FFD166"/>
                </a:solidFill>
                <a:latin typeface="Arial"/>
              </a:defRPr>
            </a:pPr>
            <a:r>
              <a:t>💬 "A nation that hoards residential land runs out of dirt. A nation that unlocks the collective intelligence of its children never runs out of altitude."</a:t>
            </a:r>
          </a:p>
          <a:p>
            <a:pPr>
              <a:spcAft>
                <a:spcPts val="0"/>
              </a:spcAft>
              <a:defRPr sz="900" b="1" i="0">
                <a:solidFill>
                  <a:srgbClr val="72EFDD"/>
                </a:solidFill>
                <a:latin typeface="Arial"/>
              </a:defRPr>
            </a:pPr>
            <a:r>
              <a:t>🔗 River Synergy Links: B:03, B:05, K:02, K:06, H:03, H:04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Romer Endogenous Growth &amp; Non-Rival Knowledge Spillover Multiplier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Non-rival ideas ∂²Y/∂A∂H &gt; 0 | Retaining 3,550/yr graduates (B:03) + Kaumātua wisdom (K:06) yields a 1.75× TFP/skill multiplier</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Unlike physical dirt (z_l), ideas and cultural/technical knowledge (A_t) are non-rival; stopping the graduate brain drain and honoring Kaumātua knowledge compounds national productivity by 1.75×.</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Romer, P. M. (1990). Endogenous technological change. Journal of Political Economy, 98(5, Part 2), S71–S102 (Nobel Prize 2018).</a:t>
            </a:r>
          </a:p>
          <a:p>
            <a:pPr>
              <a:spcAft>
                <a:spcPts val="200"/>
              </a:spcAft>
              <a:defRPr sz="840" b="0" i="0">
                <a:solidFill>
                  <a:srgbClr val="ECF8F8"/>
                </a:solidFill>
                <a:latin typeface="Arial"/>
              </a:defRPr>
            </a:pPr>
            <a:r>
              <a:t>• Acemoglu, D., Johnson, S., &amp; Robinson, J. A. (2005). Institutions as a fundamental cause of long-run growth (Nobel Prize 2024).</a:t>
            </a:r>
          </a:p>
          <a:p>
            <a:pPr>
              <a:spcAft>
                <a:spcPts val="200"/>
              </a:spcAft>
              <a:defRPr sz="840" b="0" i="1">
                <a:solidFill>
                  <a:srgbClr val="90E0EF"/>
                </a:solidFill>
                <a:latin typeface="Arial"/>
              </a:defRPr>
            </a:pPr>
            <a:r>
              <a:t>🏛️ Empirical Anchor: Romer (1990; Nobel Prize Oct 2018); Tiemann (Sept 2018, The Awesome Economics of Open Source); Document 1C Section 6.</a:t>
            </a:r>
          </a:p>
          <a:p>
            <a:pPr>
              <a:spcAft>
                <a:spcPts val="0"/>
              </a:spcAft>
              <a:defRPr sz="850" b="1" i="0">
                <a:solidFill>
                  <a:srgbClr val="48CAE4"/>
                </a:solidFill>
                <a:latin typeface="Arial"/>
              </a:defRPr>
            </a:pPr>
            <a:r>
              <a:t>💻 Monograph &amp; Code Hook: Doc 1B §4.6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N:05: Romer Endogenous Growth &amp; Non-Rival Knowledge Spillover Multiplier   (Slide 36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[N:06]  The Unclaimed Medallion: The Aotearoa Synthesis (Nobel Horizon, 203X)   —   MODULE 4: NOBEL &amp; INSTITUTIONAL ARCHIVE</a:t>
            </a:r>
          </a:p>
          <a:p>
            <a:pPr algn="l">
              <a:spcAft>
                <a:spcPts val="0"/>
              </a:spcAft>
              <a:defRPr sz="950" b="0" i="1">
                <a:solidFill>
                  <a:srgbClr val="FFD166"/>
                </a:solidFill>
                <a:latin typeface="Arial"/>
              </a:defRPr>
            </a:pPr>
            <a:r>
              <a:t>Mythic Victory Condition — The Coupled Hydrofoil (SS0 -&gt; SS1 -&gt; SS2)  •  Phase: SS2 Ultimate Victory  •  Cost/Req: Simultaneously control Dual-Gate Human Capability (B:01 + B:02), Use-It-Or-Lose-It Capital Rebalance (B:05), ACC Actuarial Accounting (B:07 / N:03), and The 2050 50/50 Stabilizer (B:06 / C:04).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48CAE4"/>
                </a:solidFill>
                <a:latin typeface="Arial"/>
              </a:defRPr>
            </a:pPr>
            <a:r>
              <a:t>▸ Flying, Not Floundering:</a:t>
            </a:r>
          </a:p>
          <a:p>
            <a:pPr>
              <a:spcAft>
                <a:spcPts val="300"/>
              </a:spcAft>
              <a:defRPr sz="940" b="0" i="0">
                <a:solidFill>
                  <a:srgbClr val="ECF8F8"/>
                </a:solidFill>
                <a:latin typeface="Arial"/>
              </a:defRPr>
            </a:pPr>
            <a:r>
              <a:t>   Compress cohort stunting to 1.5%, keep Universal NZ Superannuation solvent at Age 65, cut working-age PAYE taxes by -3.5 percentage points, and lift National Household Welfare by +20.49% CE (B:09).</a:t>
            </a:r>
          </a:p>
          <a:p>
            <a:pPr>
              <a:spcAft>
                <a:spcPts val="50"/>
              </a:spcAft>
              <a:defRPr sz="970" b="1" i="0">
                <a:solidFill>
                  <a:srgbClr val="48CAE4"/>
                </a:solidFill>
                <a:latin typeface="Arial"/>
              </a:defRPr>
            </a:pPr>
            <a:r>
              <a:t>▸ Write the Next Chapter:</a:t>
            </a:r>
          </a:p>
          <a:p>
            <a:pPr>
              <a:spcAft>
                <a:spcPts val="300"/>
              </a:spcAft>
              <a:defRPr sz="940" b="0" i="0">
                <a:solidFill>
                  <a:srgbClr val="ECF8F8"/>
                </a:solidFill>
                <a:latin typeface="Arial"/>
              </a:defRPr>
            </a:pPr>
            <a:r>
              <a:t>   When all four lenses operate as one coupled system, your team claims The Aotearoa Synthesis—proving to the world that when the math is right and the time is right, enormous change is possible, good, and sustainable.</a:t>
            </a:r>
          </a:p>
          <a:p>
            <a:pPr>
              <a:spcAft>
                <a:spcPts val="350"/>
              </a:spcAft>
              <a:defRPr sz="880" b="0" i="1">
                <a:solidFill>
                  <a:srgbClr val="FFD166"/>
                </a:solidFill>
                <a:latin typeface="Arial"/>
              </a:defRPr>
            </a:pPr>
            <a:r>
              <a:t>💬 "Five Nobel Laureates proved the parts. One small nation at the bottom of the world had the courage to bolt them together and fly."</a:t>
            </a:r>
          </a:p>
          <a:p>
            <a:pPr>
              <a:spcAft>
                <a:spcPts val="0"/>
              </a:spcAft>
              <a:defRPr sz="900" b="1" i="0">
                <a:solidFill>
                  <a:srgbClr val="72EFDD"/>
                </a:solidFill>
                <a:latin typeface="Arial"/>
              </a:defRPr>
            </a:pPr>
            <a:r>
              <a:t>🔗 River Synergy Links: B:01, B:02, B:05, B:06, B:07, B:09, N:01, N:02, N:03, N:04, N:05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Sen–Stiglitz–Fitoussi Multi-Capital Capability &amp; Well-Being Synthesis</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Simultaneous Pareto-improving victory across all 7 Capitals, all 4 Regions, and all 20 Rawlsian Birth Vigintiles</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GDP alone mismeasures national wealth when children are stunted and grids are brittle; true intergenerational welfare requires simultaneous flourishing across human capability, clean energy, and social trust.</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Sen, A. (1999). Development as Freedom. Oxford University Press (Nobel Prize in Economic Sciences 1998).</a:t>
            </a:r>
          </a:p>
          <a:p>
            <a:pPr>
              <a:spcAft>
                <a:spcPts val="200"/>
              </a:spcAft>
              <a:defRPr sz="840" b="0" i="0">
                <a:solidFill>
                  <a:srgbClr val="ECF8F8"/>
                </a:solidFill>
                <a:latin typeface="Arial"/>
              </a:defRPr>
            </a:pPr>
            <a:r>
              <a:t>• Stiglitz, J. E., Sen, A., &amp; Fitoussi, J.-P. (2009). Report by the Commission on the Measurement of Economic Performance and Social Progress.</a:t>
            </a:r>
          </a:p>
          <a:p>
            <a:pPr>
              <a:spcAft>
                <a:spcPts val="200"/>
              </a:spcAft>
              <a:defRPr sz="840" b="0" i="1">
                <a:solidFill>
                  <a:srgbClr val="90E0EF"/>
                </a:solidFill>
                <a:latin typeface="Arial"/>
              </a:defRPr>
            </a:pPr>
            <a:r>
              <a:t>🏛️ Empirical Anchor: Document 1C Section 6 Conclusion.</a:t>
            </a:r>
          </a:p>
          <a:p>
            <a:pPr>
              <a:spcAft>
                <a:spcPts val="0"/>
              </a:spcAft>
              <a:defRPr sz="850" b="1" i="0">
                <a:solidFill>
                  <a:srgbClr val="48CAE4"/>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N:06: Sen–Stiglitz–Fitoussi Multi-Capital Capability &amp; Well-Being Synthesis   (Slide 37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[H:01]  The Cash-Flow Myopia Trap ('Wait 18.8 Years!') vs. The Coase–Williamson Audit   —   MODULE 5: ORTHODOXY BOSS HAZARD</a:t>
            </a:r>
          </a:p>
          <a:p>
            <a:pPr algn="l">
              <a:spcAft>
                <a:spcPts val="0"/>
              </a:spcAft>
              <a:defRPr sz="950" b="0" i="1">
                <a:solidFill>
                  <a:srgbClr val="FFD166"/>
                </a:solidFill>
                <a:latin typeface="Arial"/>
              </a:defRPr>
            </a:pPr>
            <a:r>
              <a:t>Orthodoxy Hazard -&gt; Nobel Combo Counter-Play (Instant)  •  Phase: Turn 1-5 Boss Hazard  •  Cost/Req: Combo Counter Requirement: Tap N:01 (Coase) + N:03 (Williamson) (or B:07 + K:03).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48CAE4"/>
                </a:solidFill>
                <a:latin typeface="Arial"/>
              </a:defRPr>
            </a:pPr>
            <a:r>
              <a:t>▸ The Hazard (Played by the Board):</a:t>
            </a:r>
          </a:p>
          <a:p>
            <a:pPr>
              <a:spcAft>
                <a:spcPts val="300"/>
              </a:spcAft>
              <a:defRPr sz="940" b="0" i="0">
                <a:solidFill>
                  <a:srgbClr val="ECF8F8"/>
                </a:solidFill>
                <a:latin typeface="Arial"/>
              </a:defRPr>
            </a:pPr>
            <a:r>
              <a:t>   'The 3-Year Election Cycle.' Treasury's legacy cash-flow model (LTFM) declares that early-childhood investment is an unrecoverable fiscal deficit because cash breakeven takes 18.8 years. Freeze all Gate 1 (B:01) and Gate 2 (B:02) funding and add +NZD 17.7B/yr in reactive remediation hull drag.</a:t>
            </a:r>
          </a:p>
          <a:p>
            <a:pPr>
              <a:spcAft>
                <a:spcPts val="50"/>
              </a:spcAft>
              <a:defRPr sz="970" b="1" i="0">
                <a:solidFill>
                  <a:srgbClr val="48CAE4"/>
                </a:solidFill>
                <a:latin typeface="Arial"/>
              </a:defRPr>
            </a:pPr>
            <a:r>
              <a:t>▸ Counter-Play Effect — Bend the Accounting Daggerboard:</a:t>
            </a:r>
          </a:p>
          <a:p>
            <a:pPr>
              <a:spcAft>
                <a:spcPts val="300"/>
              </a:spcAft>
              <a:defRPr sz="940" b="0" i="0">
                <a:solidFill>
                  <a:srgbClr val="ECF8F8"/>
                </a:solidFill>
                <a:latin typeface="Arial"/>
              </a:defRPr>
            </a:pPr>
            <a:r>
              <a:t>   Switch the scoreboard from Cash-Flow Accounting to ACC-Style Actuarial Continuation Valuation (B:07). Instantly cancel the freeze and book 3.84x Audited Fiscal Breakeven in Year 5 (NZD 35.25B Fiscal / NZD 85.40B GDP at 2% real)—proving 1.16x breakeven (NZD 10.68B) from direct cost avoidance alone inside one parliamentary term.</a:t>
            </a:r>
          </a:p>
          <a:p>
            <a:pPr>
              <a:spcAft>
                <a:spcPts val="350"/>
              </a:spcAft>
              <a:defRPr sz="880" b="0" i="1">
                <a:solidFill>
                  <a:srgbClr val="FFD166"/>
                </a:solidFill>
                <a:latin typeface="Arial"/>
              </a:defRPr>
            </a:pPr>
            <a:r>
              <a:t>💬 "A displacement hull sees a 5-year expense. An actuarial hydrofoil sees 25 years of avoided prison cells and hospital beds booked on the balance sheet today."</a:t>
            </a:r>
          </a:p>
          <a:p>
            <a:pPr>
              <a:spcAft>
                <a:spcPts val="0"/>
              </a:spcAft>
              <a:defRPr sz="900" b="1" i="0">
                <a:solidFill>
                  <a:srgbClr val="72EFDD"/>
                </a:solidFill>
                <a:latin typeface="Arial"/>
              </a:defRPr>
            </a:pPr>
            <a:r>
              <a:t>🔗 River Synergy Links: B:07, K:03, N:01, N:03</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Myopic 3-Year Cash-Budget Truncation Bias (Orthodox Boss Hazard)</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Truncates 78 years of human-capital returns (ages 4–81) and applies punitive 6%–8% hurdle rates to early childhood care</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Judging an 81-year human capability investment over a 3-year parliamentary cash window systematically rejects every high-return preventative program (B:01, B:02) while rubber-stamping reactive prisons and hospitals.</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Stein, J. C. (1989). Efficient capital markets, inefficient firms: A model of myopic corporate behavior. Quarterly Journal of Economics, 104(4), 655–669.</a:t>
            </a:r>
          </a:p>
          <a:p>
            <a:pPr>
              <a:spcAft>
                <a:spcPts val="200"/>
              </a:spcAft>
              <a:defRPr sz="840" b="0" i="0">
                <a:solidFill>
                  <a:srgbClr val="ECF8F8"/>
                </a:solidFill>
                <a:latin typeface="Arial"/>
              </a:defRPr>
            </a:pPr>
            <a:r>
              <a:t>• New Zealand Treasury (2024). Circular 2024/15 &amp; CBAx Long-Horizon Actuarial Counter-Framework (Countered by Card B:07).</a:t>
            </a:r>
          </a:p>
          <a:p>
            <a:pPr>
              <a:spcAft>
                <a:spcPts val="200"/>
              </a:spcAft>
              <a:defRPr sz="840" b="0" i="1">
                <a:solidFill>
                  <a:srgbClr val="90E0EF"/>
                </a:solidFill>
                <a:latin typeface="Arial"/>
              </a:defRPr>
            </a:pPr>
            <a:r>
              <a:t>🏛️ Empirical Anchor: Document 1A Part V Section 2 (18.8-year cash vs. Year 5 actuarial breakeven).</a:t>
            </a:r>
          </a:p>
          <a:p>
            <a:pPr>
              <a:spcAft>
                <a:spcPts val="0"/>
              </a:spcAft>
              <a:defRPr sz="850" b="1" i="0">
                <a:solidFill>
                  <a:srgbClr val="48CAE4"/>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H:01: Myopic 3-Year Cash-Budget Truncation Bias (Orthodox Boss Hazard)   (Slide 38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[H:02]  The 'Wellington Knows Best' Bottleneck vs. The Ostrom–Heckman Community Engine   —   MODULE 5: ORTHODOXY BOSS HAZARD</a:t>
            </a:r>
          </a:p>
          <a:p>
            <a:pPr algn="l">
              <a:spcAft>
                <a:spcPts val="0"/>
              </a:spcAft>
              <a:defRPr sz="950" b="0" i="1">
                <a:solidFill>
                  <a:srgbClr val="FFD166"/>
                </a:solidFill>
                <a:latin typeface="Arial"/>
              </a:defRPr>
            </a:pPr>
            <a:r>
              <a:t>Orthodoxy Hazard -&gt; Nobel Combo Counter-Play (Instant)  •  Phase: Gate 1 &amp; Gate 2 Boss Hazard  •  Cost/Req: Combo Counter Requirement: Tap N:02 (Heckman) + N:04 (Ostrom) (or K:01 + B:02).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48CAE4"/>
                </a:solidFill>
                <a:latin typeface="Arial"/>
              </a:defRPr>
            </a:pPr>
            <a:r>
              <a:t>▸ The Hazard (Played by the Board):</a:t>
            </a:r>
          </a:p>
          <a:p>
            <a:pPr>
              <a:spcAft>
                <a:spcPts val="300"/>
              </a:spcAft>
              <a:defRPr sz="940" b="0" i="0">
                <a:solidFill>
                  <a:srgbClr val="ECF8F8"/>
                </a:solidFill>
                <a:latin typeface="Arial"/>
              </a:defRPr>
            </a:pPr>
            <a:r>
              <a:t>   'Siloed Bureaucracy &amp; Unbuffered Shock.' A regional unemployment shock hits families with 12-to-14-year-olds, while central agencies spend 30 cents of every dollar on compliance red tape. Unbuffered rangatahi lose their early childhood gains, and unrestricted cash transfers get swallowed by metropolitan rent.</a:t>
            </a:r>
          </a:p>
          <a:p>
            <a:pPr>
              <a:spcAft>
                <a:spcPts val="50"/>
              </a:spcAft>
              <a:defRPr sz="970" b="1" i="0">
                <a:solidFill>
                  <a:srgbClr val="48CAE4"/>
                </a:solidFill>
                <a:latin typeface="Arial"/>
              </a:defRPr>
            </a:pPr>
            <a:r>
              <a:t>▸ Counter-Play Effect — Trust the Commons, Lock in the Skill:</a:t>
            </a:r>
          </a:p>
          <a:p>
            <a:pPr>
              <a:spcAft>
                <a:spcPts val="300"/>
              </a:spcAft>
              <a:defRPr sz="940" b="0" i="0">
                <a:solidFill>
                  <a:srgbClr val="ECF8F8"/>
                </a:solidFill>
                <a:latin typeface="Arial"/>
              </a:defRPr>
            </a:pPr>
            <a:r>
              <a:t>   Bypass central micromanagement by routing in-kind resources directly through Iwi Trusts (K:01), Whānau Ora, Barnardos' Te Korowai Mokopuna (B:01), and Montessori / Tuakana–Teina &amp; Graeme Dingle Foundation (B:02, C:03) mentoring. Scale mentoring from 17.3% to 65.0%+, insulate the cohort against unemployment shocks, and compress adult stunting from 22.0% to 1.5%.</a:t>
            </a:r>
          </a:p>
          <a:p>
            <a:pPr>
              <a:spcAft>
                <a:spcPts val="350"/>
              </a:spcAft>
              <a:defRPr sz="880" b="0" i="1">
                <a:solidFill>
                  <a:srgbClr val="FFD166"/>
                </a:solidFill>
                <a:latin typeface="Arial"/>
              </a:defRPr>
            </a:pPr>
            <a:r>
              <a:t>💬 "Central bureaucracy writes concrete rules for yesterday's crisis. Polycentric communities adapt in real time and turn every older student into a leader."</a:t>
            </a:r>
          </a:p>
          <a:p>
            <a:pPr>
              <a:spcAft>
                <a:spcPts val="0"/>
              </a:spcAft>
              <a:defRPr sz="900" b="1" i="0">
                <a:solidFill>
                  <a:srgbClr val="72EFDD"/>
                </a:solidFill>
                <a:latin typeface="Arial"/>
              </a:defRPr>
            </a:pPr>
            <a:r>
              <a:t>🔗 River Synergy Links: B:01, B:02, C:03, K:01, N:02, N:04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Siloed Agency Principal-Agent Distortion &amp; Compliance Deadweight Loss</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M = 6+ uncoordinated ministries/agencies | Consumes ~32% in administrative deadweight loss before reaching Gate 1–2 whānau</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Splitting a child's needs across six separate agency budgets creates a Tragedy of the Anticommons where each silo defends its KPI while vulnerable whānau fall through the cracks (Countered by N:01 &amp; N:04).</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Holmstrom, B., &amp; Milgrom, P. (1991). Multitask principal-agent analyses: Incentive contracts, asset ownership, and job design (Nobel Prize 2016/2020).</a:t>
            </a:r>
          </a:p>
          <a:p>
            <a:pPr>
              <a:spcAft>
                <a:spcPts val="200"/>
              </a:spcAft>
              <a:defRPr sz="840" b="0" i="0">
                <a:solidFill>
                  <a:srgbClr val="ECF8F8"/>
                </a:solidFill>
                <a:latin typeface="Arial"/>
              </a:defRPr>
            </a:pPr>
            <a:r>
              <a:t>• New Zealand Productivity Commission (2015). More Effective Social Services: Inquiry into Siloed Commissioning.</a:t>
            </a:r>
          </a:p>
          <a:p>
            <a:pPr>
              <a:spcAft>
                <a:spcPts val="200"/>
              </a:spcAft>
              <a:defRPr sz="840" b="0" i="1">
                <a:solidFill>
                  <a:srgbClr val="90E0EF"/>
                </a:solidFill>
                <a:latin typeface="Arial"/>
              </a:defRPr>
            </a:pPr>
            <a:r>
              <a:t>🏛️ Empirical Anchor: Document 1A Part II Lens 1; Ferriere et al. (2025) non-homothetic in-kind public provision.</a:t>
            </a:r>
          </a:p>
          <a:p>
            <a:pPr>
              <a:spcAft>
                <a:spcPts val="0"/>
              </a:spcAft>
              <a:defRPr sz="850" b="1" i="0">
                <a:solidFill>
                  <a:srgbClr val="48CAE4"/>
                </a:solidFill>
                <a:latin typeface="Arial"/>
              </a:defRPr>
            </a:pPr>
            <a:r>
              <a:t>💻 Monograph &amp; Code Hook: Doc 1B §3.3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H:02: Siloed Agency Principal-Agent Distortion &amp; Compliance Deadweight Loss   (Slide 39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[H:03]  The Trans-Tasman Brain-Drain Vortex vs. The Romer–Coase Talent Magnet   —   MODULE 5: ORTHODOXY BOSS HAZARD</a:t>
            </a:r>
          </a:p>
          <a:p>
            <a:pPr algn="l">
              <a:spcAft>
                <a:spcPts val="0"/>
              </a:spcAft>
              <a:defRPr sz="950" b="0" i="1">
                <a:solidFill>
                  <a:srgbClr val="FFD166"/>
                </a:solidFill>
                <a:latin typeface="Arial"/>
              </a:defRPr>
            </a:pPr>
            <a:r>
              <a:t>Orthodoxy Hazard -&gt; Nobel Combo Counter-Play (Instant)  •  Phase: Gate 3 (Ages 20-35) Boss Hazard  •  Cost/Req: Combo Counter Requirement: Tap N:01 (Coase) + N:05 (Romer) + B:05 (Use-It-Or-Lose-It Rebalancer).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48CAE4"/>
                </a:solidFill>
                <a:latin typeface="Arial"/>
              </a:defRPr>
            </a:pPr>
            <a:r>
              <a:t>▸ The Hazard (Played by the Board):</a:t>
            </a:r>
          </a:p>
          <a:p>
            <a:pPr>
              <a:spcAft>
                <a:spcPts val="300"/>
              </a:spcAft>
              <a:defRPr sz="940" b="0" i="0">
                <a:solidFill>
                  <a:srgbClr val="ECF8F8"/>
                </a:solidFill>
                <a:latin typeface="Arial"/>
              </a:defRPr>
            </a:pPr>
            <a:r>
              <a:t>   'The Stepping-Stone Funnel to Sydney.' Speculative land hoarding inflates Auckland housing to 3.10x rural levels while local firms starve for expansion capital. 19.3% to 23.4% of freshly educated 20-to-35-year-old graduates in Auckland and Large regional cities emigrate to Australia.</a:t>
            </a:r>
          </a:p>
          <a:p>
            <a:pPr>
              <a:spcAft>
                <a:spcPts val="50"/>
              </a:spcAft>
              <a:defRPr sz="970" b="1" i="0">
                <a:solidFill>
                  <a:srgbClr val="48CAE4"/>
                </a:solidFill>
                <a:latin typeface="Arial"/>
              </a:defRPr>
            </a:pPr>
            <a:r>
              <a:t>▸ Counter-Play Effect — Unchain Capital &amp; Seed the Youth:</a:t>
            </a:r>
          </a:p>
          <a:p>
            <a:pPr>
              <a:spcAft>
                <a:spcPts val="300"/>
              </a:spcAft>
              <a:defRPr sz="940" b="0" i="0">
                <a:solidFill>
                  <a:srgbClr val="ECF8F8"/>
                </a:solidFill>
                <a:latin typeface="Arial"/>
              </a:defRPr>
            </a:pPr>
            <a:r>
              <a:t>   Shift taxes off productive enterprise onto dormant land wealth (1.5%) and the NZD 1.6T estate transfer (25%) to fund a universal Age-20 Youth Capital Grant (B:03). Cool metro housing (-7.5% to -10.5%), lift real regional wages by up to +9.6%, lift young-adult homeownership from 28.0% to 41.5%, and retain 3,550/yr skilled graduates in Aotearoa.</a:t>
            </a:r>
          </a:p>
          <a:p>
            <a:pPr>
              <a:spcAft>
                <a:spcPts val="350"/>
              </a:spcAft>
              <a:defRPr sz="880" b="0" i="1">
                <a:solidFill>
                  <a:srgbClr val="FFD166"/>
                </a:solidFill>
                <a:latin typeface="Arial"/>
              </a:defRPr>
            </a:pPr>
            <a:r>
              <a:t>💬 "Why export the most expensive education in the Southern Hemisphere for free when you can give young Kiwis a stake in the country they grew up in?"</a:t>
            </a:r>
          </a:p>
          <a:p>
            <a:pPr>
              <a:spcAft>
                <a:spcPts val="0"/>
              </a:spcAft>
              <a:defRPr sz="900" b="1" i="0">
                <a:solidFill>
                  <a:srgbClr val="72EFDD"/>
                </a:solidFill>
                <a:latin typeface="Arial"/>
              </a:defRPr>
            </a:pPr>
            <a:r>
              <a:t>🔗 River Synergy Links: B:03, B:05, K:02, N:01, N:05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Trans-Tasman Human-Capital Arbitrage &amp; Fiscal Externality Drain</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SS0 Metro Graduate Exile Rate = 19.3%–23.4% | NZ pays 100% of ages 0–21 education cost; Australia captures 40 years of PAYE/TFP</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When NZ taxes young wages heavily while leaving urban housing at 3.1× income and seeding zero youth equity, Sydney/Melbourne poaches 1 in 5 trained graduates free of charge (Countered by B:03 + B:05).</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Bhagwati, J., &amp; Hamada, K. (1974). The brain drain, international integration of markets for professionals and unemployment. Journal of Development Economics, 1(1), 19–42.</a:t>
            </a:r>
          </a:p>
          <a:p>
            <a:pPr>
              <a:spcAft>
                <a:spcPts val="200"/>
              </a:spcAft>
              <a:defRPr sz="840" b="0" i="0">
                <a:solidFill>
                  <a:srgbClr val="ECF8F8"/>
                </a:solidFill>
                <a:latin typeface="Arial"/>
              </a:defRPr>
            </a:pPr>
            <a:r>
              <a:t>• Gibson, J., &amp; McKenzie, D. (2012). The economic consequences of 'brain drain' of the best and brightest: Microeconomic evidence from five countries. Economic Journal, 122(561), 339–375.</a:t>
            </a:r>
          </a:p>
          <a:p>
            <a:pPr>
              <a:spcAft>
                <a:spcPts val="200"/>
              </a:spcAft>
              <a:defRPr sz="840" b="0" i="1">
                <a:solidFill>
                  <a:srgbClr val="90E0EF"/>
                </a:solidFill>
                <a:latin typeface="Arial"/>
              </a:defRPr>
            </a:pPr>
            <a:r>
              <a:t>🏛️ Empirical Anchor: Document 1A Part II Lens 2 &amp; Part IV Section 4; Ireland 1967-2002 brain-drain reversal.</a:t>
            </a:r>
          </a:p>
          <a:p>
            <a:pPr>
              <a:spcAft>
                <a:spcPts val="0"/>
              </a:spcAft>
              <a:defRPr sz="850" b="1" i="0">
                <a:solidFill>
                  <a:srgbClr val="48CAE4"/>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H:03: Trans-Tasman Human-Capital Arbitrage &amp; Fiscal Externality Drain   (Slide 40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[H:04]  The 'Actuarial Burden' Trap ('Raise the Pension Age to 70!') vs. The Living Bequest   —   MODULE 5: ORTHODOXY BOSS HAZARD</a:t>
            </a:r>
          </a:p>
          <a:p>
            <a:pPr algn="l">
              <a:spcAft>
                <a:spcPts val="0"/>
              </a:spcAft>
              <a:defRPr sz="950" b="0" i="1">
                <a:solidFill>
                  <a:srgbClr val="FFD166"/>
                </a:solidFill>
                <a:latin typeface="Arial"/>
              </a:defRPr>
            </a:pPr>
            <a:r>
              <a:t>Orthodoxy Hazard -&gt; Lens 3 Counter-Play (Instant)  •  Phase: Lens 3 Retirement Boss Hazard  •  Cost/Req: Combo Counter Requirement: Tap K:06 (Kaumātua Dividend) + N:05 (Romer) + B:05 (Use-It-Or-Lose-It).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48CAE4"/>
                </a:solidFill>
                <a:latin typeface="Arial"/>
              </a:defRPr>
            </a:pPr>
            <a:r>
              <a:t>▸ The Hazard (Played by the Board):</a:t>
            </a:r>
          </a:p>
          <a:p>
            <a:pPr>
              <a:spcAft>
                <a:spcPts val="300"/>
              </a:spcAft>
              <a:defRPr sz="940" b="0" i="0">
                <a:solidFill>
                  <a:srgbClr val="ECF8F8"/>
                </a:solidFill>
                <a:latin typeface="Arial"/>
              </a:defRPr>
            </a:pPr>
            <a:r>
              <a:t>   'The Demographic Vise.' Austerity orthodoxy demands raising the NZ Super age to 67 or 70 (triggering a 38%–45% disability/benefit substitution leak and regressively penalizing Māori, Pasifika, and manual workers while PAYE still climbs to 25.55%–26.85%). Exhaust all Age 65+ cards; 0 Lifetime Experience Tokens can be shared.</a:t>
            </a:r>
          </a:p>
          <a:p>
            <a:pPr>
              <a:spcAft>
                <a:spcPts val="50"/>
              </a:spcAft>
              <a:defRPr sz="970" b="1" i="0">
                <a:solidFill>
                  <a:srgbClr val="48CAE4"/>
                </a:solidFill>
                <a:latin typeface="Arial"/>
              </a:defRPr>
            </a:pPr>
            <a:r>
              <a:t>▸ Counter-Play Effect — Pass the Torch, Not the Speculative Bubble:</a:t>
            </a:r>
          </a:p>
          <a:p>
            <a:pPr>
              <a:spcAft>
                <a:spcPts val="300"/>
              </a:spcAft>
              <a:defRPr sz="940" b="0" i="0">
                <a:solidFill>
                  <a:srgbClr val="ECF8F8"/>
                </a:solidFill>
                <a:latin typeface="Arial"/>
              </a:defRPr>
            </a:pPr>
            <a:r>
              <a:t>   Rotate dormant property hoarding from the NZD 1.6T transfer into the Age-20 Youth Capital Grant (B:03) while keeping Universal NZ Super at Age 65 (B:06, bending required PAYE down to 24.90% in SS1 and 18.5% in SS2, both outperforming Age 70 alternative!). Unlock both financial capital and 60 years of accumulated human wisdom (K:06).</a:t>
            </a:r>
          </a:p>
          <a:p>
            <a:pPr>
              <a:spcAft>
                <a:spcPts val="350"/>
              </a:spcAft>
              <a:defRPr sz="880" b="0" i="1">
                <a:solidFill>
                  <a:srgbClr val="FFD166"/>
                </a:solidFill>
                <a:latin typeface="Arial"/>
              </a:defRPr>
            </a:pPr>
            <a:r>
              <a:t>💬 "A society that impoverishes its elders or exiles its youth breaks the chain of memory. A society that honors both turns a lifetime of learning into the next generation's launchpad."</a:t>
            </a:r>
          </a:p>
          <a:p>
            <a:pPr>
              <a:spcAft>
                <a:spcPts val="0"/>
              </a:spcAft>
              <a:defRPr sz="900" b="1" i="0">
                <a:solidFill>
                  <a:srgbClr val="72EFDD"/>
                </a:solidFill>
                <a:latin typeface="Arial"/>
              </a:defRPr>
            </a:pPr>
            <a:r>
              <a:t>🔗 River Synergy Links: B:05, B:06, K:06, N:05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The Austerity False Trilemma: Super Age Hike vs. PAYE Creep</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SS0 Austerity Drift: PAYE 22.0% → 28.2% or Super Age → 67–70 | SS2 Counter (B:06): PAYE cut to 18.5% &amp; Super kept at Age 65!</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Raising the pension age to 67–70 is a regressive tax on manual workers and short-lived cohorts caused solely by leaving 22% of children stunted and NZD 1.6T in land untaxed (Countered by B:06 + K:06).</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Diamond, P. A. (1977). A framework for social security analysis. Journal of Public Economics, 8(3), 275–298 (Nobel Prize 2010).</a:t>
            </a:r>
          </a:p>
          <a:p>
            <a:pPr>
              <a:spcAft>
                <a:spcPts val="200"/>
              </a:spcAft>
              <a:defRPr sz="840" b="0" i="0">
                <a:solidFill>
                  <a:srgbClr val="ECF8F8"/>
                </a:solidFill>
                <a:latin typeface="Arial"/>
              </a:defRPr>
            </a:pPr>
            <a:r>
              <a:t>• Chetty, R., Stepner, M., Abraham, S., et al. (2016). The association between income and life expectancy in the United States. JAMA, 315(16), 1750–1766.</a:t>
            </a:r>
          </a:p>
          <a:p>
            <a:pPr>
              <a:spcAft>
                <a:spcPts val="200"/>
              </a:spcAft>
              <a:defRPr sz="840" b="0" i="1">
                <a:solidFill>
                  <a:srgbClr val="90E0EF"/>
                </a:solidFill>
                <a:latin typeface="Arial"/>
              </a:defRPr>
            </a:pPr>
            <a:r>
              <a:t>🏛️ Empirical Anchor: Document 1A Part IV Section 5 (Why keeping NZ Super at 65 beats raising the pension age to 67 or 70).</a:t>
            </a:r>
          </a:p>
          <a:p>
            <a:pPr>
              <a:spcAft>
                <a:spcPts val="0"/>
              </a:spcAft>
              <a:defRPr sz="850" b="1" i="0">
                <a:solidFill>
                  <a:srgbClr val="48CAE4"/>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H:04: The Austerity False Trilemma: Super Age Hike vs. PAYE Creep   (Slide 41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[H:05]  The 1989 Tokyo Land-Bubble Boss vs. The 4-Laureate 2050 Stabilizer   —   MODULE 5: ORTHODOXY BOSS HAZARD</a:t>
            </a:r>
          </a:p>
          <a:p>
            <a:pPr algn="l">
              <a:spcAft>
                <a:spcPts val="0"/>
              </a:spcAft>
              <a:defRPr sz="950" b="0" i="1">
                <a:solidFill>
                  <a:srgbClr val="FFD166"/>
                </a:solidFill>
                <a:latin typeface="Arial"/>
              </a:defRPr>
            </a:pPr>
            <a:r>
              <a:t>End-Game Crisis Boss -&gt; Ultimate Coupled Counter-Play  •  Phase: Phase 2 (SS2) End-Game Boss  •  Cost/Req: Combo Counter Requirement: Tap N:01–N:05 alongside B:06 (The 2050 50/50 Stabilizer) and C:04 (Coastal &amp; Grid Armor).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48CAE4"/>
                </a:solidFill>
                <a:latin typeface="Arial"/>
              </a:defRPr>
            </a:pPr>
            <a:r>
              <a:t>▸ The Hazard (Played by the Board in Phase 2):</a:t>
            </a:r>
          </a:p>
          <a:p>
            <a:pPr>
              <a:spcAft>
                <a:spcPts val="300"/>
              </a:spcAft>
              <a:defRPr sz="940" b="0" i="0">
                <a:solidFill>
                  <a:srgbClr val="ECF8F8"/>
                </a:solidFill>
                <a:latin typeface="Arial"/>
              </a:defRPr>
            </a:pPr>
            <a:r>
              <a:t>   'The Devolved Scotland Ceiling (T:01) &amp; The Tokyo Speculative Trap (T:02).' Your Phase 1 social reforms succeeded! Productivity is rising and surpluses are rolling in—but speculative investors try to pour the newfound national wealth straight back into finite urban land, threatening a 1989 Tokyo-style bubble.</a:t>
            </a:r>
          </a:p>
          <a:p>
            <a:pPr>
              <a:spcAft>
                <a:spcPts val="50"/>
              </a:spcAft>
              <a:defRPr sz="970" b="1" i="0">
                <a:solidFill>
                  <a:srgbClr val="48CAE4"/>
                </a:solidFill>
                <a:latin typeface="Arial"/>
              </a:defRPr>
            </a:pPr>
            <a:r>
              <a:t>▸ Counter-Play Effect — Engage the Rear T-Foil Stabilizer:</a:t>
            </a:r>
          </a:p>
          <a:p>
            <a:pPr>
              <a:spcAft>
                <a:spcPts val="300"/>
              </a:spcAft>
              <a:defRPr sz="940" b="0" i="0">
                <a:solidFill>
                  <a:srgbClr val="ECF8F8"/>
                </a:solidFill>
                <a:latin typeface="Arial"/>
              </a:defRPr>
            </a:pPr>
            <a:r>
              <a:t>   Legally lock 50% of every net fiscal surplus into the Sovereign Debt Reduction Sinking Fund (retiring NZD 17.8B–21.9B of debt per wave and cutting interest rates by 60 bps) and 50% into the Public Infrastructure Pool (at a 1.65x multiplier). Prevent the land bubble, keep NZ Super at 65, and deliver a permanent -3.5 pp PAYE tax cut in SS2.</a:t>
            </a:r>
          </a:p>
          <a:p>
            <a:pPr>
              <a:spcAft>
                <a:spcPts val="350"/>
              </a:spcAft>
              <a:defRPr sz="880" b="0" i="1">
                <a:solidFill>
                  <a:srgbClr val="FFD166"/>
                </a:solidFill>
                <a:latin typeface="Arial"/>
              </a:defRPr>
            </a:pPr>
            <a:r>
              <a:t>💬 "Generating a miracle takes a front foil and a wing-sail. Keeping it for your grandchildren takes a rear T-foil stabilizer."</a:t>
            </a:r>
          </a:p>
          <a:p>
            <a:pPr>
              <a:spcAft>
                <a:spcPts val="0"/>
              </a:spcAft>
              <a:defRPr sz="900" b="1" i="0">
                <a:solidFill>
                  <a:srgbClr val="72EFDD"/>
                </a:solidFill>
                <a:latin typeface="Arial"/>
              </a:defRPr>
            </a:pPr>
            <a:r>
              <a:t>🔗 River Synergy Links: B:06, C:04, N:01, N:02, N:03, N:04, N:05, T:01, T:02</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Capital-Income Tax Disharmony &amp; Speculative Portfolio Skew</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Top 0.25% Speculator (20:20, NZD 100M+ passive land) captures tax-free capital gains while crowding out 19/20 productive builders</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Exempting speculative land gains while taxing wages and business profits distorts the national capital stock into non-tradable housing inflation and starved firm CapEx (Countered by B:05).</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Chamley, C. (1986), &amp; Judd, K. L. (1985) vs. Straub, L., &amp; Werning, I. (2020). Positive long-run capital taxation: Chamley–Judd revisited. American Economic Review, 110(1), 86–119.</a:t>
            </a:r>
          </a:p>
          <a:p>
            <a:pPr>
              <a:spcAft>
                <a:spcPts val="200"/>
              </a:spcAft>
              <a:defRPr sz="840" b="0" i="0">
                <a:solidFill>
                  <a:srgbClr val="ECF8F8"/>
                </a:solidFill>
                <a:latin typeface="Arial"/>
              </a:defRPr>
            </a:pPr>
            <a:r>
              <a:t>• Guvenen, F., et al. (2023). Use it or lose it: Efficiency and redistributional effects of wealth taxation. Quarterly Journal of Economics, 138(2), 835–894.</a:t>
            </a:r>
          </a:p>
          <a:p>
            <a:pPr>
              <a:spcAft>
                <a:spcPts val="200"/>
              </a:spcAft>
              <a:defRPr sz="840" b="0" i="1">
                <a:solidFill>
                  <a:srgbClr val="90E0EF"/>
                </a:solidFill>
                <a:latin typeface="Arial"/>
              </a:defRPr>
            </a:pPr>
            <a:r>
              <a:t>🏛️ Empirical Anchor: Document 1A Part V Section 1 &amp; Part VI Coda (Deming's 1950 Lecture vs. 1989 Tokyo Bubble).</a:t>
            </a:r>
          </a:p>
          <a:p>
            <a:pPr>
              <a:spcAft>
                <a:spcPts val="0"/>
              </a:spcAft>
              <a:defRPr sz="850" b="1" i="0">
                <a:solidFill>
                  <a:srgbClr val="48CAE4"/>
                </a:solidFill>
                <a:latin typeface="Arial"/>
              </a:defRPr>
            </a:pPr>
            <a:r>
              <a:t>💻 Monograph &amp; Code Hook: Doc 1B §4.1 • Data: data/earn_plus_own_10tiers.csv</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H:05: Capital-Income Tax Disharmony &amp; Speculative Portfolio Skew   (Slide 42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[H:06]  The 1972 Nostalgia Baseline (Dunedin vs. GUiNZ Shift)   —   MODULE 5: ORTHODOXY BOSS HAZARD</a:t>
            </a:r>
          </a:p>
          <a:p>
            <a:pPr algn="l">
              <a:spcAft>
                <a:spcPts val="0"/>
              </a:spcAft>
              <a:defRPr sz="950" b="0" i="1">
                <a:solidFill>
                  <a:srgbClr val="FFD166"/>
                </a:solidFill>
                <a:latin typeface="Arial"/>
              </a:defRPr>
            </a:pPr>
            <a:r>
              <a:t>Orthodoxy Boss Hazard — Structural Safety-Net Decay  •  Phase: Gate 1 (Ages 0–5) &amp; Gate 2 (Ages 12–14)  •  Cost/Req: Boss Hazard: Active in SS0 whenever Gate 1 (B:01) &amp; Housing Cooling (B:05/K:03) are unplayed.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48CAE4"/>
                </a:solidFill>
                <a:latin typeface="Arial"/>
              </a:defRPr>
            </a:pPr>
            <a:r>
              <a:t>▸ First-Order Effect (The 1972 → 2010 Safety-Net Erosion):</a:t>
            </a:r>
          </a:p>
          <a:p>
            <a:pPr>
              <a:spcAft>
                <a:spcPts val="300"/>
              </a:spcAft>
              <a:defRPr sz="940" b="0" i="0">
                <a:solidFill>
                  <a:srgbClr val="ECF8F8"/>
                </a:solidFill>
                <a:latin typeface="Arial"/>
              </a:defRPr>
            </a:pPr>
            <a:r>
              <a:t>   Orthodox models calibrate to the 1972 Dunedin birth cohort (22% vulnerability under 1.2x rents and Universal Family Benefit), ignoring the 2010 GUiNZ reality where 3.1x urban rents and &gt;45% rental transience drag Vigintiles 5 &amp; 6 (d20 rolls 1–6 = 30%) into the Stone–Geary corner (i_c = 0).</a:t>
            </a:r>
          </a:p>
          <a:p>
            <a:pPr>
              <a:spcAft>
                <a:spcPts val="50"/>
              </a:spcAft>
              <a:defRPr sz="970" b="1" i="0">
                <a:solidFill>
                  <a:srgbClr val="48CAE4"/>
                </a:solidFill>
                <a:latin typeface="Arial"/>
              </a:defRPr>
            </a:pPr>
            <a:r>
              <a:t>▸ Second-Order Effect (Compounding Misery &amp; Fiscal Penalty):</a:t>
            </a:r>
          </a:p>
          <a:p>
            <a:pPr>
              <a:spcAft>
                <a:spcPts val="300"/>
              </a:spcAft>
              <a:defRPr sz="940" b="0" i="0">
                <a:solidFill>
                  <a:srgbClr val="ECF8F8"/>
                </a:solidFill>
                <a:latin typeface="Arial"/>
              </a:defRPr>
            </a:pPr>
            <a:r>
              <a:t>   Increases SS0 Remediation Hull Drag from NZD 17.7B/yr to NZD 28.5B/yr (+NZD 10.8B/yr across Exits 1, 2, &amp; 4), drops Social Cohesion by -8.5 pts (100.0 → 91.5), and pushes 2050 PAYE drift to 30.4%. Countered by B:01 + B:05/K:03 + B:02 (boosting B:07 Year-5 Actuarial Return by +0.6x to 4.4x!).</a:t>
            </a:r>
          </a:p>
          <a:p>
            <a:pPr>
              <a:spcAft>
                <a:spcPts val="350"/>
              </a:spcAft>
              <a:defRPr sz="880" b="0" i="1">
                <a:solidFill>
                  <a:srgbClr val="FFD166"/>
                </a:solidFill>
                <a:latin typeface="Arial"/>
              </a:defRPr>
            </a:pPr>
            <a:r>
              <a:t>💬 "You cannot budget for a 2026 housing and child-poverty crisis using a rearview mirror pointed at 1972."</a:t>
            </a:r>
          </a:p>
          <a:p>
            <a:pPr>
              <a:spcAft>
                <a:spcPts val="0"/>
              </a:spcAft>
              <a:defRPr sz="900" b="1" i="0">
                <a:solidFill>
                  <a:srgbClr val="72EFDD"/>
                </a:solidFill>
                <a:latin typeface="Arial"/>
              </a:defRPr>
            </a:pPr>
            <a:r>
              <a:t>🔗 River Synergy Links: B:00, B:01, B:02, B:05, B:07, K:03</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Cohort Distribution Drift &amp; Stone–Geary Subsistence Boundary Shift (1972 → 2010)</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Pr(i_c = 0): 22.0% (1972 Dunedin, d20 1–4) → 30.0% (2010 GUiNZ, d20 1–6) | &gt;45% rental transience cuts γ₁ by −25% | SS0 Drag: NZD 17.7B → 28.5B/yr</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When 3.1× urban rents and 1991 safety-net cuts expand the zero-investment corner (i_c = 0) from 22% to 30% of births, unbuffered fiscal drag surges by +NZD 10.8B/yr—while the marginal actuarial return (B:07) of in-kind wraparound (B:01) rises from 3.8× to 4.4×.</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Morton, S. M. B., et al. (2023–2025). Growing Up in New Zealand: Now We Are 12 &amp; Now We Are 15 Longitudinal Reports (Material Hardship, Transience, &amp; Youth Mental Health).</a:t>
            </a:r>
          </a:p>
          <a:p>
            <a:pPr>
              <a:spcAft>
                <a:spcPts val="200"/>
              </a:spcAft>
              <a:defRPr sz="840" b="0" i="0">
                <a:solidFill>
                  <a:srgbClr val="ECF8F8"/>
                </a:solidFill>
                <a:latin typeface="Arial"/>
              </a:defRPr>
            </a:pPr>
            <a:r>
              <a:t>• Poulton, R., Moffitt, T. E., &amp; Silva, P. A. (2015). The Dunedin Multidisciplinary Health and Development Study: Overview of the first 40 years. Social Psychiatry and Psychiatric Epidemiology, 50(5), 679–693.</a:t>
            </a:r>
          </a:p>
          <a:p>
            <a:pPr>
              <a:spcAft>
                <a:spcPts val="200"/>
              </a:spcAft>
              <a:defRPr sz="840" b="0" i="0">
                <a:solidFill>
                  <a:srgbClr val="ECF8F8"/>
                </a:solidFill>
                <a:latin typeface="Arial"/>
              </a:defRPr>
            </a:pPr>
            <a:r>
              <a:t>• Cunha, F., Heckman, J. J., &amp; Schennach, S. M. (2010). Estimating the technology of cognitive and noncognitive skill formation. Econometrica, 78(3), 883–931.</a:t>
            </a:r>
          </a:p>
          <a:p>
            <a:pPr>
              <a:spcAft>
                <a:spcPts val="200"/>
              </a:spcAft>
              <a:defRPr sz="840" b="0" i="1">
                <a:solidFill>
                  <a:srgbClr val="90E0EF"/>
                </a:solidFill>
                <a:latin typeface="Arial"/>
              </a:defRPr>
            </a:pPr>
            <a:r>
              <a:t>🏛️ Empirical Anchor: Dunedin Study (1972–73 cohort, n=1,037: 22% vulnerability) vs. Growing Up in NZ (2009–10 cohort, n=6,853: 14.3% acute persistent deprivation + 13.7% transient rental squeeze = 28%–30% total exposure; Now We Are 12 &amp; 15 waves).</a:t>
            </a:r>
          </a:p>
          <a:p>
            <a:pPr>
              <a:spcAft>
                <a:spcPts val="0"/>
              </a:spcAft>
              <a:defRPr sz="850" b="1" i="0">
                <a:solidFill>
                  <a:srgbClr val="48CAE4"/>
                </a:solidFill>
                <a:latin typeface="Arial"/>
              </a:defRPr>
            </a:pPr>
            <a:r>
              <a:t>💻 Monograph &amp; Code Hook: Doc 1A §3.6 &amp; Doc 1B §2.3 • Script: scripts/audit_guinz_vs_dunedin.py</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H:06: Cohort Distribution Drift &amp; Stone–Geary Subsistence Boundary Shift (1972 → 2010)   (Slide 43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[E:01]  Swapping Fuels for Finance (The First-Order Electrification Card)   —   MODULE 6: CLEAN ENERGY &amp; GRID ENDOWMENT</a:t>
            </a:r>
          </a:p>
          <a:p>
            <a:pPr algn="l">
              <a:spcAft>
                <a:spcPts val="0"/>
              </a:spcAft>
              <a:defRPr sz="950" b="0" i="1">
                <a:solidFill>
                  <a:srgbClr val="FFD166"/>
                </a:solidFill>
                <a:latin typeface="Arial"/>
              </a:defRPr>
            </a:pPr>
            <a:r>
              <a:t>Player-Drafted Artifact — First-Order Energy Transition (Easy Mode)  •  Phase: Track 1 Tutorial (First-Order Budget Pie)  •  Cost/Req: Cancel the NZD 6.2B Imported LNG Terminal + Sequence via End-of-Life Appliance Replacement (Option B) or C:04 Infra Pool for P01–P50 (Option D).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30" b="1" i="0">
                <a:solidFill>
                  <a:srgbClr val="48CAE4"/>
                </a:solidFill>
                <a:latin typeface="Arial"/>
              </a:defRPr>
            </a:pPr>
            <a:r>
              <a:t>▸ The Crowd-Out Constraint (Why Option A Fails):</a:t>
            </a:r>
          </a:p>
          <a:p>
            <a:pPr>
              <a:spcAft>
                <a:spcPts val="300"/>
              </a:spcAft>
              <a:defRPr sz="900" b="0" i="0">
                <a:solidFill>
                  <a:srgbClr val="ECF8F8"/>
                </a:solidFill>
                <a:latin typeface="Arial"/>
              </a:defRPr>
            </a:pPr>
            <a:r>
              <a:t>   If you fund a 100% upfront sprint by raiding B:01 (First 2000 Days) or B:02 (Tuakana–Teina Mentoring) in Phase 1 (SS1), take +NZD 105,000/yr per stunted child in reactive remediation hull drag.</a:t>
            </a:r>
          </a:p>
          <a:p>
            <a:pPr>
              <a:spcAft>
                <a:spcPts val="50"/>
              </a:spcAft>
              <a:defRPr sz="930" b="1" i="0">
                <a:solidFill>
                  <a:srgbClr val="48CAE4"/>
                </a:solidFill>
                <a:latin typeface="Arial"/>
              </a:defRPr>
            </a:pPr>
            <a:r>
              <a:t>▸ Targeting Rule (Option D Beats Option C):</a:t>
            </a:r>
          </a:p>
          <a:p>
            <a:pPr>
              <a:spcAft>
                <a:spcPts val="300"/>
              </a:spcAft>
              <a:defRPr sz="900" b="0" i="0">
                <a:solidFill>
                  <a:srgbClr val="ECF8F8"/>
                </a:solidFill>
                <a:latin typeface="Arial"/>
              </a:defRPr>
            </a:pPr>
            <a:r>
              <a:t>   Never spend Crown tax breaks subsidizing top-half homeowners (P50–P100) who already earn 15%–17% IRR on solar (Option C—triggers a regressive Grid Death Spiral for renters). Instead, route C:04 infrastructure capital into Bottom-Half Whānau, Social Housing, Schools, and Marae (Option D)—slashing Exit 2 (Paediatric Respiratory Hospitalisations) and accelerating B:07 (Year 5 ACC Breakeven).</a:t>
            </a:r>
          </a:p>
          <a:p>
            <a:pPr>
              <a:spcAft>
                <a:spcPts val="50"/>
              </a:spcAft>
              <a:defRPr sz="930" b="1" i="0">
                <a:solidFill>
                  <a:srgbClr val="48CAE4"/>
                </a:solidFill>
                <a:latin typeface="Arial"/>
              </a:defRPr>
            </a:pPr>
            <a:r>
              <a:t>▸ First-Order Payoff:</a:t>
            </a:r>
          </a:p>
          <a:p>
            <a:pPr>
              <a:spcAft>
                <a:spcPts val="300"/>
              </a:spcAft>
              <a:defRPr sz="900" b="0" i="0">
                <a:solidFill>
                  <a:srgbClr val="ECF8F8"/>
                </a:solidFill>
                <a:latin typeface="Arial"/>
              </a:defRPr>
            </a:pPr>
            <a:r>
              <a:t>   Gain +NZD 10.7B to +NZD 15.55B/yr in direct fuel and maintenance savings across Aotearoa and cut 10M tonnes/yr of emissions.</a:t>
            </a:r>
          </a:p>
          <a:p>
            <a:pPr>
              <a:spcAft>
                <a:spcPts val="350"/>
              </a:spcAft>
              <a:defRPr sz="880" b="0" i="1">
                <a:solidFill>
                  <a:srgbClr val="FFD166"/>
                </a:solidFill>
                <a:latin typeface="Arial"/>
              </a:defRPr>
            </a:pPr>
            <a:r>
              <a:t>💬 "In first-order economics, every dollar spent on a solar panel looks like a dollar stolen from a kindergartner. To get both at once without waiting twenty years, you have to look at the second-order math..."</a:t>
            </a:r>
          </a:p>
          <a:p>
            <a:pPr>
              <a:spcAft>
                <a:spcPts val="0"/>
              </a:spcAft>
              <a:defRPr sz="900" b="1" i="0">
                <a:solidFill>
                  <a:srgbClr val="72EFDD"/>
                </a:solidFill>
                <a:latin typeface="Arial"/>
              </a:defRPr>
            </a:pPr>
            <a:r>
              <a:t>🔗 River Synergy Links: B:01, B:06, B:07, C:04, C:05</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First-Order Partial-Equilibrium Electrification Cost-Savings Identity</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4 Sectors (Homes, Schools/Marae, Commercial, Industry) | 3.3–4.3 yr payback | −10.0 MtCO₂e/yr | Vulnerable to H:01 Crowd-Out Claim</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In Easy Mode (partial equilibrium), electrifying homes, schools, and industry saves NZD 11B/yr; however, without solving for μ*(s), orthodox critics claim the NZD 36B–48B CapEx crowds out social investment.</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Rewiring Aotearoa (2025). Electric Homes &amp; Machine Count: Partial-Equilibrium Cost-Savings Audit Across New Zealand Households.</a:t>
            </a:r>
          </a:p>
          <a:p>
            <a:pPr>
              <a:spcAft>
                <a:spcPts val="200"/>
              </a:spcAft>
              <a:defRPr sz="840" b="0" i="0">
                <a:solidFill>
                  <a:srgbClr val="ECF8F8"/>
                </a:solidFill>
                <a:latin typeface="Arial"/>
              </a:defRPr>
            </a:pPr>
            <a:r>
              <a:t>• Energy Efficiency and Conservation Authority (EECA, 2025). New Zealand Energy End-Use Database.</a:t>
            </a:r>
          </a:p>
          <a:p>
            <a:pPr>
              <a:spcAft>
                <a:spcPts val="200"/>
              </a:spcAft>
              <a:defRPr sz="840" b="0" i="1">
                <a:solidFill>
                  <a:srgbClr val="90E0EF"/>
                </a:solidFill>
                <a:latin typeface="Arial"/>
              </a:defRPr>
            </a:pPr>
            <a:r>
              <a:t>🏛️ Empirical Anchor: Griffith, Ellison, Pawson, &amp; Conway (Aug 2024, Investing in Tomorrow: Rewiring Aotearoa); IG Welfare Game Changer Tutorial Part 1.</a:t>
            </a:r>
          </a:p>
          <a:p>
            <a:pPr>
              <a:spcAft>
                <a:spcPts val="0"/>
              </a:spcAft>
              <a:defRPr sz="850" b="1" i="0">
                <a:solidFill>
                  <a:srgbClr val="48CAE4"/>
                </a:solidFill>
                <a:latin typeface="Arial"/>
              </a:defRPr>
            </a:pPr>
            <a:r>
              <a:t>💻 Monograph &amp; Code Hook: Doc 1B §5.2 • Rules: rules/game_changer_tutorial.md</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E:01: First-Order Partial-Equilibrium Electrification Cost-Savings Identity   (Slide 44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[E:02]  Energy as Endowment (The QEA-2026 Stationary Distribution Shift)   —   MODULE 6: CLEAN ENERGY &amp; GRID ENDOWMENT</a:t>
            </a:r>
          </a:p>
          <a:p>
            <a:pPr algn="l">
              <a:spcAft>
                <a:spcPts val="0"/>
              </a:spcAft>
              <a:defRPr sz="950" b="0" i="1">
                <a:solidFill>
                  <a:srgbClr val="FFD166"/>
                </a:solidFill>
                <a:latin typeface="Arial"/>
              </a:defRPr>
            </a:pPr>
            <a:r>
              <a:t>Open-Source Engine — Second-Order Lifecycle Transformation (Challenge Mode)  •  Phase: Track 2 Tutorial (VFI Toolkit Stationary Distribution PR)  •  Cost/Req: Fork QEA_2026.m on the GPU + Allow Households, Schools/Marae, Firms, Farms, and Transport to Acquire Solar + Battery Endowments (pv_regimes = [5]).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70" b="1" i="0">
                <a:solidFill>
                  <a:srgbClr val="48CAE4"/>
                </a:solidFill>
                <a:latin typeface="Arial"/>
              </a:defRPr>
            </a:pPr>
            <a:r>
              <a:t>▸ Cancel the Crowd-Out Myth (Self-Financing Release):</a:t>
            </a:r>
          </a:p>
          <a:p>
            <a:pPr>
              <a:spcAft>
                <a:spcPts val="300"/>
              </a:spcAft>
              <a:defRPr sz="940" b="0" i="0">
                <a:solidFill>
                  <a:srgbClr val="ECF8F8"/>
                </a:solidFill>
                <a:latin typeface="Arial"/>
              </a:defRPr>
            </a:pPr>
            <a:r>
              <a:t>   Converting energy from an unbounded AR(1) fossil-fuel shock (z2) into a Solar + Battery Endowment (pv) eliminates the need for Excess Precautionary Savings. Release NZD 60.8B–91.5B in hoarded precautionary buffers (Delta A_prec)—100% self-financing the NZD 60.2B–75.5B 5-sector national CapEx with zero crowd-out of B:01 or B:02!</a:t>
            </a:r>
          </a:p>
          <a:p>
            <a:pPr>
              <a:spcAft>
                <a:spcPts val="50"/>
              </a:spcAft>
              <a:defRPr sz="970" b="1" i="0">
                <a:solidFill>
                  <a:srgbClr val="48CAE4"/>
                </a:solidFill>
                <a:latin typeface="Arial"/>
              </a:defRPr>
            </a:pPr>
            <a:r>
              <a:t>▸ The Leisure &amp; Bequest Dividend:</a:t>
            </a:r>
          </a:p>
          <a:p>
            <a:pPr>
              <a:spcAft>
                <a:spcPts val="300"/>
              </a:spcAft>
              <a:defRPr sz="940" b="0" i="0">
                <a:solidFill>
                  <a:srgbClr val="ECF8F8"/>
                </a:solidFill>
                <a:latin typeface="Arial"/>
              </a:defRPr>
            </a:pPr>
            <a:r>
              <a:t>   Increase household Leisure (leisure_h) across both working age and retirement, generate 50% grid feed-in income, and turn rooftop solar panels into a planned Intergenerational Bequest Asset (wg1=1.5, wg2=3).</a:t>
            </a:r>
          </a:p>
          <a:p>
            <a:pPr>
              <a:spcAft>
                <a:spcPts val="350"/>
              </a:spcAft>
              <a:defRPr sz="880" b="0" i="1">
                <a:solidFill>
                  <a:srgbClr val="FFD166"/>
                </a:solidFill>
                <a:latin typeface="Arial"/>
              </a:defRPr>
            </a:pPr>
            <a:r>
              <a:t>💬 "Capital without energy is a statue; labor without energy is a corpse. Turn the sun into a household endowment, and the statue starts flying."</a:t>
            </a:r>
          </a:p>
          <a:p>
            <a:pPr>
              <a:spcAft>
                <a:spcPts val="0"/>
              </a:spcAft>
              <a:defRPr sz="900" b="1" i="0">
                <a:solidFill>
                  <a:srgbClr val="72EFDD"/>
                </a:solidFill>
                <a:latin typeface="Arial"/>
              </a:defRPr>
            </a:pPr>
            <a:r>
              <a:t>🔗 River Synergy Links: B:01, B:05, C:03, C:05, E:03, K:04</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Second-Order Precautionary Capital Release Under Solar Endowment</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σ = 2.2 CRRA | Farmer–Toda 9-state AR(1) z₂ | 5-Sector CapEx = NZD 60.2B–75.5B | Annual OPEX Savings = +NZD 15.55B/yr | −14.8 MtCO₂e</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Eliminating imported fossil-fuel price variance (σ_{z₂} → 0 via rooftop/farm solar + battery endowment pv=5) collapses household and firm precautionary cash hoarding across μ*, self-financing 100%+ of national electrification.</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Farmer, L. E., &amp; Toda, A. A. (2017). Discretizing nonlinear, non-Gaussian Markov processes with exact conditional moments. Quantitative Economics, 8(2), 651–683.</a:t>
            </a:r>
          </a:p>
          <a:p>
            <a:pPr>
              <a:spcAft>
                <a:spcPts val="200"/>
              </a:spcAft>
              <a:defRPr sz="840" b="0" i="0">
                <a:solidFill>
                  <a:srgbClr val="ECF8F8"/>
                </a:solidFill>
                <a:latin typeface="Arial"/>
              </a:defRPr>
            </a:pPr>
            <a:r>
              <a:t>• Aiyagari, S. R. (1994). Uninsured idiosyncratic risk and aggregate saving. Quarterly Journal of Economics, 109(3), 659–684.</a:t>
            </a:r>
          </a:p>
          <a:p>
            <a:pPr>
              <a:spcAft>
                <a:spcPts val="200"/>
              </a:spcAft>
              <a:defRPr sz="840" b="0" i="0">
                <a:solidFill>
                  <a:srgbClr val="ECF8F8"/>
                </a:solidFill>
                <a:latin typeface="Arial"/>
              </a:defRPr>
            </a:pPr>
            <a:r>
              <a:t>• Rewiring Aotearoa (2025–2026). Electric Homes, Farms, &amp; Community Hubs Empirical Cost-Savings Dataset.</a:t>
            </a:r>
          </a:p>
          <a:p>
            <a:pPr>
              <a:spcAft>
                <a:spcPts val="200"/>
              </a:spcAft>
              <a:defRPr sz="840" b="0" i="1">
                <a:solidFill>
                  <a:srgbClr val="90E0EF"/>
                </a:solidFill>
                <a:latin typeface="Arial"/>
              </a:defRPr>
            </a:pPr>
            <a:r>
              <a:t>🏛️ Empirical Anchor: Tiemann (June 2026, Firming the Economic Grid); QEA_2026.m (github.com/MichaelTiemann/QEA-2026); Kirkby (2025/2026).</a:t>
            </a:r>
          </a:p>
          <a:p>
            <a:pPr>
              <a:spcAft>
                <a:spcPts val="0"/>
              </a:spcAft>
              <a:defRPr sz="850" b="1" i="0">
                <a:solidFill>
                  <a:srgbClr val="48CAE4"/>
                </a:solidFill>
                <a:latin typeface="Arial"/>
              </a:defRPr>
            </a:pPr>
            <a:r>
              <a:t>💻 Monograph &amp; Code Hook: Doc 1B §5.2 • Doc 2: QEA_2026.m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E:02: Second-Order Precautionary Capital Release Under Solar Endowment   (Slide 45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61A38"/>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A2752"/>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ECF8F8"/>
                </a:solidFill>
                <a:latin typeface="Arial"/>
              </a:defRPr>
            </a:pPr>
            <a:r>
              <a:t>[E:03]  Firming the Economic Grid (The RBNZ &amp; National Security Dividend)   —   MODULE 6: CLEAN ENERGY &amp; GRID ENDOWMENT</a:t>
            </a:r>
          </a:p>
          <a:p>
            <a:pPr algn="l">
              <a:spcAft>
                <a:spcPts val="0"/>
              </a:spcAft>
              <a:defRPr sz="950" b="0" i="1">
                <a:solidFill>
                  <a:srgbClr val="FFD166"/>
                </a:solidFill>
                <a:latin typeface="Arial"/>
              </a:defRPr>
            </a:pPr>
            <a:r>
              <a:t>Macroeconomic Enchantment — Monetary &amp; Trade Stabilizer (Challenge Mode)  •  Phase: SS1 -&gt; SS2 Macroeconomic Equilibrium  •  Cost/Req: Pair E:02 (Energy as Endowment) with K:03 (The Sovereign Helmsman — Treasury &amp; RBNZ)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A2752"/>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70" b="1" i="0">
                <a:solidFill>
                  <a:srgbClr val="48CAE4"/>
                </a:solidFill>
                <a:latin typeface="Arial"/>
              </a:defRPr>
            </a:pPr>
            <a:r>
              <a:t>▸ Cure the Precautionary Paradox:</a:t>
            </a:r>
          </a:p>
          <a:p>
            <a:pPr>
              <a:spcAft>
                <a:spcPts val="300"/>
              </a:spcAft>
              <a:defRPr sz="940" b="0" i="0">
                <a:solidFill>
                  <a:srgbClr val="ECF8F8"/>
                </a:solidFill>
                <a:latin typeface="Arial"/>
              </a:defRPr>
            </a:pPr>
            <a:r>
              <a:t>   Because households and firms are no longer over-saving out of fear of commodity fuel shocks, the Reserve Bank of New Zealand no longer has to fight paradoxical demand drag with blunt OCR interest-rate hikes.</a:t>
            </a:r>
          </a:p>
          <a:p>
            <a:pPr>
              <a:spcAft>
                <a:spcPts val="50"/>
              </a:spcAft>
              <a:defRPr sz="970" b="1" i="0">
                <a:solidFill>
                  <a:srgbClr val="48CAE4"/>
                </a:solidFill>
                <a:latin typeface="Arial"/>
              </a:defRPr>
            </a:pPr>
            <a:r>
              <a:t>▸ Triple Macro Payoff:</a:t>
            </a:r>
          </a:p>
          <a:p>
            <a:pPr>
              <a:spcAft>
                <a:spcPts val="300"/>
              </a:spcAft>
              <a:defRPr sz="940" b="0" i="0">
                <a:solidFill>
                  <a:srgbClr val="ECF8F8"/>
                </a:solidFill>
                <a:latin typeface="Arial"/>
              </a:defRPr>
            </a:pPr>
            <a:r>
              <a:t>   (1) Horsepower-to-Weight Lift: Generate +NZD 15.55B/yr in direct cash savings (4.5–5.2 yr payback) and +3.8% to +5.4% permanently higher GDP. (2) National Security Shield: Cancel the NZD 6.2B imported LNG terminal and insulate food/freight against foreign oil blockades. (3) Combined Rate Cut: Stack with B:06 to lower equilibrium NZ interest rates by 60 to 100 bps.</a:t>
            </a:r>
          </a:p>
          <a:p>
            <a:pPr>
              <a:spcAft>
                <a:spcPts val="350"/>
              </a:spcAft>
              <a:defRPr sz="880" b="0" i="1">
                <a:solidFill>
                  <a:srgbClr val="FFD166"/>
                </a:solidFill>
                <a:latin typeface="Arial"/>
              </a:defRPr>
            </a:pPr>
            <a:r>
              <a:t>💬 "Why spend NZD 6.2 billion on an LNG terminal to import foreign price shocks when you can firm the electricity grid and the macroeconomic grid with the same ray of sunshine?"</a:t>
            </a:r>
          </a:p>
          <a:p>
            <a:pPr>
              <a:spcAft>
                <a:spcPts val="0"/>
              </a:spcAft>
              <a:defRPr sz="900" b="1" i="0">
                <a:solidFill>
                  <a:srgbClr val="72EFDD"/>
                </a:solidFill>
                <a:latin typeface="Arial"/>
              </a:defRPr>
            </a:pPr>
            <a:r>
              <a:t>🔗 River Synergy Links: B:05, B:06, C:04, E:02, K:03</a:t>
            </a:r>
          </a:p>
        </p:txBody>
      </p:sp>
      <p:sp>
        <p:nvSpPr>
          <p:cNvPr id="4" name="Rounded Rectangle 3"/>
          <p:cNvSpPr/>
          <p:nvPr/>
        </p:nvSpPr>
        <p:spPr>
          <a:xfrm>
            <a:off x="6181344" y="1042415"/>
            <a:ext cx="5779008" cy="3493008"/>
          </a:xfrm>
          <a:prstGeom prst="roundRect">
            <a:avLst>
              <a:gd name="adj" fmla="val 2000"/>
            </a:avLst>
          </a:prstGeom>
          <a:solidFill>
            <a:srgbClr val="082145"/>
          </a:solidFill>
          <a:ln w="2286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D166"/>
                </a:solidFill>
                <a:latin typeface="Arial"/>
              </a:defRPr>
            </a:pPr>
            <a:r>
              <a:t>STUDY SIDE (FOLD-OVER BACK) • PARAMETERS, PROOF BRIDGE &amp; CITATIONS</a:t>
            </a:r>
          </a:p>
          <a:p>
            <a:pPr>
              <a:spcAft>
                <a:spcPts val="350"/>
              </a:spcAft>
              <a:defRPr sz="960" b="1" i="0">
                <a:solidFill>
                  <a:srgbClr val="48CAE4"/>
                </a:solidFill>
                <a:latin typeface="Arial"/>
              </a:defRPr>
            </a:pPr>
            <a:r>
              <a:t>📐 Formal Operator: Dry-Year Hydro Storage Buffer via Distributed &amp; Farm-Pond Solar</a:t>
            </a:r>
          </a:p>
          <a:p>
            <a:pPr>
              <a:spcAft>
                <a:spcPts val="100"/>
              </a:spcAft>
              <a:defRPr sz="940" b="1" i="0">
                <a:solidFill>
                  <a:srgbClr val="FFD166"/>
                </a:solidFill>
                <a:latin typeface="Arial"/>
              </a:defRPr>
            </a:pPr>
            <a:r>
              <a:t>📊 Calibrated OLG Parameters &amp; Metrics:</a:t>
            </a:r>
          </a:p>
          <a:p>
            <a:pPr>
              <a:spcAft>
                <a:spcPts val="400"/>
              </a:spcAft>
              <a:defRPr sz="880" b="0" i="0">
                <a:solidFill>
                  <a:srgbClr val="ECF8F8"/>
                </a:solidFill>
                <a:latin typeface="Arial"/>
              </a:defRPr>
            </a:pPr>
            <a:r>
              <a:t>19,000+ Farm Dairy Sheds &amp; Irrigation Ponds + Bottom-50% Whānau Solar | Cancels NZD 6.2B LNG import terminal (−3.2 MtCO₂e)</a:t>
            </a:r>
          </a:p>
          <a:p>
            <a:pPr>
              <a:spcAft>
                <a:spcPts val="100"/>
              </a:spcAft>
              <a:defRPr sz="940" b="1" i="0">
                <a:solidFill>
                  <a:srgbClr val="72EFDD"/>
                </a:solidFill>
                <a:latin typeface="Arial"/>
              </a:defRPr>
            </a:pPr>
            <a:r>
              <a:t>🌉 Theorem-to-Tabletop Proof Bridge ('Why the Rule Works'):</a:t>
            </a:r>
          </a:p>
          <a:p>
            <a:pPr>
              <a:spcAft>
                <a:spcPts val="400"/>
              </a:spcAft>
              <a:defRPr sz="880" b="0" i="0">
                <a:solidFill>
                  <a:srgbClr val="ECF8F8"/>
                </a:solidFill>
                <a:latin typeface="Arial"/>
              </a:defRPr>
            </a:pPr>
            <a:r>
              <a:t>Generating distributed daytime power across 19,000 farm ponds and 1.1M homes preserves South Island hydro lake levels for winter peaks, eliminating the dry-year deficit and canceling the NZD 6.2B LNG terminal.</a:t>
            </a:r>
          </a:p>
          <a:p>
            <a:pPr>
              <a:spcAft>
                <a:spcPts val="100"/>
              </a:spcAft>
              <a:defRPr sz="940" b="1" i="0">
                <a:solidFill>
                  <a:srgbClr val="FFD166"/>
                </a:solidFill>
                <a:latin typeface="Arial"/>
              </a:defRPr>
            </a:pPr>
            <a:r>
              <a:t>📚 Primary Academic &amp; Empirical Citations:</a:t>
            </a:r>
          </a:p>
          <a:p>
            <a:pPr>
              <a:spcAft>
                <a:spcPts val="200"/>
              </a:spcAft>
              <a:defRPr sz="840" b="0" i="0">
                <a:solidFill>
                  <a:srgbClr val="ECF8F8"/>
                </a:solidFill>
                <a:latin typeface="Arial"/>
              </a:defRPr>
            </a:pPr>
            <a:r>
              <a:t>• Transpower New Zealand (2025). Whakamana i Te Mauri Hiko: Security of Supply &amp; Dry-Year Hydro Firming Scenarios.</a:t>
            </a:r>
          </a:p>
          <a:p>
            <a:pPr>
              <a:spcAft>
                <a:spcPts val="200"/>
              </a:spcAft>
              <a:defRPr sz="840" b="0" i="0">
                <a:solidFill>
                  <a:srgbClr val="ECF8F8"/>
                </a:solidFill>
                <a:latin typeface="Arial"/>
              </a:defRPr>
            </a:pPr>
            <a:r>
              <a:t>• Tiemann, M. (June 2026). Firming the Economic Grid: Distributed Solar Endowments vs. Imported LNG in an 8-PType OLG Economy.</a:t>
            </a:r>
          </a:p>
          <a:p>
            <a:pPr>
              <a:spcAft>
                <a:spcPts val="200"/>
              </a:spcAft>
              <a:defRPr sz="840" b="0" i="1">
                <a:solidFill>
                  <a:srgbClr val="90E0EF"/>
                </a:solidFill>
                <a:latin typeface="Arial"/>
              </a:defRPr>
            </a:pPr>
            <a:r>
              <a:t>🏛️ Empirical Anchor: Tiemann (June 2026, Firming the Economic Grid); RBNZ Monetary Policy Statement (Feb 2026); Keen (2022).</a:t>
            </a:r>
          </a:p>
          <a:p>
            <a:pPr>
              <a:spcAft>
                <a:spcPts val="0"/>
              </a:spcAft>
              <a:defRPr sz="850" b="1" i="0">
                <a:solidFill>
                  <a:srgbClr val="48CAE4"/>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041228"/>
          </a:solidFill>
          <a:ln w="27940">
            <a:solidFill>
              <a:srgbClr val="FFD16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FD166"/>
                </a:solidFill>
                <a:latin typeface="Arial"/>
              </a:defRPr>
            </a:pPr>
            <a:r>
              <a:t>MATHEMATICAL SPECIFICATION — E:03: Dry-Year Hydro Storage Buffer via Distributed &amp; Farm-Pond Solar   (Slide 46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